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timeline-horizont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timeline-horizont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-2011-2017"/>
          <p:cNvSpPr/>
          <p:nvPr/>
        </p:nvSpPr>
        <p:spPr>
          <a:xfrm>
            <a:off x="1885950" y="914400"/>
            <a:ext cx="4305300" cy="5010150"/>
          </a:xfrm>
          <a:prstGeom prst="rect">
            <a:avLst/>
          </a:prstGeom>
          <a:solidFill>
            <a:srgbClr val="1D1C19">
              <a:alpha val="3500"/>
            </a:srgbClr>
          </a:solidFill>
          <a:ln w="9525">
            <a:solidFill>
              <a:srgbClr val="B6AEA1"/>
            </a:solidFill>
          </a:ln>
        </p:spPr>
      </p:sp>
      <p:sp>
        <p:nvSpPr>
          <p:cNvPr id="3" name="phase-2018-2021"/>
          <p:cNvSpPr/>
          <p:nvPr/>
        </p:nvSpPr>
        <p:spPr>
          <a:xfrm>
            <a:off x="6191250" y="914400"/>
            <a:ext cx="2600325" cy="5010150"/>
          </a:xfrm>
          <a:prstGeom prst="rect">
            <a:avLst/>
          </a:prstGeom>
          <a:solidFill>
            <a:srgbClr val="1F5A49">
              <a:alpha val="5500"/>
            </a:srgbClr>
          </a:solidFill>
          <a:ln w="9525">
            <a:solidFill>
              <a:srgbClr val="B6AEA1"/>
            </a:solidFill>
          </a:ln>
        </p:spPr>
      </p:sp>
      <p:sp>
        <p:nvSpPr>
          <p:cNvPr id="4" name="phase-2022-2023"/>
          <p:cNvSpPr/>
          <p:nvPr/>
        </p:nvSpPr>
        <p:spPr>
          <a:xfrm>
            <a:off x="8791575" y="914400"/>
            <a:ext cx="1304925" cy="5010150"/>
          </a:xfrm>
          <a:prstGeom prst="rect">
            <a:avLst/>
          </a:prstGeom>
          <a:solidFill>
            <a:srgbClr val="A33B27">
              <a:alpha val="6500"/>
            </a:srgbClr>
          </a:solidFill>
          <a:ln w="9525">
            <a:solidFill>
              <a:srgbClr val="B6AEA1"/>
            </a:solidFill>
          </a:ln>
        </p:spPr>
      </p:sp>
      <p:sp>
        <p:nvSpPr>
          <p:cNvPr id="5" name="phase-2024-2026"/>
          <p:cNvSpPr/>
          <p:nvPr/>
        </p:nvSpPr>
        <p:spPr>
          <a:xfrm>
            <a:off x="10096500" y="914400"/>
            <a:ext cx="1695450" cy="5010150"/>
          </a:xfrm>
          <a:prstGeom prst="rect">
            <a:avLst/>
          </a:prstGeom>
          <a:solidFill>
            <a:srgbClr val="C14E2C">
              <a:alpha val="10000"/>
            </a:srgbClr>
          </a:solidFill>
          <a:ln w="14288">
            <a:solidFill>
              <a:srgbClr val="C14E2C"/>
            </a:solidFill>
          </a:ln>
        </p:spPr>
      </p:sp>
      <p:grpSp>
        <p:nvGrpSpPr>
          <p:cNvPr id="14" name="page-title"/>
          <p:cNvGrpSpPr/>
          <p:nvPr/>
        </p:nvGrpSpPr>
        <p:grpSpPr>
          <a:xfrm>
            <a:off x="560070" y="285750"/>
            <a:ext cx="11065192" cy="624205"/>
            <a:chOff x="560070" y="285750"/>
            <a:chExt cx="11065192" cy="624205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285750"/>
              <a:ext cx="19959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2011—2026 · 完整产品时间线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0070" y="469900"/>
              <a:ext cx="62028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多模态交互：从“问一句”到“看着我一起做”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877300" y="301625"/>
              <a:ext cx="2747962" cy="362902"/>
              <a:chOff x="8877300" y="301625"/>
              <a:chExt cx="2747962" cy="362902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8877300" y="323850"/>
                <a:ext cx="76200" cy="76200"/>
              </a:xfrm>
              <a:prstGeom prst="ellipse">
                <a:avLst/>
              </a:prstGeom>
              <a:solidFill>
                <a:srgbClr val="C14E2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005888" y="301625"/>
                <a:ext cx="375691" cy="134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6B6760"/>
                    </a:solidFill>
                    <a:latin typeface="+mn-lt"/>
                    <a:ea typeface="+mn-ea"/>
                    <a:cs typeface="+mn-cs"/>
                  </a:rPr>
                  <a:t>终端产品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9686925" y="323850"/>
                <a:ext cx="76200" cy="76200"/>
              </a:xfrm>
              <a:prstGeom prst="rect">
                <a:avLst/>
              </a:prstGeom>
              <a:solidFill>
                <a:srgbClr val="1F5A49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25038" y="301625"/>
                <a:ext cx="764519" cy="134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6B6760"/>
                    </a:solidFill>
                    <a:latin typeface="+mn-lt"/>
                    <a:ea typeface="+mn-ea"/>
                    <a:cs typeface="+mn-cs"/>
                  </a:rPr>
                  <a:t>模型 / Agent 底座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76447" y="530225"/>
                <a:ext cx="1748815" cy="134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680" dirty="0">
                    <a:solidFill>
                      <a:srgbClr val="6B6760"/>
                    </a:solidFill>
                    <a:latin typeface="+mn-lt"/>
                    <a:ea typeface="+mn-ea"/>
                    <a:cs typeface="+mn-cs"/>
                  </a:rPr>
                  <a:t>横轴：年份　纵轴：用户把什么任务交给它</a:t>
                </a:r>
              </a:p>
            </p:txBody>
          </p:sp>
        </p:grpSp>
      </p:grpSp>
      <p:grpSp>
        <p:nvGrpSpPr>
          <p:cNvPr id="56" name="phase-guide"/>
          <p:cNvGrpSpPr/>
          <p:nvPr/>
        </p:nvGrpSpPr>
        <p:grpSpPr>
          <a:xfrm>
            <a:off x="1860986" y="1003300"/>
            <a:ext cx="9955928" cy="710248"/>
            <a:chOff x="1860986" y="1003300"/>
            <a:chExt cx="9955928" cy="710248"/>
          </a:xfrm>
        </p:grpSpPr>
        <p:sp>
          <p:nvSpPr>
            <p:cNvPr id="15" name="TextBox 15"/>
            <p:cNvSpPr txBox="1"/>
            <p:nvPr/>
          </p:nvSpPr>
          <p:spPr>
            <a:xfrm>
              <a:off x="1995488" y="1003300"/>
              <a:ext cx="1158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2011—2017 · 入口出现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5488" y="1222375"/>
              <a:ext cx="1064946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能问、能搜，但步骤还要自己串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0788" y="1003300"/>
              <a:ext cx="1158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2018—2021 · 边看边问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0788" y="1222375"/>
              <a:ext cx="989559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实时取景，信息直接叠在现场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01112" y="1003300"/>
              <a:ext cx="1158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2022—2023 · 看懂再聊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01112" y="1222375"/>
              <a:ext cx="809168" cy="1076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解释图片，并能连续追问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06038" y="1003300"/>
              <a:ext cx="1158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2024—2026 · 实时代理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6038" y="1222375"/>
              <a:ext cx="1027252" cy="1076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持续看听、主动纠错、后台执行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962150" y="14859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4288">
              <a:solidFill>
                <a:srgbClr val="AFA79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962150" y="14859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9525">
              <a:solidFill>
                <a:srgbClr val="AFA7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60986" y="1590675"/>
              <a:ext cx="202328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12708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22057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262312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171662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912870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22220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63428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72777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213032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122382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863590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72940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514148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23497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163752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73102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2019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814310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23660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464868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74217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114472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23822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2022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765030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674380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10415588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324937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2024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1065192" y="1485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74542" y="1590675"/>
              <a:ext cx="181300" cy="116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8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11715750" y="14859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4288">
              <a:solidFill>
                <a:srgbClr val="C14E2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614586" y="1590675"/>
              <a:ext cx="202328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</p:grpSp>
      <p:grpSp>
        <p:nvGrpSpPr>
          <p:cNvPr id="86" name="lane-assistants"/>
          <p:cNvGrpSpPr/>
          <p:nvPr/>
        </p:nvGrpSpPr>
        <p:grpSpPr>
          <a:xfrm>
            <a:off x="566738" y="1781175"/>
            <a:ext cx="11149012" cy="648018"/>
            <a:chOff x="566738" y="1781175"/>
            <a:chExt cx="11149012" cy="648018"/>
          </a:xfrm>
        </p:grpSpPr>
        <p:sp>
          <p:nvSpPr>
            <p:cNvPr id="57" name="TextBox 57"/>
            <p:cNvSpPr txBox="1"/>
            <p:nvPr/>
          </p:nvSpPr>
          <p:spPr>
            <a:xfrm>
              <a:off x="566738" y="1870075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随身助手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6738" y="2079625"/>
              <a:ext cx="799879" cy="113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 / 音箱 / 系统入口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790700" y="18859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rgbClr val="C14E2C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1962150" y="20955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924050" y="20574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874770" y="20574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5174932" y="20574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825490" y="2057400"/>
              <a:ext cx="76200" cy="762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9726930" y="2057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377488" y="2057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1027092" y="2057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057400" y="1781175"/>
              <a:ext cx="123825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128838" y="1831975"/>
              <a:ext cx="414922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2011 · Siri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128838" y="1946275"/>
              <a:ext cx="688010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用嘴问天气、定闹钟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257550" y="1781175"/>
              <a:ext cx="1381125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328988" y="1831975"/>
              <a:ext cx="758017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2014 · Amazon Echo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328988" y="1946275"/>
              <a:ext cx="612623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在家喊一声放音乐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524375" y="2152650"/>
              <a:ext cx="15240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595812" y="2203450"/>
              <a:ext cx="918720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2016 · Google Assistant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595812" y="2317750"/>
              <a:ext cx="688010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跨手机和音箱接着问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715000" y="1781175"/>
              <a:ext cx="1381125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786438" y="1831975"/>
              <a:ext cx="477833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2017 · Bixby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786438" y="1946275"/>
              <a:ext cx="612623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让手机替你点按钮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525000" y="1781175"/>
              <a:ext cx="1381125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596438" y="1831975"/>
              <a:ext cx="927511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· Gemini / ChatGPT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596438" y="1946275"/>
              <a:ext cx="838784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发图后解释，再连续追问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963150" y="2152650"/>
              <a:ext cx="173355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034588" y="2203450"/>
              <a:ext cx="1532387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2024–25 · GPT-4o / Copilot Vision / 小艺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34588" y="2317750"/>
              <a:ext cx="914171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实时看画面；指一下也能问</a:t>
              </a:r>
            </a:p>
          </p:txBody>
        </p:sp>
      </p:grpSp>
      <p:grpSp>
        <p:nvGrpSpPr>
          <p:cNvPr id="106" name="lane-visual-search"/>
          <p:cNvGrpSpPr/>
          <p:nvPr/>
        </p:nvGrpSpPr>
        <p:grpSpPr>
          <a:xfrm>
            <a:off x="566738" y="2543175"/>
            <a:ext cx="11187112" cy="648018"/>
            <a:chOff x="566738" y="2543175"/>
            <a:chExt cx="11187112" cy="648018"/>
          </a:xfrm>
        </p:grpSpPr>
        <p:sp>
          <p:nvSpPr>
            <p:cNvPr id="87" name="TextBox 87"/>
            <p:cNvSpPr txBox="1"/>
            <p:nvPr/>
          </p:nvSpPr>
          <p:spPr>
            <a:xfrm>
              <a:off x="566738" y="2632075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看图搜索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66738" y="2841625"/>
              <a:ext cx="634902" cy="113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视觉搜索 / 无障碍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1790700" y="26479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rgbClr val="1F5A49"/>
              </a:solidFill>
            </a:ln>
          </p:spPr>
        </p:sp>
        <p:sp>
          <p:nvSpPr>
            <p:cNvPr id="90" name="Line 90"/>
            <p:cNvSpPr/>
            <p:nvPr/>
          </p:nvSpPr>
          <p:spPr>
            <a:xfrm>
              <a:off x="1962150" y="28575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5825490" y="28194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476048" y="28194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7125652" y="28194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9726930" y="2819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0377488" y="2819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11677650" y="2819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391150" y="2543175"/>
              <a:ext cx="20955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462588" y="2593975"/>
              <a:ext cx="1021684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2017–19 · Lens / Seeing AI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462588" y="2708275"/>
              <a:ext cx="1215720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拍一下搜物译字；镜头读给视障者听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429750" y="2543175"/>
              <a:ext cx="15240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501188" y="2593975"/>
              <a:ext cx="973458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 · Be My AI / GPT-4V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501188" y="2708275"/>
              <a:ext cx="914171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图片发过去解释，再接着问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9696450" y="2914650"/>
              <a:ext cx="203835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767888" y="2965450"/>
              <a:ext cx="1192744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2024–26 · Apple / Guided Vision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767888" y="3079750"/>
              <a:ext cx="1140333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一键识物翻译；镜头偏了会教你调</a:t>
              </a:r>
            </a:p>
          </p:txBody>
        </p:sp>
      </p:grpSp>
      <p:grpSp>
        <p:nvGrpSpPr>
          <p:cNvPr id="123" name="lane-screens-home"/>
          <p:cNvGrpSpPr/>
          <p:nvPr/>
        </p:nvGrpSpPr>
        <p:grpSpPr>
          <a:xfrm>
            <a:off x="566738" y="3305175"/>
            <a:ext cx="11149012" cy="648018"/>
            <a:chOff x="566738" y="3305175"/>
            <a:chExt cx="11149012" cy="648018"/>
          </a:xfrm>
        </p:grpSpPr>
        <p:sp>
          <p:nvSpPr>
            <p:cNvPr id="107" name="TextBox 107"/>
            <p:cNvSpPr txBox="1"/>
            <p:nvPr/>
          </p:nvSpPr>
          <p:spPr>
            <a:xfrm>
              <a:off x="566738" y="3394075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屏幕与家庭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66738" y="3603625"/>
              <a:ext cx="876612" cy="113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智能屏 / 电视 / 家用终端</a:t>
              </a:r>
            </a:p>
          </p:txBody>
        </p:sp>
        <p:sp>
          <p:nvSpPr>
            <p:cNvPr id="109" name="Line 109"/>
            <p:cNvSpPr/>
            <p:nvPr/>
          </p:nvSpPr>
          <p:spPr>
            <a:xfrm>
              <a:off x="1790700" y="34099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rgbClr val="1F5A49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1962150" y="36195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11" name="Ellipse 111"/>
            <p:cNvSpPr/>
            <p:nvPr/>
          </p:nvSpPr>
          <p:spPr>
            <a:xfrm>
              <a:off x="6476048" y="35814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7776210" y="3581400"/>
              <a:ext cx="76200" cy="7620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11027092" y="3581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5276850" y="3305175"/>
              <a:ext cx="20955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348288" y="3355975"/>
              <a:ext cx="1226861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2018 · Google 智能屏 / Alexa APL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348288" y="3470275"/>
              <a:ext cx="1140333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一边说，一边看地图、视频和菜谱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7620000" y="3676650"/>
              <a:ext cx="1381125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691438" y="3727450"/>
              <a:ext cx="784195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2020 · Echo Show 10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691438" y="3841750"/>
              <a:ext cx="537235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屏幕会跟着人转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9410700" y="3305175"/>
              <a:ext cx="222885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9482138" y="3355975"/>
              <a:ext cx="1012363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· 三星/海信电视 · 小度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9482138" y="3470275"/>
              <a:ext cx="1215720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问电视内容、家庭看护、陪聊控设备</a:t>
              </a:r>
            </a:p>
          </p:txBody>
        </p:sp>
      </p:grpSp>
      <p:grpSp>
        <p:nvGrpSpPr>
          <p:cNvPr id="145" name="lane-wearables-mobility"/>
          <p:cNvGrpSpPr/>
          <p:nvPr/>
        </p:nvGrpSpPr>
        <p:grpSpPr>
          <a:xfrm>
            <a:off x="566738" y="4067175"/>
            <a:ext cx="11187112" cy="646113"/>
            <a:chOff x="566738" y="4067175"/>
            <a:chExt cx="11187112" cy="646113"/>
          </a:xfrm>
        </p:grpSpPr>
        <p:sp>
          <p:nvSpPr>
            <p:cNvPr id="124" name="TextBox 124"/>
            <p:cNvSpPr txBox="1"/>
            <p:nvPr/>
          </p:nvSpPr>
          <p:spPr>
            <a:xfrm>
              <a:off x="566738" y="4156075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穿戴与汽车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566738" y="4365625"/>
              <a:ext cx="592120" cy="113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眼镜 / XR / 座舱</a:t>
              </a:r>
            </a:p>
          </p:txBody>
        </p:sp>
        <p:sp>
          <p:nvSpPr>
            <p:cNvPr id="126" name="Line 126"/>
            <p:cNvSpPr/>
            <p:nvPr/>
          </p:nvSpPr>
          <p:spPr>
            <a:xfrm>
              <a:off x="1790700" y="41719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rgbClr val="C14E2C"/>
              </a:solidFill>
            </a:ln>
          </p:spPr>
        </p:sp>
        <p:sp>
          <p:nvSpPr>
            <p:cNvPr id="127" name="Line 127"/>
            <p:cNvSpPr/>
            <p:nvPr/>
          </p:nvSpPr>
          <p:spPr>
            <a:xfrm>
              <a:off x="1962150" y="43815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8" name="Ellipse 128"/>
            <p:cNvSpPr/>
            <p:nvPr/>
          </p:nvSpPr>
          <p:spPr>
            <a:xfrm>
              <a:off x="3224212" y="4343400"/>
              <a:ext cx="76200" cy="7620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8426768" y="4343400"/>
              <a:ext cx="76200" cy="76200"/>
            </a:xfrm>
            <a:prstGeom prst="ellipse">
              <a:avLst/>
            </a:prstGeom>
            <a:solidFill>
              <a:srgbClr val="A33B27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9726930" y="4343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11027092" y="4343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11677650" y="4343400"/>
              <a:ext cx="76200" cy="762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3105150" y="4067175"/>
              <a:ext cx="1952625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3176588" y="4117975"/>
              <a:ext cx="732122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2013 · Google Glass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3176588" y="4232275"/>
              <a:ext cx="1194181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第一视角看到信息，但日常用途不足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7762875" y="4438650"/>
              <a:ext cx="1762125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9C1B4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7834312" y="4489450"/>
              <a:ext cx="1293614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2021–23 · Ray-Ban Stories / Meta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834312" y="4603750"/>
              <a:ext cx="1194181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先只能拍；后来能戴着看、问、翻译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9601200" y="4067175"/>
              <a:ext cx="20955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9672638" y="4117975"/>
              <a:ext cx="1612072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2025–26 · Meta Display / XR / Snap / Audio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672638" y="4232275"/>
              <a:ext cx="1416304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镜片导航字幕、主动提醒；无摄版只靠声音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9601200" y="4438650"/>
              <a:ext cx="20955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9672638" y="4489450"/>
              <a:ext cx="1084590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2025 · 小米/夸克 · 理想/NOMI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672638" y="4603750"/>
              <a:ext cx="1638427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拍问答、导航支付；车里分辨谁说、坐哪、指向哪</a:t>
              </a:r>
            </a:p>
          </p:txBody>
        </p:sp>
      </p:grpSp>
      <p:grpSp>
        <p:nvGrpSpPr>
          <p:cNvPr id="168" name="lane-models-agents"/>
          <p:cNvGrpSpPr/>
          <p:nvPr/>
        </p:nvGrpSpPr>
        <p:grpSpPr>
          <a:xfrm>
            <a:off x="566738" y="4867275"/>
            <a:ext cx="11187112" cy="905193"/>
            <a:chOff x="566738" y="4867275"/>
            <a:chExt cx="11187112" cy="905193"/>
          </a:xfrm>
        </p:grpSpPr>
        <p:sp>
          <p:nvSpPr>
            <p:cNvPr id="146" name="TextBox 146"/>
            <p:cNvSpPr txBox="1"/>
            <p:nvPr/>
          </p:nvSpPr>
          <p:spPr>
            <a:xfrm>
              <a:off x="566738" y="5041900"/>
              <a:ext cx="73180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模型与 Agent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566738" y="5251450"/>
              <a:ext cx="1030079" cy="113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能力底座 / 实时交互 / 执行层</a:t>
              </a:r>
            </a:p>
          </p:txBody>
        </p:sp>
        <p:sp>
          <p:nvSpPr>
            <p:cNvPr id="148" name="Line 148"/>
            <p:cNvSpPr/>
            <p:nvPr/>
          </p:nvSpPr>
          <p:spPr>
            <a:xfrm>
              <a:off x="1790700" y="49530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9050">
              <a:solidFill>
                <a:srgbClr val="1F5A49"/>
              </a:solidFill>
            </a:ln>
          </p:spPr>
        </p:sp>
        <p:sp>
          <p:nvSpPr>
            <p:cNvPr id="149" name="Line 149"/>
            <p:cNvSpPr/>
            <p:nvPr/>
          </p:nvSpPr>
          <p:spPr>
            <a:xfrm>
              <a:off x="1962150" y="52959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8420100" y="5257800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9076372" y="5257800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9726930" y="5257800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10377488" y="5257800"/>
              <a:ext cx="76200" cy="762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11677650" y="5257800"/>
              <a:ext cx="76200" cy="7620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8210550" y="4867275"/>
              <a:ext cx="10668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1F5A49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8281988" y="4918075"/>
              <a:ext cx="444886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2021 · CLIP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8281988" y="5032375"/>
              <a:ext cx="898017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图片文字进入同一语义空间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8515350" y="5353050"/>
              <a:ext cx="142875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1F5A49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8586788" y="5403850"/>
              <a:ext cx="592809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2022 · Flamingo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8586788" y="5518150"/>
              <a:ext cx="972058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少量示例就能读懂图片和视频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9334500" y="4867275"/>
              <a:ext cx="167640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1F5A49"/>
              </a:solidFill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9405938" y="4918075"/>
              <a:ext cx="944188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2023–24 · Gemini / Astra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9405938" y="5032375"/>
              <a:ext cx="1268222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一起理解图文；共享镜头屏幕边看边聊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9715500" y="5353050"/>
              <a:ext cx="1924050" cy="266700"/>
            </a:xfrm>
            <a:prstGeom prst="roundRect">
              <a:avLst>
                <a:gd name="adj" fmla="val 10714"/>
              </a:avLst>
            </a:prstGeom>
            <a:solidFill>
              <a:srgbClr val="F4F0E7">
                <a:alpha val="94000"/>
              </a:srgbClr>
            </a:solidFill>
            <a:ln w="7620">
              <a:solidFill>
                <a:srgbClr val="C14E2C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9786938" y="5403850"/>
              <a:ext cx="1046625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2026 · SeedRealtime / Muse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9786938" y="5518150"/>
              <a:ext cx="1437958" cy="1095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连续看听说；记住目标并在后台跨 App 执行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566738" y="5661025"/>
              <a:ext cx="2957165" cy="111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6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读法：底座负责“看见、理解、对话”，终端产品把这些能力包装成用户真正会用的动作。</a:t>
              </a:r>
            </a:p>
          </p:txBody>
        </p:sp>
      </p:grpSp>
      <p:grpSp>
        <p:nvGrpSpPr>
          <p:cNvPr id="171" name="takeaway"/>
          <p:cNvGrpSpPr/>
          <p:nvPr/>
        </p:nvGrpSpPr>
        <p:grpSpPr>
          <a:xfrm>
            <a:off x="565023" y="5943600"/>
            <a:ext cx="11055477" cy="256667"/>
            <a:chOff x="565023" y="5943600"/>
            <a:chExt cx="11055477" cy="256667"/>
          </a:xfrm>
        </p:grpSpPr>
        <p:sp>
          <p:nvSpPr>
            <p:cNvPr id="169" name="Line 169"/>
            <p:cNvSpPr/>
            <p:nvPr/>
          </p:nvSpPr>
          <p:spPr>
            <a:xfrm>
              <a:off x="571500" y="5943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565023" y="5949950"/>
              <a:ext cx="76192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趋势：用户少做一步，系统就要多承担一层“看懂现场 → 决定动作 → 执行纠错 → 对结果负责”。</a:t>
              </a:r>
            </a:p>
          </p:txBody>
        </p:sp>
      </p:grpSp>
      <p:grpSp>
        <p:nvGrpSpPr>
          <p:cNvPr id="175" name="page-footer"/>
          <p:cNvGrpSpPr/>
          <p:nvPr/>
        </p:nvGrpSpPr>
        <p:grpSpPr>
          <a:xfrm>
            <a:off x="566738" y="6362700"/>
            <a:ext cx="11058525" cy="265748"/>
            <a:chOff x="566738" y="6362700"/>
            <a:chExt cx="11058525" cy="265748"/>
          </a:xfrm>
        </p:grpSpPr>
        <p:sp>
          <p:nvSpPr>
            <p:cNvPr id="172" name="TextBox 172"/>
            <p:cNvSpPr txBox="1"/>
            <p:nvPr/>
          </p:nvSpPr>
          <p:spPr>
            <a:xfrm>
              <a:off x="566738" y="6362700"/>
              <a:ext cx="5425671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注：TwelveLabs、拍立淘、Vision-Agents、LiveKit、Pipecat、Dograh 等属于能力与基础设施层；终端产品时间线只放用户可直接体验的入口。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66738" y="6505575"/>
              <a:ext cx="3765423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按产品首次公开或关键体验上线年份整理；同年产品合并展示以保持横向可读，每项仍保留各自体验。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0716212" y="6505575"/>
              <a:ext cx="909051" cy="122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2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TIMELINE · 2011—2026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timeline-horizontal">
  <a:themeElements>
    <a:clrScheme name="multimodal-timeline-horizont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timeline-horizontal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timeline-horizont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2026-10-29T12:22:23Z</dcterms:created>
  <dcterms:modified xsi:type="dcterms:W3CDTF">2026-10-29T12:22:23Z</dcterms:modified>
  <cp:category/>
  <cp:contentStatus/>
</cp:coreProperties>
</file>