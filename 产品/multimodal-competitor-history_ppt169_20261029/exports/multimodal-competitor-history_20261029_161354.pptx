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competitor-histo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competitor-histo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blog.google/innovation-and-ai/products/gemini-app/guided-vision-gemini-live/" TargetMode="External"/>
  <Relationship Id="rId3" Type="http://schemas.openxmlformats.org/officeDocument/2006/relationships/hyperlink" Target="https://support.microsoft.com/en-us/microsoft-365-copilot/use-vision-microsoft-365-copilot" TargetMode="External"/>
  <Relationship Id="rId4" Type="http://schemas.openxmlformats.org/officeDocument/2006/relationships/hyperlink" Target="https://about.fb.com/news/2024/09/ray-ban-meta-glasses-new-ai-features-and-partner-integrations/" TargetMode="External"/>
  <Relationship Id="rId5" Type="http://schemas.openxmlformats.org/officeDocument/2006/relationships/hyperlink" Target="https://www.apple.com/newsroom/2024/12/apple-intelligence-now-features-image-playground-genmoji-and-more/" TargetMode="External"/>
  <Relationship Id="rId6" Type="http://schemas.openxmlformats.org/officeDocument/2006/relationships/hyperlink" Target="https://consumer.huawei.com/cn/support/content/zh-cn16053374/" TargetMode="External"/>
  <Relationship Id="rId7" Type="http://schemas.openxmlformats.org/officeDocument/2006/relationships/hyperlink" Target="https://seed.bytedance.com/zh/blog/seedrealtime-audio-visual-full-duplex-llm-released-toward-omni-modal-natural-interaction" TargetMode="External"/>
  <Relationship Id="rId8" Type="http://schemas.openxmlformats.org/officeDocument/2006/relationships/hyperlink" Target="https://www.bemyeyes.com/news/announcing-be-my-ai-soon-available-for-hundreds-of-thousands-of-be-my-eyes-users/" TargetMode="External"/>
  <Relationship Id="rId9" Type="http://schemas.openxmlformats.org/officeDocument/2006/relationships/hyperlink" Target="https://www.theinformation.com/briefings/metas-ray-ban-glasses-fall-flat-with-customers" TargetMode="External"/>
  <Relationship Id="rId10" Type="http://schemas.openxmlformats.org/officeDocument/2006/relationships/hyperlink" Target="https://www.theverge.com/news/614883/humane-ai-hp-acquisition-pin-shutdown" TargetMode="External"/>
  <Relationship Id="rId11" Type="http://schemas.openxmlformats.org/officeDocument/2006/relationships/hyperlink" Target="https://www.wired.com/review/rabbit-r1/" TargetMode="External"/>
  <Relationship Id="rId12" Type="http://schemas.openxmlformats.org/officeDocument/2006/relationships/hyperlink" Target="https://www.androidauthority.com/ray-ban-meta-smart-glasses-3462348/" TargetMode="External"/>
  <Relationship Id="rId13" Type="http://schemas.openxmlformats.org/officeDocument/2006/relationships/hyperlink" Target="https://www.theguardian.com/technology/2026/aug/06/meta-ai-smart-glasses-privacy" TargetMode="External"/>
  <Relationship Id="rId14" Type="http://schemas.openxmlformats.org/officeDocument/2006/relationships/hyperlink" Target="https://www.ithome.com/0/963/535.htm" TargetMode="External"/>
  <Relationship Id="rId15" Type="http://schemas.openxmlformats.org/officeDocument/2006/relationships/hyperlink" Target="https://www.10100.com/article/107889453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533400" y="533400"/>
            <a:ext cx="66675" cy="5791200"/>
          </a:xfrm>
          <a:prstGeom prst="rect">
            <a:avLst/>
          </a:prstGeom>
          <a:solidFill>
            <a:srgbClr val="C14E2C"/>
          </a:solidFill>
          <a:ln>
            <a:noFill/>
          </a:ln>
        </p:spPr>
      </p:sp>
      <p:grpSp>
        <p:nvGrpSpPr>
          <p:cNvPr id="8" name="cover-title"/>
          <p:cNvGrpSpPr/>
          <p:nvPr/>
        </p:nvGrpSpPr>
        <p:grpSpPr>
          <a:xfrm>
            <a:off x="933450" y="952500"/>
            <a:ext cx="6305550" cy="3381883"/>
            <a:chOff x="933450" y="952500"/>
            <a:chExt cx="6305550" cy="3381883"/>
          </a:xfrm>
        </p:grpSpPr>
        <p:sp>
          <p:nvSpPr>
            <p:cNvPr id="3" name="TextBox 3"/>
            <p:cNvSpPr txBox="1"/>
            <p:nvPr/>
          </p:nvSpPr>
          <p:spPr>
            <a:xfrm>
              <a:off x="946404" y="952500"/>
              <a:ext cx="2329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RESEARCH BRIEF /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3450" y="1524000"/>
              <a:ext cx="3467100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950"/>
                </a:lnSpc>
              </a:pPr>
              <a:r>
                <a:rPr lang="zh-CN" sz="4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</a:t>
              </a:r>
              <a:br>
                <a:rPr lang="zh-CN" sz="4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4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竞品发展脉络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2594" y="3016250"/>
              <a:ext cx="47974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从“看懂一张图”到“在连续场景里帮上忙”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952500" y="36195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5642" y="3746500"/>
              <a:ext cx="3691318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2013—2026 · 竞品功能与市场反馈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视觉搜索 · 连续对话 · 实时协作 · 主动任务代理</a:t>
              </a:r>
            </a:p>
          </p:txBody>
        </p:sp>
      </p:grpSp>
      <p:grpSp>
        <p:nvGrpSpPr>
          <p:cNvPr id="23" name="cover-timeline"/>
          <p:cNvGrpSpPr/>
          <p:nvPr/>
        </p:nvGrpSpPr>
        <p:grpSpPr>
          <a:xfrm>
            <a:off x="8658225" y="1047750"/>
            <a:ext cx="1839879" cy="4343400"/>
            <a:chOff x="8658225" y="1047750"/>
            <a:chExt cx="1839879" cy="4343400"/>
          </a:xfrm>
        </p:grpSpPr>
        <p:sp>
          <p:nvSpPr>
            <p:cNvPr id="9" name="TextBox 9"/>
            <p:cNvSpPr txBox="1"/>
            <p:nvPr/>
          </p:nvSpPr>
          <p:spPr>
            <a:xfrm>
              <a:off x="9233154" y="104775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四个阶段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763000" y="1600200"/>
              <a:ext cx="9525" cy="3790950"/>
            </a:xfrm>
            <a:custGeom>
              <a:avLst/>
              <a:gdLst/>
              <a:ahLst/>
              <a:cxnLst/>
              <a:rect l="l" t="t" r="r" b="b"/>
              <a:pathLst>
                <a:path w="9525" h="3790950">
                  <a:moveTo>
                    <a:pt x="0" y="0"/>
                  </a:moveTo>
                  <a:lnTo>
                    <a:pt x="0" y="3790950"/>
                  </a:lnTo>
                </a:path>
              </a:pathLst>
            </a:custGeom>
            <a:noFill/>
            <a:ln w="19050">
              <a:solidFill>
                <a:srgbClr val="AFA79B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77275" y="17430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93708" y="147320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2013–17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9804" y="19240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视觉查询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677275" y="27717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93708" y="250190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2021–22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9804" y="29527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可穿戴试水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677275" y="38004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93708" y="353060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2023–24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9804" y="3981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实时对话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658225" y="4810125"/>
              <a:ext cx="209550" cy="2095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3708" y="455930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2025–26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9804" y="50101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主动协作</a:t>
              </a:r>
            </a:p>
          </p:txBody>
        </p:sp>
      </p:grpSp>
      <p:grpSp>
        <p:nvGrpSpPr>
          <p:cNvPr id="26" name="cover-footer"/>
          <p:cNvGrpSpPr/>
          <p:nvPr/>
        </p:nvGrpSpPr>
        <p:grpSpPr>
          <a:xfrm>
            <a:off x="947166" y="6178550"/>
            <a:ext cx="10183368" cy="205359"/>
            <a:chOff x="947166" y="6178550"/>
            <a:chExt cx="10183368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947166" y="6178550"/>
              <a:ext cx="3315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资料来源：Research 多模态交互洞察 · 2026-10-29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46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5566982" cy="1353566"/>
            <a:chOff x="672084" y="476250"/>
            <a:chExt cx="5566982" cy="13535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全片总判断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82650"/>
              <a:ext cx="5566982" cy="947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行业已经跨过“能不能看见”</a:t>
              </a:r>
              <a:b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正在竞争“能不能在正确时机帮上忙”</a:t>
              </a:r>
            </a:p>
          </p:txBody>
        </p:sp>
      </p:grpSp>
      <p:grpSp>
        <p:nvGrpSpPr>
          <p:cNvPr id="34" name="evolution-path"/>
          <p:cNvGrpSpPr/>
          <p:nvPr/>
        </p:nvGrpSpPr>
        <p:grpSpPr>
          <a:xfrm>
            <a:off x="675894" y="2101850"/>
            <a:ext cx="10830306" cy="3207131"/>
            <a:chOff x="675894" y="2101850"/>
            <a:chExt cx="10830306" cy="3207131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2101850"/>
              <a:ext cx="51700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能力没有停在“识图”，而是一路向“完成任务”靠近。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066800" y="3162300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57300" y="3048000"/>
              <a:ext cx="228600" cy="2286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241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拍照识别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012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看懂画面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2416" y="3714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识别物体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416" y="3962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读取文字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524250" y="3048000"/>
              <a:ext cx="228600" cy="2286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0936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看图问答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707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连续追问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9366" y="3714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解释场景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9366" y="3962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重新聚焦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791200" y="3048000"/>
              <a:ext cx="228600" cy="2286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7631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9402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共享现场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088" y="37147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9554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屏幕上下文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058150" y="3048000"/>
              <a:ext cx="228600" cy="2286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4326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主动纠错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097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发现失败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1722" y="3714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提醒移动镜头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1722" y="39624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判断何时开口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0306050" y="3028950"/>
              <a:ext cx="266700" cy="2667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10216" y="2628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任务代理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27920" y="3384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完成事情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10216" y="3714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持续协作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10216" y="3962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人工接管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85800" y="4762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894" y="4927600"/>
              <a:ext cx="75517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分结论：多模态产品的价值，越来越取决于“帮到什么程度”。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80466" y="61785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整理自三份多模态洞察报告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5020056" cy="896366"/>
            <a:chOff x="672084" y="476250"/>
            <a:chExt cx="5020056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全景时间轴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502005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多模态交互经历四次明显转向</a:t>
              </a:r>
            </a:p>
          </p:txBody>
        </p:sp>
      </p:grpSp>
      <p:grpSp>
        <p:nvGrpSpPr>
          <p:cNvPr id="36" name="timeline-panorama"/>
          <p:cNvGrpSpPr/>
          <p:nvPr/>
        </p:nvGrpSpPr>
        <p:grpSpPr>
          <a:xfrm>
            <a:off x="677418" y="1778000"/>
            <a:ext cx="10676382" cy="3765550"/>
            <a:chOff x="677418" y="1778000"/>
            <a:chExt cx="10676382" cy="3765550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778000"/>
              <a:ext cx="6480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先看清每一阶段“产品在做什么”，再判断它为什么得到不同反响。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3009900"/>
              <a:ext cx="10496550" cy="9525"/>
            </a:xfrm>
            <a:custGeom>
              <a:avLst/>
              <a:gdLst/>
              <a:ahLst/>
              <a:cxnLst/>
              <a:rect l="l" t="t" r="r" b="b"/>
              <a:pathLst>
                <a:path w="10496550" h="9525">
                  <a:moveTo>
                    <a:pt x="0" y="0"/>
                  </a:moveTo>
                  <a:lnTo>
                    <a:pt x="104965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000250" y="2857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1D1C19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905000" y="29146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4762500" y="2857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1D1C19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667250" y="29146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7524750" y="2857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1D1C19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0" y="29146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0287000" y="2857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C14E2C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172700" y="2895600"/>
              <a:ext cx="228600" cy="2286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3325" y="2387600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2013–2017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6840" y="3365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单次视觉查询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30750" y="3695700"/>
              <a:ext cx="1339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Glass 失败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5042" y="3943350"/>
              <a:ext cx="1950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/ Seeing AI 进入手机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381375" y="35433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75575" y="2387600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2021–2022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50055" y="3365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可穿戴试水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2244" y="3695700"/>
              <a:ext cx="1280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48684" y="39433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有摄像头，低持续使用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143625" y="35433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37825" y="2387600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2023–2024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0375" y="3365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大模型实时对话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2635" y="3695700"/>
              <a:ext cx="19242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Be My AI / Ray-Ban Meta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516" y="3943350"/>
              <a:ext cx="2108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Gemini Live / Copilot Vision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905875" y="35433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00075" y="2387600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2025–2026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70695" y="33655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第一视角与主动协作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78898" y="3695700"/>
              <a:ext cx="1016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AI 眼镜规模化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22612" y="394335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全双工 / 主动纠错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942" y="4883150"/>
              <a:ext cx="62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主线不是“模型变强了”，而是系统获得了更多上下文，并被要求对结果负责。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8942" y="524510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下一步才开始回答：哪些产品真的被用起来，哪些只是演示。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680466" y="6178550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公开产品发布时间线 · 本地洞察报告整理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6615775" cy="896366"/>
            <a:chOff x="672084" y="476250"/>
            <a:chExt cx="6615775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9948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2013–2017 · 早期产品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66157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视觉有价值，但用户没有接受“新硬件”</a:t>
              </a:r>
            </a:p>
          </p:txBody>
        </p:sp>
      </p:grpSp>
      <p:grpSp>
        <p:nvGrpSpPr>
          <p:cNvPr id="19" name="early-comparison"/>
          <p:cNvGrpSpPr/>
          <p:nvPr/>
        </p:nvGrpSpPr>
        <p:grpSpPr>
          <a:xfrm>
            <a:off x="666750" y="1873250"/>
            <a:ext cx="10839450" cy="3761994"/>
            <a:chOff x="666750" y="1873250"/>
            <a:chExt cx="10839450" cy="37619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同一时期，新硬件失败，而放进手机的明确任务开始成立。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38125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9704" y="24955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新硬件失败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2667000"/>
              <a:ext cx="344216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Google Glass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336550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2013 年进入消费视野：摄像头、近眼显示、免手持。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740150"/>
              <a:ext cx="443712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但 1500 美元价格、社交尴尬和旁观者隐私争议，让消费版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迅速失去动力；企业版也在 2023 年停止销售。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45974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失败点：先要求用户换一个设备，却没给出必须换的理由。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47104" y="2495550"/>
              <a:ext cx="1082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已有设备成功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34150" y="2660650"/>
              <a:ext cx="2813447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7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Google Lens</a:t>
              </a:r>
              <a:br>
                <a:rPr lang="en-US" sz="37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en-US" sz="37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Seeing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580" y="3860800"/>
              <a:ext cx="4558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2017 年：把摄像头能力直接放进用户已有的手机。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6342" y="4178300"/>
              <a:ext cx="44714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做视觉搜索与翻译；Seeing AI 为视障用户朗读文字、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物件和场景。任务清楚、入口熟悉、无需购买新硬件。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6342" y="459740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成功点：先解决一个具体问题，再让视觉能力自然出现。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5143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5283200"/>
              <a:ext cx="7482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分：视觉能力可以很强，但产品必须先回答“为什么现在要用它”。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80466" y="6178550"/>
              <a:ext cx="5053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Glass / Google Lens / Microsoft Seeing AI 官方资料与独立报道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6172200" cy="896366"/>
            <a:chOff x="672084" y="476250"/>
            <a:chExt cx="6172200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27217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2021–2022 · 可穿戴第一次试水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61722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有摄像头，不等于有持续使用的理由</a:t>
              </a:r>
            </a:p>
          </p:txBody>
        </p:sp>
      </p:grpSp>
      <p:grpSp>
        <p:nvGrpSpPr>
          <p:cNvPr id="19" name="rayban-stories-story"/>
          <p:cNvGrpSpPr/>
          <p:nvPr/>
        </p:nvGrpSpPr>
        <p:grpSpPr>
          <a:xfrm>
            <a:off x="666750" y="1873250"/>
            <a:ext cx="10839450" cy="3857244"/>
            <a:chOff x="666750" y="1873250"/>
            <a:chExt cx="10839450" cy="385724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71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Ray-Ban Stories 证明用户愿意试戴，却没有证明他们会天天使用。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8942" y="2616200"/>
              <a:ext cx="1581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2021 年发布后销量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851150"/>
              <a:ext cx="493855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约 30 万副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4476750" y="2724150"/>
              <a:ext cx="9525" cy="1447800"/>
            </a:xfrm>
            <a:custGeom>
              <a:avLst/>
              <a:gdLst/>
              <a:ahLst/>
              <a:cxnLst/>
              <a:rect l="l" t="t" r="r" b="b"/>
              <a:pathLst>
                <a:path w="9525" h="1447800">
                  <a:moveTo>
                    <a:pt x="0" y="0"/>
                  </a:moveTo>
                  <a:lnTo>
                    <a:pt x="0" y="144780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03292" y="26162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据报道的月度活跃使用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91100" y="2851150"/>
              <a:ext cx="439832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不足 10%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04054" y="4019550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约 2.7 万人 / 月（公开报道口径）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4533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9704" y="47434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为什么没有持续使用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50990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连接和续航不够稳定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83280" y="50990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任务价值不够高频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31280" y="50990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旁观者隐私压力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88780" y="50990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手机已经能完成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6656" y="5378450"/>
              <a:ext cx="5907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分：卖得出去只是第一步，留下来才说明产品价值。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80466" y="6178550"/>
              <a:ext cx="4956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 2021 发布；WSJ 内部数据报道及 Engadget / UploadVR 二次报道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6231727" cy="896366"/>
            <a:chOff x="672084" y="476250"/>
            <a:chExt cx="6231727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6091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E"/>
                  </a:solidFill>
                  <a:latin typeface="+mn-lt"/>
                  <a:ea typeface="+mn-ea"/>
                  <a:cs typeface="+mn-cs"/>
                </a:rPr>
                <a:t>2023 · 大模型转折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6231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“看图识物”变成了可持续的视觉对话</a:t>
              </a:r>
            </a:p>
          </p:txBody>
        </p:sp>
      </p:grpSp>
      <p:grpSp>
        <p:nvGrpSpPr>
          <p:cNvPr id="19" name="turning-point"/>
          <p:cNvGrpSpPr/>
          <p:nvPr/>
        </p:nvGrpSpPr>
        <p:grpSpPr>
          <a:xfrm>
            <a:off x="669036" y="1892300"/>
            <a:ext cx="10837164" cy="3723894"/>
            <a:chOff x="669036" y="1892300"/>
            <a:chExt cx="10837164" cy="37238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92300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用户可以追问、补充和重新聚焦，系统开始围绕一个任务持续帮助。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41935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9704" y="2571750"/>
              <a:ext cx="1445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高价值任务先跑通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036" y="2749550"/>
              <a:ext cx="22021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561" y="3384550"/>
              <a:ext cx="5205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Be My Eyes 用 GPT-4 为视障用户提供图片解释和多轮追问。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740150"/>
              <a:ext cx="48143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用户获得更快的独立性和匿名性；任务本来就离不开视觉帮助，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因此价值不需要靠“多模态”概念来解释。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459740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反响：无障碍用户反馈较强，但效果仍受图片质量和理解错误影响。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47104" y="2571750"/>
              <a:ext cx="1445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大众硬件找到入口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36436" y="2749550"/>
              <a:ext cx="346930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Ray-Ban Meta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6342" y="33972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看什么就直接问；不用掏手机，也能连续追问。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6342" y="3740150"/>
              <a:ext cx="46428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它借用了熟悉的眼镜形态和 Ray-Ban 品牌，把第一视角输入</a:t>
              </a:r>
              <a:b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变成助手能力；但这一阶段仍以问答为主，不负责完成任务。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6342" y="45974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反响：形态被接受，但第一代仍受续航、连接和隐私限制。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5086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5264150"/>
              <a:ext cx="78989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分：2023 年的关键变化，是“视觉输入”变成了可持续的对话上下文。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80466" y="6178550"/>
              <a:ext cx="4849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来源：Be My Eyes 2023 发布与用户研究；Meta 2023/2024 官方与独立评测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7324344" cy="896366"/>
            <a:chOff x="672084" y="476250"/>
            <a:chExt cx="7324344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6091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 · 平台化竞争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73243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实时摄像头和屏幕共享，进入主流平台入口</a:t>
              </a:r>
            </a:p>
          </p:txBody>
        </p:sp>
      </p:grpSp>
      <p:grpSp>
        <p:nvGrpSpPr>
          <p:cNvPr id="34" name="platform-comparison"/>
          <p:cNvGrpSpPr/>
          <p:nvPr/>
        </p:nvGrpSpPr>
        <p:grpSpPr>
          <a:xfrm>
            <a:off x="672846" y="1873250"/>
            <a:ext cx="10833354" cy="3857244"/>
            <a:chOff x="672846" y="1873250"/>
            <a:chExt cx="10833354" cy="385724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57890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竞争从独立 App，转向手机、电脑和操作系统的默认位置。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2419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191000" y="2571750"/>
              <a:ext cx="9525" cy="2743200"/>
            </a:xfrm>
            <a:custGeom>
              <a:avLst/>
              <a:gdLst/>
              <a:ahLst/>
              <a:cxnLst/>
              <a:rect l="l" t="t" r="r" b="b"/>
              <a:pathLst>
                <a:path w="9525"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2571750"/>
              <a:ext cx="9525" cy="2743200"/>
            </a:xfrm>
            <a:custGeom>
              <a:avLst/>
              <a:gdLst/>
              <a:ahLst/>
              <a:cxnLst/>
              <a:rect l="l" t="t" r="r" b="b"/>
              <a:pathLst>
                <a:path w="9525"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2846" y="2546350"/>
              <a:ext cx="21110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3028950"/>
              <a:ext cx="27477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· 2024 演示 / 2025 扩大上线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34544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37211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语音、摄像头、屏幕共享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4102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强项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43688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连续对话；后来能主动指导镜头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942" y="4749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5016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独立任务成功率未公开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2846" y="2546350"/>
              <a:ext cx="34181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Visual Intelligence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9704" y="3028950"/>
              <a:ext cx="1298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 · 2024.12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8942" y="34544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88942" y="3721100"/>
              <a:ext cx="2333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触发的画面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8942" y="4102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强项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8942" y="43688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地点、翻译、识物、搜索的工具箱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8942" y="4749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8942" y="50165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更偏一次触发，持续协作较少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2846" y="2546350"/>
              <a:ext cx="25633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9704" y="3028950"/>
              <a:ext cx="2076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 · 2024.12 预览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8942" y="34544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8942" y="3721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桌面、手机摄像头、工作数据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8942" y="4102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强项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8942" y="43688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理解工作上下文，高亮相关区域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8942" y="4749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8942" y="5016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不代替用户点击和输入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6656" y="5378450"/>
              <a:ext cx="6970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分：平台先解决“看得见、问得到”，执行任务仍然留给用户。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80466" y="6178550"/>
              <a:ext cx="555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I/O 2024 / Project Astra；Apple iOS 18.2；Microsoft Copilot Vision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7266257" cy="896366"/>
            <a:chOff x="672084" y="476250"/>
            <a:chExt cx="7266257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427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2024 · 反面案例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72662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独立 AI 硬件失败，不等于多模态需求失败</a:t>
              </a:r>
            </a:p>
          </p:txBody>
        </p:sp>
      </p:grpSp>
      <p:grpSp>
        <p:nvGrpSpPr>
          <p:cNvPr id="29" name="hardware-failure-timeline"/>
          <p:cNvGrpSpPr/>
          <p:nvPr/>
        </p:nvGrpSpPr>
        <p:grpSpPr>
          <a:xfrm>
            <a:off x="676656" y="1873250"/>
            <a:ext cx="10829544" cy="3800094"/>
            <a:chOff x="676656" y="1873250"/>
            <a:chExt cx="10829544" cy="38000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9675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新品试图替代手机，但用户真正感受到的是功能少、速度慢和 Bug 多。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781300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476500" y="26860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39133" y="23812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6849" y="2965450"/>
              <a:ext cx="160980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Rabbit R1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05063" y="3397250"/>
              <a:ext cx="933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CES 高关注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0602" y="3676650"/>
              <a:ext cx="22222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上市后：Bug、延迟、功能有限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096000" y="2686050"/>
              <a:ext cx="190500" cy="1905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58633" y="23812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29749" y="2965450"/>
              <a:ext cx="232300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Humane AI Pin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20918" y="33972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高调上市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35118" y="36766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高价、发热、显示与依赖云端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705975" y="2676525"/>
              <a:ext cx="209550" cy="209550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78133" y="23812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2025.02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59240" y="29654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A33B27"/>
                  </a:solidFill>
                  <a:latin typeface="+mj-lt"/>
                  <a:ea typeface="+mj-ea"/>
                  <a:cs typeface="+mj-cs"/>
                </a:rPr>
                <a:t>停止服务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56034" y="3397250"/>
              <a:ext cx="2309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Humane 被 HP 收购部分资产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20022" y="36766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硬件业务收场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4267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4514850"/>
              <a:ext cx="2354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新设备必须同时跨过四道门槛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180" y="49085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有明确任务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83280" y="49085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比手机更省事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1280" y="49085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稳定且可纠正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88780" y="49085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隐私可接受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6656" y="5321300"/>
              <a:ext cx="7443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分：需求可以存在，但用户不会为了一个新入口持续忍受不成熟。</a:t>
              </a:r>
            </a:p>
          </p:txBody>
        </p:sp>
      </p:grpSp>
      <p:grpSp>
        <p:nvGrpSpPr>
          <p:cNvPr id="3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80466" y="6178550"/>
              <a:ext cx="43795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来源：WIRED、The Verge、Ars Technica、Tom’s Guide 等独立评测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5967214" cy="896366"/>
            <a:chOff x="672084" y="476250"/>
            <a:chExt cx="5967214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790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2025 · 第一视角回潮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59672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AI 眼镜重新升温，但体验仍在收敛</a:t>
              </a:r>
            </a:p>
          </p:txBody>
        </p:sp>
      </p:grpSp>
      <p:grpSp>
        <p:nvGrpSpPr>
          <p:cNvPr id="20" name="glasses-market-story"/>
          <p:cNvGrpSpPr/>
          <p:nvPr/>
        </p:nvGrpSpPr>
        <p:grpSpPr>
          <a:xfrm>
            <a:off x="666750" y="1873250"/>
            <a:ext cx="10839450" cy="3787267"/>
            <a:chOff x="666750" y="1873250"/>
            <a:chExt cx="10839450" cy="3787267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销量证明形态开始被接受；显示、续航、生态和使用频率还没有统一答案。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9704" y="2419350"/>
              <a:ext cx="2403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RAY-BAN META 的采用信号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622550"/>
              <a:ext cx="282244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100 万+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9323" y="3486150"/>
              <a:ext cx="216687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 年销量（据公开报道）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14700" y="2622550"/>
              <a:ext cx="237887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700 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27273" y="3486150"/>
              <a:ext cx="33730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 年销量（媒体转引，待官方口径核对）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981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9704" y="4210050"/>
              <a:ext cx="1445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三条路线同时推进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132" y="454025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轻量问答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323" y="4972050"/>
              <a:ext cx="25392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Ray-Ban Meta：看、问、听、拍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4632" y="454025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近眼显示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8823" y="4972050"/>
              <a:ext cx="29616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 Display：导航、字幕、腕带手势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47482" y="454025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生态服务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51673" y="4972050"/>
              <a:ext cx="250792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夸克 S1：导航、支付、购物接入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323" y="5410200"/>
              <a:ext cx="501004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负反馈集中在：显示位置、续航、跨平台生态和真正高频的任务。</a:t>
              </a:r>
            </a:p>
          </p:txBody>
        </p:sp>
      </p:grpSp>
      <p:grpSp>
        <p:nvGrpSpPr>
          <p:cNvPr id="23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80466" y="6178550"/>
              <a:ext cx="5453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来源：Meta/EssilorLuxottica 销量报道；Meta Display、华为、夸克发布与独立体验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5463631" cy="896366"/>
            <a:chOff x="672084" y="476250"/>
            <a:chExt cx="5463631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1427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 · 实时协作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54636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竞争转向“何时开口、如何纠偏”</a:t>
              </a:r>
            </a:p>
          </p:txBody>
        </p:sp>
      </p:grpSp>
      <p:grpSp>
        <p:nvGrpSpPr>
          <p:cNvPr id="31" name="realtime-loop"/>
          <p:cNvGrpSpPr/>
          <p:nvPr/>
        </p:nvGrpSpPr>
        <p:grpSpPr>
          <a:xfrm>
            <a:off x="676656" y="1873250"/>
            <a:ext cx="10829544" cy="3914394"/>
            <a:chOff x="676656" y="1873250"/>
            <a:chExt cx="10829544" cy="39143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系统不只理解画面，还要判断自己有没有帮到、何时应该打断或求助。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09750" y="31432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962150" y="2914650"/>
              <a:ext cx="457200" cy="457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31415" y="30543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867400" y="2914650"/>
              <a:ext cx="457200" cy="457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6665" y="30543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9753600" y="2895600"/>
              <a:ext cx="495300" cy="4953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941915" y="30543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59280" y="2470150"/>
              <a:ext cx="662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感知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29550" y="3549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连续看和听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0990" y="3829050"/>
              <a:ext cx="1039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0022" y="40767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音视频全双工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44490" y="24701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判断时机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80457" y="3549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何时开口、提醒或沉默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88470" y="3829050"/>
              <a:ext cx="10150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Guided Vision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43728" y="4076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主动提示调整镜头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49740" y="2470150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提供帮助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76576" y="3549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解释、纠正或转人工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16879" y="3829050"/>
              <a:ext cx="1368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Snap / 企业无障碍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8978" y="4076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先提醒或人工接管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4629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485775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已经看见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942" y="51498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更自然的打断与接话；镜头不对时能得到纠正。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61354" y="48577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还没有证实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60592" y="514985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长期任务完成率、误打扰、人工接管成本和付费价值。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6656" y="5435600"/>
              <a:ext cx="6242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分：新竞争点不是“更会看”，而是“更会判断何时帮”。</a:t>
              </a:r>
            </a:p>
          </p:txBody>
        </p:sp>
      </p:grpSp>
      <p:grpSp>
        <p:nvGrpSpPr>
          <p:cNvPr id="34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80466" y="6178550"/>
              <a:ext cx="4221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来源：字节 SeedRealtime；Google Guided Vision；Snap 公开材料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6940296" cy="896366"/>
            <a:chOff x="672084" y="476250"/>
            <a:chExt cx="6940296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市场反响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69402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反响好的产品，都让用户更快完成一件事</a:t>
              </a:r>
            </a:p>
          </p:txBody>
        </p:sp>
      </p:grpSp>
      <p:grpSp>
        <p:nvGrpSpPr>
          <p:cNvPr id="19" name="reception-levels"/>
          <p:cNvGrpSpPr/>
          <p:nvPr/>
        </p:nvGrpSpPr>
        <p:grpSpPr>
          <a:xfrm>
            <a:off x="676656" y="1873250"/>
            <a:ext cx="10829544" cy="3761994"/>
            <a:chOff x="676656" y="1873250"/>
            <a:chExt cx="10829544" cy="37619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702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“多模态”不是价值本身；用户只关心更省事、更独立，或者更好玩。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85800" y="2343150"/>
              <a:ext cx="10820400" cy="8572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5632" y="240665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74011" y="2489200"/>
              <a:ext cx="70152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的大规模使用 · Seeing AI / Be My AI 的无障碍价值 · Ray-Ban Meta 的销量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5535" y="28130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证据类型：使用量、用户反馈、销量；不都是独立任务测试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3352800"/>
              <a:ext cx="10820400" cy="857250"/>
            </a:xfrm>
            <a:prstGeom prst="rect">
              <a:avLst/>
            </a:prstGeom>
            <a:solidFill>
              <a:srgbClr val="C14E2C">
                <a:alpha val="8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5632" y="3416300"/>
              <a:ext cx="18755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混合 / 待验证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74011" y="3498850"/>
              <a:ext cx="68607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/ Copilot 入口强，但独立任务效果未公开 · 夸克 S1 有热度也有体验短板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5535" y="3822700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证据类型：厂商演示、功能上线、媒体报道；缺少任务完成率与付费拆分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4362450"/>
              <a:ext cx="10820400" cy="7429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5632" y="440690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33B27"/>
                  </a:solidFill>
                  <a:latin typeface="+mj-lt"/>
                  <a:ea typeface="+mj-ea"/>
                  <a:cs typeface="+mj-cs"/>
                </a:rPr>
                <a:t>明显失败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74011" y="4489450"/>
              <a:ext cx="71230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 消费版 · Ray-Ban Stories 第一代 · Humane AI Pin · Rabbit R1 初期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75535" y="4794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证据类型：独立评测、低持续使用、停售或停服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6656" y="5283200"/>
              <a:ext cx="7266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分：市场奖赏“帮我完成了什么”，而不是“模型多了一个模态”。</a:t>
              </a:r>
            </a:p>
          </p:txBody>
        </p:sp>
      </p:grpSp>
      <p:grpSp>
        <p:nvGrpSpPr>
          <p:cNvPr id="2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80466" y="617855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综合：官方发布、独立评测、销量与使用数据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7708392" cy="896366"/>
            <a:chOff x="672084" y="476250"/>
            <a:chExt cx="7708392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71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成败分叉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77083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任务、载体、反馈和信任，决定产品能否留下</a:t>
              </a:r>
            </a:p>
          </p:txBody>
        </p:sp>
      </p:grpSp>
      <p:grpSp>
        <p:nvGrpSpPr>
          <p:cNvPr id="25" name="success-failure-contrast"/>
          <p:cNvGrpSpPr/>
          <p:nvPr/>
        </p:nvGrpSpPr>
        <p:grpSpPr>
          <a:xfrm>
            <a:off x="676656" y="1873250"/>
            <a:ext cx="10829544" cy="3914394"/>
            <a:chOff x="676656" y="1873250"/>
            <a:chExt cx="10829544" cy="391439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25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技术和产品形态相近时，用户体验到的“是否更省事”决定结果。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0" y="2400300"/>
              <a:ext cx="9525" cy="2819400"/>
            </a:xfrm>
            <a:custGeom>
              <a:avLst/>
              <a:gdLst/>
              <a:ahLst/>
              <a:cxnLst/>
              <a:rect l="l" t="t" r="r" b="b"/>
              <a:pathLst>
                <a:path w="9525"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9704" y="2571750"/>
              <a:ext cx="2172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留下来以后，成功产品具备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799" y="2971800"/>
              <a:ext cx="23886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任务本来就需要视觉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323" y="3257550"/>
              <a:ext cx="3459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读字、找物、无障碍协助，不需要教育用户。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799" y="3581400"/>
              <a:ext cx="23886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借用已有设备和入口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323" y="3867150"/>
              <a:ext cx="36315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手机、眼镜、电视和汽车，比新建入口更自然。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799" y="4191000"/>
              <a:ext cx="196326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允许纠正和后退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323" y="4476750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镜头不对会提示，系统不会时必须能找人。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7799" y="4800600"/>
              <a:ext cx="32394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04　用户能发现它什么时候不可信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104" y="2571750"/>
              <a:ext cx="1445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离场产品通常卡在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5199" y="2971800"/>
              <a:ext cx="32394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要求更换设备，却没有硬任务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6723" y="3257550"/>
              <a:ext cx="36487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“能看见”很新鲜，但手机也能完成大部分事情。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5199" y="3581400"/>
              <a:ext cx="23886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把演示当成稳定体验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723" y="3867150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真实环境里的延迟、网络和误识别被低估。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5199" y="4191000"/>
              <a:ext cx="21759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没有失败恢复路径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6723" y="4476750"/>
              <a:ext cx="311459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用户不知道怎么重来，也没有人工兜底。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5199" y="4800600"/>
              <a:ext cx="302676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04　隐私和旁观者压力没有解决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656" y="5435600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共同门槛：产品必须比用户原来的做法更省事，并且出错时更可控。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80466" y="617855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综合本页之前的产品事实，不引入新样本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8860536" cy="896366"/>
            <a:chOff x="672084" y="476250"/>
            <a:chExt cx="8860536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趋势与启示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88605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壁垒会落在任务闭环与交互策略，而不是视觉问答壳</a:t>
              </a:r>
            </a:p>
          </p:txBody>
        </p:sp>
      </p:grpSp>
      <p:grpSp>
        <p:nvGrpSpPr>
          <p:cNvPr id="22" name="trend-rows"/>
          <p:cNvGrpSpPr/>
          <p:nvPr/>
        </p:nvGrpSpPr>
        <p:grpSpPr>
          <a:xfrm>
            <a:off x="672846" y="1873250"/>
            <a:ext cx="10833354" cy="3882517"/>
            <a:chOff x="672846" y="1873250"/>
            <a:chExt cx="10833354" cy="3882517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1873250"/>
              <a:ext cx="6480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过去有效的卖点，正在变成基础能力；新的差异是“帮得更完整”。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236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0085" y="2603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过去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85435" y="26035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现在与下一步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2846" y="290830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单次识别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78196" y="290830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连续协作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2846" y="353695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被动回答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78196" y="3536950"/>
              <a:ext cx="25648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主动提醒与纠错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4057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2846" y="4165600"/>
              <a:ext cx="11140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给答案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78196" y="4165600"/>
              <a:ext cx="1839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完成一件事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4686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2846" y="4794250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通用助手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78196" y="4794250"/>
              <a:ext cx="1839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垂直工作流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5353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323" y="5505450"/>
              <a:ext cx="769814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评估任何多模态产品：任务是否必要 · 载体是否自然 · 失败能否纠正 · 隐私是否接受 · 结果能否验证</a:t>
              </a:r>
            </a:p>
          </p:txBody>
        </p:sp>
      </p:grpSp>
      <p:grpSp>
        <p:nvGrpSpPr>
          <p:cNvPr id="25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680466" y="6178550"/>
              <a:ext cx="2093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整理：Research 多模态交互洞察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72084" y="476250"/>
            <a:ext cx="2715768" cy="896366"/>
            <a:chOff x="672084" y="476250"/>
            <a:chExt cx="2715768" cy="896366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476250"/>
              <a:ext cx="20506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SOURCES &amp;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844550"/>
              <a:ext cx="27157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来源与证据边界</a:t>
              </a:r>
            </a:p>
          </p:txBody>
        </p:sp>
      </p:grpSp>
      <p:grpSp>
        <p:nvGrpSpPr>
          <p:cNvPr id="39" name="source-columns"/>
          <p:cNvGrpSpPr/>
          <p:nvPr/>
        </p:nvGrpSpPr>
        <p:grpSpPr>
          <a:xfrm>
            <a:off x="678942" y="1778000"/>
            <a:ext cx="10827258" cy="3941128"/>
            <a:chOff x="678942" y="1778000"/>
            <a:chExt cx="10827258" cy="3941128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1778000"/>
              <a:ext cx="6047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厂商材料证明“功能上线”；独立评测和真实行为更接近“产品是否被接受”。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2171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114800" y="234315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924800" y="234315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9704" y="24765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官方发布与产品说明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679704" y="2838450"/>
              <a:ext cx="1699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Guided Vision</a:t>
              </a:r>
            </a:p>
          </p:txBody>
        </p:sp>
        <p:sp>
          <p:nvSpPr>
            <p:cNvPr id="11" name="TextBox 11">
              <a:hlinkClick r:id="rId3"/>
            </p:cNvPr>
            <p:cNvSpPr txBox="1"/>
            <p:nvPr/>
          </p:nvSpPr>
          <p:spPr>
            <a:xfrm>
              <a:off x="679704" y="3162300"/>
              <a:ext cx="2047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Microsoft · Copilot Vision</a:t>
              </a:r>
            </a:p>
          </p:txBody>
        </p:sp>
        <p:sp>
          <p:nvSpPr>
            <p:cNvPr id="12" name="TextBox 12">
              <a:hlinkClick r:id="rId4"/>
            </p:cNvPr>
            <p:cNvSpPr txBox="1"/>
            <p:nvPr/>
          </p:nvSpPr>
          <p:spPr>
            <a:xfrm>
              <a:off x="679704" y="3486150"/>
              <a:ext cx="1868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Ray-Ban Meta AI</a:t>
              </a:r>
            </a:p>
          </p:txBody>
        </p:sp>
        <p:sp>
          <p:nvSpPr>
            <p:cNvPr id="13" name="TextBox 13">
              <a:hlinkClick r:id="rId5"/>
            </p:cNvPr>
            <p:cNvSpPr txBox="1"/>
            <p:nvPr/>
          </p:nvSpPr>
          <p:spPr>
            <a:xfrm>
              <a:off x="679704" y="3810000"/>
              <a:ext cx="2021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Apple · Visual Intelligence</a:t>
              </a:r>
            </a:p>
          </p:txBody>
        </p:sp>
        <p:sp>
          <p:nvSpPr>
            <p:cNvPr id="14" name="TextBox 14">
              <a:hlinkClick r:id="rId6"/>
            </p:cNvPr>
            <p:cNvSpPr txBox="1"/>
            <p:nvPr/>
          </p:nvSpPr>
          <p:spPr>
            <a:xfrm>
              <a:off x="679704" y="4133850"/>
              <a:ext cx="1537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Huawei · 小艺看世界</a:t>
              </a:r>
            </a:p>
          </p:txBody>
        </p:sp>
        <p:sp>
          <p:nvSpPr>
            <p:cNvPr id="15" name="TextBox 15">
              <a:hlinkClick r:id="rId7"/>
            </p:cNvPr>
            <p:cNvSpPr txBox="1"/>
            <p:nvPr/>
          </p:nvSpPr>
          <p:spPr>
            <a:xfrm>
              <a:off x="679704" y="4457700"/>
              <a:ext cx="20369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ByteDance · SeedRealtime</a:t>
              </a:r>
            </a:p>
          </p:txBody>
        </p:sp>
        <p:sp>
          <p:nvSpPr>
            <p:cNvPr id="16" name="TextBox 16">
              <a:hlinkClick r:id="rId8"/>
            </p:cNvPr>
            <p:cNvSpPr txBox="1"/>
            <p:nvPr/>
          </p:nvSpPr>
          <p:spPr>
            <a:xfrm>
              <a:off x="679704" y="4781550"/>
              <a:ext cx="1706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Be My Eyes · Be My AI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0085" y="5270500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厂商来源适合确认“做了什么”、发布时间与功能边界；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085" y="54991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不自动等于真实任务效果或商业化成立。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24765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独立评测与市场信号</a:t>
              </a:r>
            </a:p>
          </p:txBody>
        </p:sp>
        <p:sp>
          <p:nvSpPr>
            <p:cNvPr id="20" name="TextBox 20">
              <a:hlinkClick r:id="rId9"/>
            </p:cNvPr>
            <p:cNvSpPr txBox="1"/>
            <p:nvPr/>
          </p:nvSpPr>
          <p:spPr>
            <a:xfrm>
              <a:off x="4489704" y="2838450"/>
              <a:ext cx="32555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Information · Ray-Ban Stories 低使用</a:t>
              </a:r>
            </a:p>
          </p:txBody>
        </p:sp>
        <p:sp>
          <p:nvSpPr>
            <p:cNvPr id="21" name="TextBox 21">
              <a:hlinkClick r:id="rId10"/>
            </p:cNvPr>
            <p:cNvSpPr txBox="1"/>
            <p:nvPr/>
          </p:nvSpPr>
          <p:spPr>
            <a:xfrm>
              <a:off x="4489704" y="3162300"/>
              <a:ext cx="2390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Verge · Humane AI Pin 停服</a:t>
              </a:r>
            </a:p>
          </p:txBody>
        </p:sp>
        <p:sp>
          <p:nvSpPr>
            <p:cNvPr id="22" name="TextBox 22">
              <a:hlinkClick r:id="rId11"/>
            </p:cNvPr>
            <p:cNvSpPr txBox="1"/>
            <p:nvPr/>
          </p:nvSpPr>
          <p:spPr>
            <a:xfrm>
              <a:off x="4489704" y="3486150"/>
              <a:ext cx="1770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WIRED · Rabbit R1 评测</a:t>
              </a:r>
            </a:p>
          </p:txBody>
        </p:sp>
        <p:sp>
          <p:nvSpPr>
            <p:cNvPr id="23" name="TextBox 23">
              <a:hlinkClick r:id="rId12"/>
            </p:cNvPr>
            <p:cNvSpPr txBox="1"/>
            <p:nvPr/>
          </p:nvSpPr>
          <p:spPr>
            <a:xfrm>
              <a:off x="4489704" y="3810000"/>
              <a:ext cx="2363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Android Authority · Meta 销量</a:t>
              </a:r>
            </a:p>
          </p:txBody>
        </p:sp>
        <p:sp>
          <p:nvSpPr>
            <p:cNvPr id="24" name="TextBox 24">
              <a:hlinkClick r:id="rId13"/>
            </p:cNvPr>
            <p:cNvSpPr txBox="1"/>
            <p:nvPr/>
          </p:nvSpPr>
          <p:spPr>
            <a:xfrm>
              <a:off x="4489704" y="4133850"/>
              <a:ext cx="2487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Guardian · 对智能眼镜的分歧</a:t>
              </a:r>
            </a:p>
          </p:txBody>
        </p:sp>
        <p:sp>
          <p:nvSpPr>
            <p:cNvPr id="25" name="TextBox 25">
              <a:hlinkClick r:id="rId14"/>
            </p:cNvPr>
            <p:cNvSpPr txBox="1"/>
            <p:nvPr/>
          </p:nvSpPr>
          <p:spPr>
            <a:xfrm>
              <a:off x="4489704" y="4457700"/>
              <a:ext cx="1958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IT之家 · 华为眼镜上线时间</a:t>
              </a:r>
            </a:p>
          </p:txBody>
        </p:sp>
        <p:sp>
          <p:nvSpPr>
            <p:cNvPr id="26" name="TextBox 26">
              <a:hlinkClick r:id="rId15"/>
            </p:cNvPr>
            <p:cNvSpPr txBox="1"/>
            <p:nvPr/>
          </p:nvSpPr>
          <p:spPr>
            <a:xfrm>
              <a:off x="4489704" y="4781550"/>
              <a:ext cx="1739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夸克 S1 · 一周体验限制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90085" y="5270500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销量、月活、停服和独立体验是更有力的市场信号；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90085" y="54991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转引数字仍需回看出处与口径。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9704" y="2476500"/>
              <a:ext cx="1082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本地洞察底稿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9323" y="2895600"/>
              <a:ext cx="17718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多模态交互 · 全球竞品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00085" y="3175000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2026-10-28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9323" y="3600450"/>
              <a:ext cx="15995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多模态交互 · 产品层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00085" y="3879850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2026-10-29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9323" y="4305300"/>
              <a:ext cx="194415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多模态交互 · 开源产品化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0085" y="4584700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2026-10-29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305800" y="50482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00085" y="527050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底稿保留失败案例、证据缺口与竞争性解释。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0085" y="5499100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“没找到数据”既不代表成功，也不代表失败。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680466" y="6178550"/>
            <a:ext cx="10831068" cy="205359"/>
            <a:chOff x="680466" y="6178550"/>
            <a:chExt cx="108310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80466" y="61785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所有外部链接均为可点击对象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27340" y="61785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competitor-history">
  <a:themeElements>
    <a:clrScheme name="multimodal-competitor-histor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competitor-history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competitor-hi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2026-10-29T08:13:55Z</dcterms:created>
  <dcterms:modified xsi:type="dcterms:W3CDTF">2026-10-29T08:13:55Z</dcterms:modified>
  <cp:category/>
  <cp:contentStatus/>
</cp:coreProperties>
</file>