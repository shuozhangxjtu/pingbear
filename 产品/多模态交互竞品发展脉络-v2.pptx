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about.fb.com/news/2026/09/introducing-muse-personal-ai-agent/" TargetMode="External"/>
  <Relationship Id="rId12" Type="http://schemas.openxmlformats.org/officeDocument/2006/relationships/hyperlink" Target="https://about.fb.com/news/2026/09/introducing-ray-ban-meta-audio-glasses-new-styles-plus-muse/" TargetMode="External"/>
  <Relationship Id="rId13" Type="http://schemas.openxmlformats.org/officeDocument/2006/relationships/hyperlink" Target="https://www.theinformation.com/briefings/metas-ray-ban-glasses-fall-flat-with-customers" TargetMode="External"/>
  <Relationship Id="rId14" Type="http://schemas.openxmlformats.org/officeDocument/2006/relationships/hyperlink" Target="https://www.theverge.com/news/614883/humane-ai-hp-acquisition-pin-shutdown" TargetMode="External"/>
  <Relationship Id="rId15" Type="http://schemas.openxmlformats.org/officeDocument/2006/relationships/hyperlink" Target="https://www.wired.com/review/rabbit-r1/" TargetMode="External"/>
  <Relationship Id="rId16" Type="http://schemas.openxmlformats.org/officeDocument/2006/relationships/hyperlink" Target="https://www.androidauthority.com/ray-ban-meta-smart-glasses-3462348/" TargetMode="External"/>
  <Relationship Id="rId17" Type="http://schemas.openxmlformats.org/officeDocument/2006/relationships/hyperlink" Target="https://www.theguardian.com/technology/2026/aug/06/meta-ai-smart-glasses-privacy" TargetMode="External"/>
  <Relationship Id="rId18" Type="http://schemas.openxmlformats.org/officeDocument/2006/relationships/hyperlink" Target="https://www.bemyeyes.com/news/announcing-be-my-ai-soon-available-for-hundreds-of-thousands-of-be-my-eyes-users/" TargetMode="External"/>
  <Relationship Id="rId19" Type="http://schemas.openxmlformats.org/officeDocument/2006/relationships/hyperlink" Target="https://www.10100.com/article/107889453" TargetMode="External"/>
  <Relationship Id="rId20" Type="http://schemas.openxmlformats.org/officeDocument/2006/relationships/hyperlink" Target="https://seed.bytedance.com/zh/blog/seedrealtime-audio-visual-full-duplex-llm-released-toward-omni-modal-natural-interaction" TargetMode="External"/>
  <Relationship Id="rId21" Type="http://schemas.openxmlformats.org/officeDocument/2006/relationships/hyperlink" Target="https://wallstreetcn.com/articles/3782418" TargetMode="External"/>
  <Relationship Id="rId22" Type="http://schemas.openxmlformats.org/officeDocument/2006/relationships/hyperlink" Target="https://www.fool.com/earnings/call-transcripts/2026/10/21/meta-meta-q3-2026-earnings-call-transcript/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797" y="3867150"/>
              <a:ext cx="2899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Muse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786909" cy="659892"/>
            <a:chOff x="559308" y="273050"/>
            <a:chExt cx="878690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786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多模态进入终端，竞争焦点转向全情境 Agent 与行动网络</a:t>
              </a:r>
            </a:p>
          </p:txBody>
        </p:sp>
      </p:grpSp>
      <p:grpSp>
        <p:nvGrpSpPr>
          <p:cNvPr id="56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016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终端路线决定“在哪里感知”，Muse 进一步把入口推进为跨 App、可持续执行的个人代理。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1603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 Agent 时间线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4574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66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3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718" y="2603500"/>
              <a:ext cx="120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524" y="283845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摄像头/屏幕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52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9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36849" y="2603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1842" y="28384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实时＋指向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838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2729" y="2152650"/>
              <a:ext cx="785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2834" y="2603500"/>
              <a:ext cx="1265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70627" y="28384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近眼/导航/支付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124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1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2394" y="2603500"/>
              <a:ext cx="101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3264" y="2838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全双工音视频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391775" y="2371725"/>
              <a:ext cx="171450" cy="1714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7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6028" y="2603500"/>
              <a:ext cx="882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 + 眼镜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82985" y="2838450"/>
              <a:ext cx="989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全情境个人 Agent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257550"/>
              <a:ext cx="11049000" cy="1657350"/>
            </a:xfrm>
            <a:prstGeom prst="rect">
              <a:avLst/>
            </a:prstGeom>
            <a:solidFill>
              <a:srgbClr val="C14E2C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16" y="3397250"/>
              <a:ext cx="2541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Meta Muse：2026 年的关键跃迁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从问答到后台执行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188" y="390525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计划、浏览器、跨应用、多步任务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188" y="4095750"/>
              <a:ext cx="18623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关闭 App 后继续；敏感动作先确认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4286250"/>
              <a:ext cx="1939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Secure VM、Sentinel、权限与审计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4552950"/>
              <a:ext cx="1963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Reuters：human concierge 测试中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972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公司自报早期信号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1438" y="3905250"/>
              <a:ext cx="18208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美加六周 1000 万设置；25% 日活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1438" y="4095750"/>
              <a:ext cx="1857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购物最常见，平均客单超 200 美元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1438" y="4286250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设置量 ≠ 下载、月活或留存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81438" y="455295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缺独立审计与交易结果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5773" y="3638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设备分层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3905250"/>
              <a:ext cx="21635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Audio：无摄像头、43g、12h、349 美元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095750"/>
              <a:ext cx="19077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Gen 3：保留 12MP 相机、449 美元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488" y="4286250"/>
              <a:ext cx="18390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隐私/价格/续航与视觉能力被分层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488" y="4552950"/>
              <a:ext cx="1468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眼镜端 Muse 尚未全量上线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523" y="3638550"/>
              <a:ext cx="1604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下一步：Agent 网络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20238" y="3905250"/>
              <a:ext cx="148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 / Personal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20238" y="4095750"/>
              <a:ext cx="88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Protocol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20238" y="4286250"/>
              <a:ext cx="1510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亲友与商家 Agent 协商交易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0238" y="45529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路线图，不是已交付能力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7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更低延迟、全双工、镜头纠错、主动提醒、后台执行和商业化入口。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5535" y="5537200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独立成功率、误打扰、人工接管率、隐私成本、交易费率与复购。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3118" y="5746750"/>
              <a:ext cx="8101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的分水岭不是“看见”，而是持续上下文、后台执行与 Agent 协作。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2292350"/>
              <a:ext cx="163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520950"/>
              <a:ext cx="15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/ 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2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Muse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741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语音＋App/网页，后续眼镜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后台多步；支付/邮件需确认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购物、生产力、日历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4874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1000万设置；待独立验证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1549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 / 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相机/文档/圈屏/设备入口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系统任务、陪伴与设备生态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手机与家庭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27068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/ Display / Audio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416" y="1968500"/>
              <a:ext cx="4614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摄像头版销量增长；Display 增加导航、字幕；Audio 是无摄像头新 SKU。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416" y="2216150"/>
              <a:ext cx="4680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Audio：349 美元、43g、12h；摄像头版 Gen 3 仍保留 449 美元与 12MP。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5523" y="1695450"/>
              <a:ext cx="1197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接入眼镜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7047" y="1955800"/>
              <a:ext cx="164655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App：六周 1000 万设置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日活；眼镜端尚未铺开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7238" y="22860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公司口径；不等于眼镜销量或留存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2" name="stack-and-open-source"/>
          <p:cNvGrpSpPr/>
          <p:nvPr/>
        </p:nvGrpSpPr>
        <p:grpSpPr>
          <a:xfrm>
            <a:off x="565785" y="1270000"/>
            <a:ext cx="11019790" cy="4647502"/>
            <a:chOff x="565785" y="1270000"/>
            <a:chExt cx="11019790" cy="46475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05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0513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闭源全栈对照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5166" y="4311650"/>
              <a:ext cx="3040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Muse：Secure VM＋记忆＋权限＋支付＋审计。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5166" y="45974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开源尚无同任务总成本证据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48450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延迟、并发、断线恢复和现场支持都要算。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5166" y="513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5378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先用托管建立体验基线，再比较自建的隐私与定制收益。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3261" y="56388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136453" cy="4799457"/>
            <a:chOff x="563118" y="1270000"/>
            <a:chExt cx="11136453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529" y="1714500"/>
              <a:ext cx="128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/ Ray-Ban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862" y="1955800"/>
              <a:ext cx="140398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六周 1000 万设置，</a:t>
              </a:r>
              <a:b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日活；购物客单 $200+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862" y="2381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公司自报；眼镜端尚未铺开。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529" y="3105150"/>
              <a:ext cx="1168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Network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7672" y="3409950"/>
              <a:ext cx="21318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协作、商家交易仍在路线图。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576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缺互操作、责任和费率验证。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免费入口 / 订阅 / 交易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410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Muse：免费＋商家交易费＋高阶订阅；夸克/拍立淘走交易生态。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821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后台执行把“回答错误”升级为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248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“真实行动错误”，治理价值上升。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Agent 交易与协议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身份、权限、比价、下单、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退款与跨 Agent 协商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客户：电商/平台；风险：错买、责任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3087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分：从高信任任务切入，把执行、审计、接管和付费做成闭环。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737" y="3981450"/>
              <a:ext cx="26106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单体 Agent → 垂直闭环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666" y="4044950"/>
              <a:ext cx="259765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Network、Personal Agent Protocol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＋无障碍、现场作业、座舱工作流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666" y="40449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权限、责任、互操作、费率与复购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能否形成可信网络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9" name="date-ledger"/>
          <p:cNvGrpSpPr/>
          <p:nvPr/>
        </p:nvGrpSpPr>
        <p:grpSpPr>
          <a:xfrm>
            <a:off x="490347" y="1263650"/>
            <a:ext cx="11130153" cy="4719193"/>
            <a:chOff x="490347" y="1263650"/>
            <a:chExt cx="11130153" cy="4719193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6738" y="48006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2026.09.08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62088" y="4800600"/>
              <a:ext cx="947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在美区上线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233988" y="48133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738" y="50673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2026.09.23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62088" y="5067300"/>
              <a:ext cx="2080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Audio / Muse眼镜计划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33988" y="50800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6738" y="53340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2026.10.21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462088" y="5334000"/>
              <a:ext cx="1532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Q3：1000万设置 / 25%日活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33988" y="53467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财报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90347" y="5791200"/>
              <a:ext cx="57369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小艺、Meta Display、夸克为不同日期；Muse 指标为公司财报口径，完整链接见 P21。</a:t>
              </a:r>
            </a:p>
          </p:txBody>
        </p:sp>
      </p:grpSp>
      <p:grpSp>
        <p:nvGrpSpPr>
          <p:cNvPr id="10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100" name="TextBox 100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54" name="source-coverage"/>
          <p:cNvGrpSpPr/>
          <p:nvPr/>
        </p:nvGrpSpPr>
        <p:grpSpPr>
          <a:xfrm>
            <a:off x="563499" y="1263650"/>
            <a:ext cx="11057001" cy="4480941"/>
            <a:chOff x="563499" y="1263650"/>
            <a:chExt cx="11057001" cy="44809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>
              <a:hlinkClick r:id="rId11"/>
            </p:cNvPr>
            <p:cNvSpPr txBox="1"/>
            <p:nvPr/>
          </p:nvSpPr>
          <p:spPr>
            <a:xfrm>
              <a:off x="566547" y="4057650"/>
              <a:ext cx="11404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Muse 2026</a:t>
              </a:r>
            </a:p>
          </p:txBody>
        </p:sp>
        <p:sp>
          <p:nvSpPr>
            <p:cNvPr id="20" name="TextBox 20">
              <a:hlinkClick r:id="rId12"/>
            </p:cNvPr>
            <p:cNvSpPr txBox="1"/>
            <p:nvPr/>
          </p:nvSpPr>
          <p:spPr>
            <a:xfrm>
              <a:off x="566547" y="4286250"/>
              <a:ext cx="14994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Audio / 眼镜路线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8" name="TextBox 28">
              <a:hlinkClick r:id="rId19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9" name="TextBox 29">
              <a:hlinkClick r:id="rId20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30" name="TextBox 30">
              <a:hlinkClick r:id="rId21"/>
            </p:cNvPr>
            <p:cNvSpPr txBox="1"/>
            <p:nvPr/>
          </p:nvSpPr>
          <p:spPr>
            <a:xfrm>
              <a:off x="4281297" y="3829050"/>
              <a:ext cx="1712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华尔街见闻 · Muse 投资视角</a:t>
              </a:r>
            </a:p>
          </p:txBody>
        </p:sp>
        <p:sp>
          <p:nvSpPr>
            <p:cNvPr id="31" name="TextBox 31">
              <a:hlinkClick r:id="rId22"/>
            </p:cNvPr>
            <p:cNvSpPr txBox="1"/>
            <p:nvPr/>
          </p:nvSpPr>
          <p:spPr>
            <a:xfrm>
              <a:off x="4281297" y="4057650"/>
              <a:ext cx="12496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Meta Q3 财报电话会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81488" y="4286250"/>
              <a:ext cx="18935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1297" y="3790950"/>
              <a:ext cx="6530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增补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4297" y="3790950"/>
              <a:ext cx="10971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 / 11 / 16–20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1488" y="4038600"/>
              <a:ext cx="2162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后台执行·Secure VM·交易·Agent 网络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096250" y="42672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1488" y="43434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71500" y="4610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166" y="4768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18666" y="4768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设置/活跃口径 · 交易费率与人工成本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166" y="5054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8666" y="505460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优先相信同任务、同用户、同指标下的结果；厂商与媒体都只能证明各自层级。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3499" y="5435600"/>
              <a:ext cx="66097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最终结论：Agent 的竞争已进入上下文、执行、信任和交易闭环。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2026-10-29T09:35:21Z</dcterms:created>
  <dcterms:modified xsi:type="dcterms:W3CDTF">2026-10-29T09:35:21Z</dcterms:modified>
  <cp:category/>
  <cp:contentStatus/>
</cp:coreProperties>
</file>