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competitor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competitor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apple.com/newsroom/2011/10/04Apple-Launches-iPhone-4S-iOS-5-iCloud/" TargetMode="External"/>
  <Relationship Id="rId3" Type="http://schemas.openxmlformats.org/officeDocument/2006/relationships/hyperlink" Target="https://www.amazon.science/blog/alexa-at-five-looking-back-looking-forward" TargetMode="External"/>
  <Relationship Id="rId4" Type="http://schemas.openxmlformats.org/officeDocument/2006/relationships/hyperlink" Target="https://blog.google/products-and-platforms/products/assistant/io-building-next-evolution-of-google/" TargetMode="External"/>
  <Relationship Id="rId5" Type="http://schemas.openxmlformats.org/officeDocument/2006/relationships/hyperlink" Target="https://blog.google/products-and-platforms/devices/google-lens/google-lens-real-time-answers-questions-about-world-around-you/" TargetMode="External"/>
  <Relationship Id="rId6" Type="http://schemas.openxmlformats.org/officeDocument/2006/relationships/hyperlink" Target="https://www.amazon.science/blog/how-voice-and-graphics-working-together-enhance-the-alexa-experience" TargetMode="External"/>
  <Relationship Id="rId7" Type="http://schemas.openxmlformats.org/officeDocument/2006/relationships/hyperlink" Target="https://openai.com/index/clip/" TargetMode="External"/>
  <Relationship Id="rId8" Type="http://schemas.openxmlformats.org/officeDocument/2006/relationships/hyperlink" Target="https://deepmind.google/blog/tackling-multiple-tasks-with-a-single-visual-language-model/" TargetMode="External"/>
  <Relationship Id="rId9" Type="http://schemas.openxmlformats.org/officeDocument/2006/relationships/hyperlink" Target="https://openai.com/index/gpt-4v-system-card/" TargetMode="External"/>
  <Relationship Id="rId10" Type="http://schemas.openxmlformats.org/officeDocument/2006/relationships/hyperlink" Target="https://blog.google/innovation-and-ai/technology/ai/google-gemini-ai/" TargetMode="External"/>
  <Relationship Id="rId11" Type="http://schemas.openxmlformats.org/officeDocument/2006/relationships/hyperlink" Target="https://about.fb.com/news/2026/09/introducing-muse-personal-ai-agent/" TargetMode="External"/>
  <Relationship Id="rId12" Type="http://schemas.openxmlformats.org/officeDocument/2006/relationships/hyperlink" Target="https://about.fb.com/news/2026/09/introducing-ray-ban-meta-audio-glasses-new-styles-plus-muse/" TargetMode="External"/>
  <Relationship Id="rId13" Type="http://schemas.openxmlformats.org/officeDocument/2006/relationships/hyperlink" Target="https://www.theinformation.com/briefings/metas-ray-ban-glasses-fall-flat-with-customers" TargetMode="External"/>
  <Relationship Id="rId14" Type="http://schemas.openxmlformats.org/officeDocument/2006/relationships/hyperlink" Target="https://www.theverge.com/news/614883/humane-ai-hp-acquisition-pin-shutdown" TargetMode="External"/>
  <Relationship Id="rId15" Type="http://schemas.openxmlformats.org/officeDocument/2006/relationships/hyperlink" Target="https://www.wired.com/review/rabbit-r1/" TargetMode="External"/>
  <Relationship Id="rId16" Type="http://schemas.openxmlformats.org/officeDocument/2006/relationships/hyperlink" Target="https://www.androidauthority.com/ray-ban-meta-smart-glasses-3462348/" TargetMode="External"/>
  <Relationship Id="rId17" Type="http://schemas.openxmlformats.org/officeDocument/2006/relationships/hyperlink" Target="https://www.theguardian.com/technology/2026/aug/06/meta-ai-smart-glasses-privacy" TargetMode="External"/>
  <Relationship Id="rId18" Type="http://schemas.openxmlformats.org/officeDocument/2006/relationships/hyperlink" Target="https://www.bemyeyes.com/news/announcing-be-my-ai-soon-available-for-hundreds-of-thousands-of-be-my-eyes-users/" TargetMode="External"/>
  <Relationship Id="rId19" Type="http://schemas.openxmlformats.org/officeDocument/2006/relationships/hyperlink" Target="https://www.10100.com/article/107889453" TargetMode="External"/>
  <Relationship Id="rId20" Type="http://schemas.openxmlformats.org/officeDocument/2006/relationships/hyperlink" Target="https://seed.bytedance.com/zh/blog/seedrealtime-audio-visual-full-duplex-llm-released-toward-omni-modal-natural-interaction" TargetMode="External"/>
  <Relationship Id="rId21" Type="http://schemas.openxmlformats.org/officeDocument/2006/relationships/hyperlink" Target="https://wallstreetcn.com/articles/3782418" TargetMode="External"/>
  <Relationship Id="rId22" Type="http://schemas.openxmlformats.org/officeDocument/2006/relationships/hyperlink" Target="https://www.fool.com/earnings/call-transcripts/2026/10/21/meta-meta-q3-2026-earnings-call-transcript/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457200" y="400050"/>
            <a:ext cx="76200" cy="6057900"/>
          </a:xfrm>
          <a:prstGeom prst="rect">
            <a:avLst/>
          </a:prstGeom>
          <a:solidFill>
            <a:srgbClr val="C14E2C"/>
          </a:solidFill>
          <a:ln>
            <a:noFill/>
          </a:ln>
        </p:spPr>
      </p:sp>
      <p:grpSp>
        <p:nvGrpSpPr>
          <p:cNvPr id="9" name="cover-title"/>
          <p:cNvGrpSpPr/>
          <p:nvPr/>
        </p:nvGrpSpPr>
        <p:grpSpPr>
          <a:xfrm>
            <a:off x="781050" y="692150"/>
            <a:ext cx="5314950" cy="3181096"/>
            <a:chOff x="781050" y="692150"/>
            <a:chExt cx="5314950" cy="3181096"/>
          </a:xfrm>
        </p:grpSpPr>
        <p:sp>
          <p:nvSpPr>
            <p:cNvPr id="3" name="TextBox 3"/>
            <p:cNvSpPr txBox="1"/>
            <p:nvPr/>
          </p:nvSpPr>
          <p:spPr>
            <a:xfrm>
              <a:off x="794766" y="692150"/>
              <a:ext cx="2766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INTERNAL RESEARCH / V2 /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1050" y="1187450"/>
              <a:ext cx="3124200" cy="1343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</a:t>
              </a:r>
              <a:b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竞品发展脉络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800100" y="23622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248920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不是摄像头助手史，而是感知、对话、</a:t>
              </a:r>
              <a:b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行动和载体逐步汇合的历史。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4385" y="32131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内部研究版：更密的产品覆盖、可核验年份、市场反响与证据边界。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4004" y="3638550"/>
              <a:ext cx="4908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核心问题不是“能不能多模态”，而是“能不能在真实任务里帮上忙”。</a:t>
              </a:r>
            </a:p>
          </p:txBody>
        </p:sp>
      </p:grpSp>
      <p:grpSp>
        <p:nvGrpSpPr>
          <p:cNvPr id="27" name="cover-tracks"/>
          <p:cNvGrpSpPr/>
          <p:nvPr/>
        </p:nvGrpSpPr>
        <p:grpSpPr>
          <a:xfrm>
            <a:off x="6657975" y="939800"/>
            <a:ext cx="4676775" cy="4701159"/>
            <a:chOff x="6657975" y="939800"/>
            <a:chExt cx="4676775" cy="4701159"/>
          </a:xfrm>
        </p:grpSpPr>
        <p:sp>
          <p:nvSpPr>
            <p:cNvPr id="10" name="TextBox 10"/>
            <p:cNvSpPr txBox="1"/>
            <p:nvPr/>
          </p:nvSpPr>
          <p:spPr>
            <a:xfrm>
              <a:off x="6662166" y="93980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五条并行主线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667500" y="12001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7975" y="139700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语音助手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0654" y="1466850"/>
              <a:ext cx="2980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Siri · Alexa · Google Assistant · Bixby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7975" y="1987550"/>
              <a:ext cx="21583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视觉搜索与无障碍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2154" y="2057400"/>
              <a:ext cx="2090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· Seeing AI · Be My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7975" y="257810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语音加屏幕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0654" y="2647950"/>
              <a:ext cx="2551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Smart Display · Echo Show · APL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7975" y="316865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80654" y="3238500"/>
              <a:ext cx="263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CLIP · Flamingo · GPT-4V · Gemini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7975" y="3759200"/>
              <a:ext cx="189092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实时与主动交互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1797" y="3867150"/>
              <a:ext cx="2899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GPT-4o · Muse · SeedRealtime · Guided Vision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667500" y="43434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61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785" y="4794250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输入是否自然 · 上下文是否连续 · 结果是否可验证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785" y="5060950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失败能否纠正 · 设备与商业模式是否可持续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166" y="5435600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厂商“能做什么” ≠ 用户“会持续使用” ≠ 企业“愿意付费”</a:t>
              </a:r>
            </a:p>
          </p:txBody>
        </p:sp>
      </p:grpSp>
      <p:grpSp>
        <p:nvGrpSpPr>
          <p:cNvPr id="30" name="cover-footer"/>
          <p:cNvGrpSpPr/>
          <p:nvPr/>
        </p:nvGrpSpPr>
        <p:grpSpPr>
          <a:xfrm>
            <a:off x="795338" y="6267450"/>
            <a:ext cx="10544174" cy="176212"/>
            <a:chOff x="795338" y="6267450"/>
            <a:chExt cx="1054417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795338" y="6267450"/>
              <a:ext cx="3121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资料：Research 多模态交互三份洞察 · 截至 2026-10-29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24108" y="626745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定义与总判断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多模态交互不是多一种输入，而是把五层能力连成闭环</a:t>
              </a:r>
            </a:p>
          </p:txBody>
        </p:sp>
      </p:grpSp>
      <p:grpSp>
        <p:nvGrpSpPr>
          <p:cNvPr id="27" name="five-layers"/>
          <p:cNvGrpSpPr/>
          <p:nvPr/>
        </p:nvGrpSpPr>
        <p:grpSpPr>
          <a:xfrm>
            <a:off x="565785" y="1250950"/>
            <a:ext cx="7092315" cy="4753928"/>
            <a:chOff x="565785" y="1250950"/>
            <a:chExt cx="7092315" cy="47539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50950"/>
              <a:ext cx="846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五层能力栈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430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5706" y="15875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01 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404" y="16573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看见、听见、触摸、指向、感知空间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166" y="1949450"/>
              <a:ext cx="3288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 · 图像 · 视频 · 屏幕 · 文档 · ToF/IR · 多音区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812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5706" y="2425700"/>
              <a:ext cx="11627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02 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404" y="24955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把画面、对话、账号和系统数据接在一起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166" y="2787650"/>
              <a:ext cx="3706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多轮指代 · 屏幕内容 · 工作数据 · 位置/日历 · 跨设备记忆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2194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706" y="32639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03 时序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404" y="33337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一次识别、连续视频、打断接话与全双工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166" y="3625850"/>
              <a:ext cx="320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延迟 · 打断 · 镜头纠正 · 主动提醒 · 误触发与沉默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40576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706" y="41021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04 行动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404" y="41719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从给答案走向指导、调用工具、完成任务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166" y="4464050"/>
              <a:ext cx="3728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回答 · 高亮 · 镜头引导 · 系统操作 · 人工接管 · 校验/撤销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8958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5706" y="49403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05 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404" y="501015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手机、电脑、眼镜、电视、汽车和家庭设备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166" y="5302250"/>
              <a:ext cx="3509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 · 权限 · 传感器 · 生态 · 旁观者隐私 · 分发与付费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784850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后续所有竞品都按这五层比较，而不是简单排成“谁最强”。</a:t>
              </a:r>
            </a:p>
          </p:txBody>
        </p:sp>
      </p:grpSp>
      <p:grpSp>
        <p:nvGrpSpPr>
          <p:cNvPr id="41" name="thesis"/>
          <p:cNvGrpSpPr/>
          <p:nvPr/>
        </p:nvGrpSpPr>
        <p:grpSpPr>
          <a:xfrm>
            <a:off x="8143494" y="1263650"/>
            <a:ext cx="3286506" cy="4775200"/>
            <a:chOff x="8143494" y="1263650"/>
            <a:chExt cx="3286506" cy="4775200"/>
          </a:xfrm>
        </p:grpSpPr>
        <p:sp>
          <p:nvSpPr>
            <p:cNvPr id="28" name="TextBox 28"/>
            <p:cNvSpPr txBox="1"/>
            <p:nvPr/>
          </p:nvSpPr>
          <p:spPr>
            <a:xfrm>
              <a:off x="8148066" y="12636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全片总判断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3494" y="1441450"/>
              <a:ext cx="2325434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竞争已经</a:t>
              </a:r>
              <a:b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从“看见”转向“帮到”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153400" y="22098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46923" y="23241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已经发生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7685" y="2495550"/>
              <a:ext cx="228727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手机、眼镜、汽车和家庭终端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都能持续获取现场信息；语音、视觉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和屏幕开始进入同一个会话。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6923" y="32385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尚未证明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7685" y="3454400"/>
              <a:ext cx="2571750" cy="75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独立任务成功率、端到端时延、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纠错后恢复、长期留存和人工接管成本，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以及 AI 视觉的单独付费意愿。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47675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因此，三个问题决定产品价值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47685" y="4775200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1　任务是否必须同时用到多种输入？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7685" y="5022850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　系统能否发现失败并帮助恢复？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7685" y="5270500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3　谁愿意为结果，而不是为“多模态”付费？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53400" y="5638800"/>
              <a:ext cx="3276600" cy="400050"/>
            </a:xfrm>
            <a:prstGeom prst="rect">
              <a:avLst/>
            </a:prstGeom>
            <a:solidFill>
              <a:srgbClr val="1F5A49">
                <a:alpha val="9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00085" y="57467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结论：技术供给在加速，价值证据仍稀缺。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3765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综合三份洞察报告；五层框架是本次汇报的整理，不是厂商官方分类。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2011–2017 · 入口形成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语音入口和视觉入口分别成立，但还没有真正融合</a:t>
              </a:r>
            </a:p>
          </p:txBody>
        </p:sp>
      </p:grpSp>
      <p:grpSp>
        <p:nvGrpSpPr>
          <p:cNvPr id="43" name="entry-tracks"/>
          <p:cNvGrpSpPr/>
          <p:nvPr/>
        </p:nvGrpSpPr>
        <p:grpSpPr>
          <a:xfrm>
            <a:off x="565404" y="1270000"/>
            <a:ext cx="11055096" cy="4456557"/>
            <a:chOff x="565404" y="1270000"/>
            <a:chExt cx="11055096" cy="44565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66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两条路线同时前进；它们解决的是“怎么问”，还不是“怎么把任务做完”。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19150" y="21336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5255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015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57396" y="2254250"/>
              <a:ext cx="342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801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语音助手进入手机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24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31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4690" y="2254250"/>
              <a:ext cx="1171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9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免手语音进入家庭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591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8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6779" y="2254250"/>
              <a:ext cx="1561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6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跨手机与家庭设备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639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46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412" y="2254250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755" y="2520950"/>
              <a:ext cx="1249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语音连接手机与 IoT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19150" y="35242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9580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8096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9611" y="3644900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4194" y="39116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相机“看见”并搜索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485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37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8656" y="3644900"/>
              <a:ext cx="832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4688" y="3911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摄像头朗读世界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3060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912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3984" y="3644900"/>
              <a:ext cx="1036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Voice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0161" y="3911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语音开始控制系统任务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45339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这个阶段的真实结果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404" y="48577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语音解决了免手提问，视觉解决了拍完再搜；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5404" y="5124450"/>
              <a:ext cx="5213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两者尚未共享连续上下文，也还没有“发现失败—纠正—完成任务”的闭环。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8154" y="4857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被验证的价值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8154" y="5124450"/>
              <a:ext cx="3315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免手操作 · 快速识物 · 无障碍朗读 · 设备控制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5868" y="5403850"/>
              <a:ext cx="330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分：入口先赢，闭环尚未出现。</a:t>
              </a:r>
            </a:p>
          </p:txBody>
        </p:sp>
      </p:grpSp>
      <p:grpSp>
        <p:nvGrpSpPr>
          <p:cNvPr id="46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4" name="TextBox 44"/>
            <p:cNvSpPr txBox="1"/>
            <p:nvPr/>
          </p:nvSpPr>
          <p:spPr>
            <a:xfrm>
              <a:off x="566738" y="6286500"/>
              <a:ext cx="49213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来源：Apple 2011；Amazon 2014；Google 2016/2017；Samsung 2017；Microsoft 2017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70321" cy="659892"/>
            <a:chOff x="559308" y="273050"/>
            <a:chExt cx="827032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2018–2019 · 实时叠加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703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实时取景与“语音＋屏幕”，把多模态推进到边看边操作</a:t>
              </a:r>
            </a:p>
          </p:txBody>
        </p:sp>
      </p:grpSp>
      <p:grpSp>
        <p:nvGrpSpPr>
          <p:cNvPr id="28" name="integration-2018-19"/>
          <p:cNvGrpSpPr/>
          <p:nvPr/>
        </p:nvGrpSpPr>
        <p:grpSpPr>
          <a:xfrm>
            <a:off x="563118" y="1270000"/>
            <a:ext cx="11057382" cy="4399407"/>
            <a:chOff x="563118" y="1270000"/>
            <a:chExt cx="11057382" cy="43994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所谓“2017–2021 断档”，其实是被忽略的多轨整合期。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192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3806" y="16446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2018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33550"/>
              <a:ext cx="2219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进入手机相机并实时取景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3916" y="2006600"/>
              <a:ext cx="4615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Live viewfinder、智能文字选择；视觉搜索从“拍完再搜”变成持续取景。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89904" y="1733550"/>
              <a:ext cx="294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Smart Display 上市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20066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语音结果可以同时显示在地图、视频、相册和摄像头画面上。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3154" y="2362200"/>
              <a:ext cx="116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0666" y="23876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语音与屏幕图形开始被同一套多模态技能编排。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914650"/>
              <a:ext cx="11049000" cy="12192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3806" y="29781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2019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3154" y="3067050"/>
              <a:ext cx="2057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实时翻译叠加到原画面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3916" y="3340100"/>
              <a:ext cx="4646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可自动识别语言，在 100+ 语言上直接覆盖译文；相机开始承担即时任务。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9904" y="3067050"/>
              <a:ext cx="935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90666" y="3340100"/>
              <a:ext cx="4254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为 Echo Show、Fire TV 等设备提供图文、视频、动画和触控组合。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13154" y="3695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语音助手开始走向视觉化回答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0666" y="3721100"/>
              <a:ext cx="3297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但仍是“用户提问 → 屏幕展示”，执行闭环尚未形成。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真实进步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404" y="48196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连续取景、画面叠加、语音与屏幕同帧出现。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365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仍未解决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654" y="48196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跨应用行动、系统数据权限、错误发现和长期记忆。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5346700"/>
              <a:ext cx="6426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分：这两年不是空白，而是“看图”向“在画面上行动”的过渡。</a:t>
              </a:r>
            </a:p>
          </p:txBody>
        </p:sp>
      </p:grpSp>
      <p:grpSp>
        <p:nvGrpSpPr>
          <p:cNvPr id="3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566738" y="6286500"/>
              <a:ext cx="47902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Lens 2018/2019；Google Smart Display 2018；Amazon APL 2018/2019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2020–2021 · 从屏幕到第一视角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设备开始跟随人，第一视角试水，模型底座同步换代</a:t>
              </a:r>
            </a:p>
          </p:txBody>
        </p:sp>
      </p:grpSp>
      <p:grpSp>
        <p:nvGrpSpPr>
          <p:cNvPr id="39" name="period-2020-21"/>
          <p:cNvGrpSpPr/>
          <p:nvPr/>
        </p:nvGrpSpPr>
        <p:grpSpPr>
          <a:xfrm>
            <a:off x="563118" y="1270000"/>
            <a:ext cx="11057382" cy="4578350"/>
            <a:chOff x="563118" y="1270000"/>
            <a:chExt cx="11057382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05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2020–2021 同时出现“更自然的设备”和“更好的模型”，但产品价值仍然分裂。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66750" y="17716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81050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416" y="1930400"/>
              <a:ext cx="143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2020 · 屏幕与场景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7606" y="2139950"/>
              <a:ext cx="1802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Echo Show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5463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屏幕可跟随用户移动；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035" y="27940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语音、屏幕和位置感知进入家庭空间。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194050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035" y="34607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学习、购物、居家办公；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3708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视觉输入开始绑定具体任务。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反响判断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432300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设备更自然，但仍主要服务问答、内容和小任务。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0916" y="1930400"/>
              <a:ext cx="1597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 · 第一视角试水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7106" y="2139950"/>
              <a:ext cx="2204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Ray-Ban Stories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80535" y="2546350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摄像头+耳机+语音，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0535" y="27940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第一视角硬件进入日常眼镜。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80535" y="31940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使用结果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80535" y="3460750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万销量，但月活不足 10%。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8053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连接、续航、隐私和任务价值不足。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805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关键教训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0535" y="4432300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新硬件必须先通过“比手机更省事”的门槛。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5666" y="1930400"/>
              <a:ext cx="127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2021 · 模型底座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139950"/>
              <a:ext cx="65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CLIP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5285" y="254635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 4 亿图文对学习共同表示；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5285" y="27940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图像与文字第一次共享可检索语义空间。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285" y="31940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当时的产品含义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5285" y="34607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提升识别与零样本分类能力，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528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但还不是面向用户的实时交互系统。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528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后续影响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5285" y="4432300"/>
              <a:ext cx="3309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为 2022 Flamingo、2023 GPT-4V/Gemini 铺路。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5010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5200650"/>
              <a:ext cx="5045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看似没有“爆款”的两年，实际同时积累了设备、场景和模型三块拼图。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118" y="5518150"/>
              <a:ext cx="5300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分：2017–2021 是能力汇合期，不是时间线断档。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566738" y="6286500"/>
              <a:ext cx="4106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来源：Amazon 2020；Google 2020；Meta 2021；OpenAI 2021；WSJ 转引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827776" cy="659892"/>
            <a:chOff x="559308" y="273050"/>
            <a:chExt cx="582777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2022–2023 · 多模态模型产品化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视觉语言模型让图像成为可对话上下文</a:t>
              </a:r>
            </a:p>
          </p:txBody>
        </p:sp>
      </p:grpSp>
      <p:grpSp>
        <p:nvGrpSpPr>
          <p:cNvPr id="38" name="model-to-product"/>
          <p:cNvGrpSpPr/>
          <p:nvPr/>
        </p:nvGrpSpPr>
        <p:grpSpPr>
          <a:xfrm>
            <a:off x="565404" y="1270000"/>
            <a:ext cx="11055096" cy="4521200"/>
            <a:chOff x="565404" y="1270000"/>
            <a:chExt cx="11055096" cy="452120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2022 年先完成模型能力跃迁，2023 年才把它变成普通用户可调用的产品。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266950"/>
              <a:ext cx="10382250" cy="9525"/>
            </a:xfrm>
            <a:custGeom>
              <a:avLst/>
              <a:gdLst/>
              <a:ahLst/>
              <a:cxnLst/>
              <a:rect l="l" t="t" r="r" b="b"/>
              <a:pathLst>
                <a:path w="10382250" h="9525">
                  <a:moveTo>
                    <a:pt x="0" y="0"/>
                  </a:moveTo>
                  <a:lnTo>
                    <a:pt x="103822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335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8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653" y="2393950"/>
              <a:ext cx="1054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Flamingo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0140" y="2749550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图文/视频交错输入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5634" y="29781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少样本完成多种视觉语言任务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910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76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39779" y="2393950"/>
              <a:ext cx="1654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 测试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9426" y="2749550"/>
              <a:ext cx="1455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 驱动的视觉助手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3810" y="29781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无障碍场景先跑通多轮解释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485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3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2626" y="2393950"/>
              <a:ext cx="1004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80546" y="2749550"/>
              <a:ext cx="1888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ChatGPT 可看图、听声、说话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2661" y="29781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视觉成为通用会话输入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3060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91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42169" y="2393950"/>
              <a:ext cx="128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1.0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2188" y="27495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原生多模态模型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12195" y="2978150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文本/图像/音频/视频统一建模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3562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3733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体验发生了什么变化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404" y="4038600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从“识别一张图”变成“围绕图片连续问、补充背景、重新聚焦”；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5404" y="430530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从固定视觉任务变成自然语言定义的开放任务。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85154" y="3733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但还没有解决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5154" y="403860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实时视频、打断接话、动作执行、失败恢复和任务级验证；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85154" y="430530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厂商演示也尚未等于稳定用户体验。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838700"/>
              <a:ext cx="11049000" cy="9525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6854" y="49911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证据等级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3535" y="5003800"/>
              <a:ext cx="6124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Flamingo：研究发布 · GPT-4V/Gemini：官方能力发布 · Be My AI：真实用户反馈相对更强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4568" y="5251450"/>
              <a:ext cx="6103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分：2023 年解决了“能对话”，还没有解决“能持续协作”。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566738" y="6286500"/>
              <a:ext cx="3926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来源：DeepMind 2022；OpenAI 2023；Google 2023；Be My Eyes 2023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193280" cy="659892"/>
            <a:chOff x="559308" y="273050"/>
            <a:chExt cx="719328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081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 · 实时多模态进入平台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193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现场共享成为助手能力，但执行边界被明确划出</a:t>
              </a:r>
            </a:p>
          </p:txBody>
        </p:sp>
      </p:grpSp>
      <p:grpSp>
        <p:nvGrpSpPr>
          <p:cNvPr id="41" name="platform-six"/>
          <p:cNvGrpSpPr/>
          <p:nvPr/>
        </p:nvGrpSpPr>
        <p:grpSpPr>
          <a:xfrm>
            <a:off x="563118" y="1270000"/>
            <a:ext cx="11057382" cy="4589907"/>
            <a:chOff x="563118" y="1270000"/>
            <a:chExt cx="11057382" cy="45899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5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同一年的六个产品，分别回答“怎么实时看、谁有上下文、谁负责执行”。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957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3432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3638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118" y="1631950"/>
              <a:ext cx="960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1968500"/>
              <a:ext cx="1269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 · 2024.05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2415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语音、视频、文本低延迟互动；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4892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强调自然打断与实时对话。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8829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证据：官方发布；任务成功率待独立验证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0743" y="1631950"/>
              <a:ext cx="236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 / Astra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3791" y="1968500"/>
              <a:ext cx="1544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· 2024.05 演示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3410" y="22415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摄像头与屏幕共享；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3410" y="24892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围绕当前画面连续对话。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3791" y="2882900"/>
              <a:ext cx="2630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 2025 扩大上线；2026 Guided Vision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5493" y="1631950"/>
              <a:ext cx="292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8541" y="1968500"/>
              <a:ext cx="113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 · 2024.12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8160" y="2241550"/>
              <a:ext cx="1634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触发；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8160" y="2489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地点、翻译、识物、视觉搜索。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8541" y="28829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更偏单次工具，持续协作较少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3118" y="3727450"/>
              <a:ext cx="1658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166" y="4064000"/>
              <a:ext cx="1489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 · 2024.12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4337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屏幕/摄像头＋工作数据；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785" y="45847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可高亮，但不代替点击和输入。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166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价值：上下文最强；边界：行动不闭合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20743" y="3727450"/>
              <a:ext cx="1703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Humane AI Pin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3791" y="4064000"/>
              <a:ext cx="1978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2024.04 上市 · 2025.02 停服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3410" y="4337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激光投影、语音与摄像头；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3410" y="45847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试图替代手机，但可靠性差。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3791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独立评测差；高价和依赖云端放大风险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5493" y="3727450"/>
              <a:ext cx="1180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Rabbit R1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8541" y="4064000"/>
              <a:ext cx="991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CES 2024 发布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8160" y="4337050"/>
              <a:ext cx="2168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语音与“Large Action Model”；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8160" y="4584700"/>
              <a:ext cx="231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承诺跨 App 行动，初期交付有限。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8541" y="4978400"/>
              <a:ext cx="2967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回应：Bug、延迟；后被指核心为 Android 应用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" y="5410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3118" y="5537200"/>
              <a:ext cx="77626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分：平台助手证明实时上下文可行；专用 AI 硬件证明“新入口”不是价值。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4250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来源：OpenAI；Google；Apple；Microsoft；The Verge / WIRED 等独立评测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786909" cy="659892"/>
            <a:chOff x="559308" y="273050"/>
            <a:chExt cx="878690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2025–2026 · 设备化与主动交互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7869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多模态进入终端，竞争焦点转向全情境 Agent 与行动网络</a:t>
              </a:r>
            </a:p>
          </p:txBody>
        </p:sp>
      </p:grpSp>
      <p:grpSp>
        <p:nvGrpSpPr>
          <p:cNvPr id="56" name="terminal-and-interaction"/>
          <p:cNvGrpSpPr/>
          <p:nvPr/>
        </p:nvGrpSpPr>
        <p:grpSpPr>
          <a:xfrm>
            <a:off x="563118" y="1270000"/>
            <a:ext cx="11057382" cy="4799457"/>
            <a:chOff x="563118" y="1270000"/>
            <a:chExt cx="11057382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016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终端路线决定“在哪里感知”，Muse 进一步把入口推进为跨 App、可持续执行的个人代理。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166" y="1625600"/>
              <a:ext cx="16030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终端与 Agent 时间线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81050" y="2457450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266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3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2718" y="2603500"/>
              <a:ext cx="120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铺开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524" y="2838450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摄像头/屏幕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552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69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36849" y="2603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小艺看世界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11842" y="28384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实时＋指向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838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12729" y="2152650"/>
              <a:ext cx="7855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2025.09 / 11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2834" y="2603500"/>
              <a:ext cx="1265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Display / 夸克 S1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70627" y="2838450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近眼/导航/支付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124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41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2394" y="2603500"/>
              <a:ext cx="1018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3264" y="28384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全双工音视频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0391775" y="2371725"/>
              <a:ext cx="171450" cy="1714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7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36028" y="2603500"/>
              <a:ext cx="882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Muse + 眼镜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82985" y="2838450"/>
              <a:ext cx="989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全情境个人 Agent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257550"/>
              <a:ext cx="11049000" cy="1657350"/>
            </a:xfrm>
            <a:prstGeom prst="rect">
              <a:avLst/>
            </a:prstGeom>
            <a:solidFill>
              <a:srgbClr val="C14E2C">
                <a:alpha val="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7616" y="3397250"/>
              <a:ext cx="2541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Meta Muse：2026 年的关键跃迁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6385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从问答到后台执行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188" y="390525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计划、浏览器、跨应用、多步任务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188" y="4095750"/>
              <a:ext cx="18623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关闭 App 后继续；敏感动作先确认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4286250"/>
              <a:ext cx="19397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Secure VM、Sentinel、权限与审计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4552950"/>
              <a:ext cx="1963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Reuters：human concierge 测试中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79723" y="36385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公司自报早期信号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81438" y="3905250"/>
              <a:ext cx="18208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美加六周 1000 万设置；25% 日活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81438" y="4095750"/>
              <a:ext cx="18571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购物最常见，平均客单超 200 美元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81438" y="4286250"/>
              <a:ext cx="14815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设置量 ≠ 下载、月活或留存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81438" y="455295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缺独立审计与交易结果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5773" y="3638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设备分层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7488" y="3905250"/>
              <a:ext cx="21635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Audio：无摄像头、43g、12h、349 美元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7488" y="4095750"/>
              <a:ext cx="19077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Gen 3：保留 12MP 相机、449 美元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7488" y="4286250"/>
              <a:ext cx="18390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隐私/价格/续航与视觉能力被分层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7488" y="4552950"/>
              <a:ext cx="14685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眼镜端 Muse 尚未全量上线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8523" y="3638550"/>
              <a:ext cx="16049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下一步：Agent 网络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20238" y="3905250"/>
              <a:ext cx="1482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Network / Personal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20238" y="4095750"/>
              <a:ext cx="889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Agent Protocol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20238" y="4286250"/>
              <a:ext cx="1510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亲友与商家 Agent 协商交易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20238" y="455295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路线图，不是已交付能力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578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已经看到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5785" y="55372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更低延迟、全双工、镜头纠错、主动提醒、后台执行和商业化入口。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8553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仍未公开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85535" y="5537200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独立成功率、误打扰、人工接管率、隐私成本、交易费率与复购。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3118" y="5746750"/>
              <a:ext cx="8101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分：2026 的分水岭不是“看见”，而是持续上下文、后台执行与 Agent 协作。</a:t>
              </a:r>
            </a:p>
          </p:txBody>
        </p:sp>
      </p:grpSp>
      <p:grpSp>
        <p:nvGrpSpPr>
          <p:cNvPr id="5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7" name="TextBox 57"/>
            <p:cNvSpPr txBox="1"/>
            <p:nvPr/>
          </p:nvSpPr>
          <p:spPr>
            <a:xfrm>
              <a:off x="566738" y="6286500"/>
              <a:ext cx="46546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来源：Google；华为；Meta；夸克；字节 Seed；Snap；独立实测（日期口径见 P20）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169152" cy="659892"/>
            <a:chOff x="559308" y="273050"/>
            <a:chExt cx="616915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竞品全景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169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五类玩家构成多模态交互的真实竞争地图</a:t>
              </a:r>
            </a:p>
          </p:txBody>
        </p:sp>
      </p:grpSp>
      <p:grpSp>
        <p:nvGrpSpPr>
          <p:cNvPr id="68" name="five-category-map"/>
          <p:cNvGrpSpPr/>
          <p:nvPr/>
        </p:nvGrpSpPr>
        <p:grpSpPr>
          <a:xfrm>
            <a:off x="565404" y="1270000"/>
            <a:ext cx="11122020" cy="4525328"/>
            <a:chOff x="565404" y="1270000"/>
            <a:chExt cx="11122020" cy="45253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210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同一列表中不可直接排名：系统助手的终端入口、硬件的传感器、基础设施的 API 是不同层。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6479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9532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059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166" y="1720850"/>
              <a:ext cx="1246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系统 / App 助手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2038350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279650"/>
              <a:ext cx="1745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ChatGPT / SeedRealtime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2508250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小艺 / 超级小爱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2736850"/>
              <a:ext cx="1076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/ Bixby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2965450"/>
              <a:ext cx="175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Apple Visual Intelligence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1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54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入口、系统权限和数据；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5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账号与连续对话。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1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独立任务成功率与付费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950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 / 穿戴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4254" y="2038350"/>
              <a:ext cx="1142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94635" y="2279650"/>
              <a:ext cx="933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Meta Display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4635" y="2508250"/>
              <a:ext cx="1757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Android XR / Snap Specs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94635" y="2736850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华为眼镜 / 小米 / 夸克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4635" y="2965450"/>
              <a:ext cx="1853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Glass / Stories / Pin / R1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50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3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第一视角、免手、显示；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53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佩戴舒适度与生态。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0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5016" y="43116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留存、日常频次、隐私接受度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电视 / 家庭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6904" y="2038350"/>
              <a:ext cx="1441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Samsung Vision 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47285" y="2279650"/>
              <a:ext cx="1371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海信星海+DeepSeek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472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小度超能小度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7666" y="29781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48047" y="32004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内容问答、点选搜索、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8047" y="33909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看护与陪伴。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7666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8047" y="38481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多数任务手机可替代；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8047" y="4038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摄像头隐私敏感。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76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多数只有厂商功能材料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03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 / 空间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9554" y="2038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理想同学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9935" y="2279650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蔚来 NOMI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00316" y="2749550"/>
              <a:ext cx="1776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多音区麦克风 + 3D ToF + IR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00316" y="29781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判断谁、坐哪、指向哪、需要什么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03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06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手机没有的空间、位置；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06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车身上下文更完整。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03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00316" y="4311650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车规、安全、隐私与 OEM 绑定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52966" y="1720850"/>
              <a:ext cx="1350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基础设施 / 无障碍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2204" y="2038350"/>
              <a:ext cx="1616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2585" y="2279650"/>
              <a:ext cx="241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vivo 看见 / Be My Eyes Workplace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2585" y="2508250"/>
              <a:ext cx="1470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 / 拍立淘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52585" y="2736850"/>
              <a:ext cx="2434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Vision-Agents / LiveKit / Pipecat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52585" y="2965450"/>
              <a:ext cx="136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Dograh / VLX-Flow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529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3347" y="3638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模型、传输、编排、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533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检索与垂直服务。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529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53347" y="4286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总成本、延迟、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53347" y="44767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生产案例与付费。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5404" y="5276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比较原则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5785" y="5575300"/>
              <a:ext cx="8228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同层比较；记录输入、上下文、行动、载体、商业模式与证据强度。仓库 star、功能上线和厂商演示都不能代替真实采用。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566738" y="6286500"/>
              <a:ext cx="32565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来源：2026-10-28 全球竞品报告及产品层、开源产品化报告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510528" cy="659892"/>
            <a:chOff x="559308" y="273050"/>
            <a:chExt cx="651052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238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系统与 App 助手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510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强在入口和上下文权限，弱在独立任务证据</a:t>
              </a:r>
            </a:p>
          </p:txBody>
        </p:sp>
      </p:grpSp>
      <p:grpSp>
        <p:nvGrpSpPr>
          <p:cNvPr id="54" name="assistant-matrix"/>
          <p:cNvGrpSpPr/>
          <p:nvPr/>
        </p:nvGrpSpPr>
        <p:grpSpPr>
          <a:xfrm>
            <a:off x="563118" y="1270000"/>
            <a:ext cx="11121466" cy="4666107"/>
            <a:chOff x="563118" y="1270000"/>
            <a:chExt cx="11121466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00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同样是“看见并回答”，系统权限和行动边界决定它们其实不是同一类产品。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6AEA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1047" y="1733550"/>
              <a:ext cx="696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输入 / 交互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5754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上下文 / 行动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5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91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1993900"/>
              <a:ext cx="1117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06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语音＋摄像头／屏幕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7166" y="2044700"/>
              <a:ext cx="20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连续画面；2026 可主动纠正镜头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051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日常看、找物、读字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91547" y="2057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上线；独立指标少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42" y="2432050"/>
              <a:ext cx="885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ChatGPT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80666" y="24828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语音＋图像／实时视频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7166" y="248285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通用多轮；依赖用户提供上下文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5166" y="24828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通用探索、学习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91547" y="2495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功能强；任务证据少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2870200"/>
              <a:ext cx="1205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小艺 / 看世界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0666" y="29210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语音＋实时视频＋指向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7166" y="2921000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天气/日历/位置等系统服务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5166" y="29210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旅游、日常、无障碍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1547" y="2933700"/>
              <a:ext cx="14215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来源冲突：静态 vs 实时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3308350"/>
              <a:ext cx="2397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80666" y="3359150"/>
              <a:ext cx="1673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单次触发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7166" y="33591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地点、翻译、识物、搜索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5166" y="33591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快速识物、跨语言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1547" y="33718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工具化；持续协作少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642" y="3746500"/>
              <a:ext cx="135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0666" y="37973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语音＋桌面/手机画面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7166" y="3797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工作数据；高亮但不点击输入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5166" y="3797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知识工作、屏幕协作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91547" y="38100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上下文强；执行未闭合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4642" y="4184650"/>
              <a:ext cx="539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Bixby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80666" y="4235450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相机/相册/文档/圈屏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7166" y="42354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靠近系统任务；多设备生态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4235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手机内容理解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91547" y="4248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能力强弱依赖机型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4642" y="4622800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超级小爱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666" y="4673600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文字/语音/图片/文档/屏幕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57166" y="4673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陪伴、帮看、设备生态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5166" y="4673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家庭与个人助手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91547" y="4686300"/>
              <a:ext cx="10851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官方宣传 → 待实测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4642" y="5060950"/>
              <a:ext cx="132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SeedRealtime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80666" y="5111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连续音视频全双工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7166" y="51117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边看边听边说；持续判断接话时机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5166" y="5111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陪伴、实时指导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91547" y="51244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官方称量产；缺少独立测试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3118" y="5613400"/>
              <a:ext cx="7761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分：平台助手正在商品化；差异化落在系统权限、失败恢复和可验证任务。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来源：全球竞品报告；产品层报告；各厂商官方与第三方评测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眼镜与可穿戴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第一视角入口正在成立，但日常价值还没有统一答案</a:t>
              </a:r>
            </a:p>
          </p:txBody>
        </p:sp>
      </p:grpSp>
      <p:grpSp>
        <p:nvGrpSpPr>
          <p:cNvPr id="31" name="wearable-tiers"/>
          <p:cNvGrpSpPr/>
          <p:nvPr/>
        </p:nvGrpSpPr>
        <p:grpSpPr>
          <a:xfrm>
            <a:off x="563118" y="1270000"/>
            <a:ext cx="11057382" cy="4666107"/>
            <a:chOff x="563118" y="1270000"/>
            <a:chExt cx="11057382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成功与失败的关键不在是否“像眼镜”，而在能否借用熟悉形态完成明确任务。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1620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208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4273" y="1695450"/>
              <a:ext cx="27068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 / Display / Audio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5416" y="1968500"/>
              <a:ext cx="46146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摄像头版销量增长；Display 增加导航、字幕；Audio 是无摄像头新 SKU。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5416" y="2216150"/>
              <a:ext cx="4680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Audio：349 美元、43g、12h；摄像头版 Gen 3 仍保留 449 美元与 12MP。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75523" y="1695450"/>
              <a:ext cx="11976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接入眼镜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77047" y="1955800"/>
              <a:ext cx="1646555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App：六周 1000 万设置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25% 日活；眼镜端尚未铺开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77238" y="228600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公司口径；不等于眼镜销量或留存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876550"/>
              <a:ext cx="11049000" cy="116205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7616" y="30162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4273" y="2990850"/>
              <a:ext cx="21079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Android XR · Snap Specs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5035" y="3270250"/>
              <a:ext cx="5259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 第一视角共享；AR 主动提醒。能力有差异，上市范围与真实留存有限。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9023" y="2990850"/>
              <a:ext cx="14629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华为 / 小米 / 夸克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9785" y="3270250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实时画面、近眼导航、支付与购物生态；同时存在续航、显示和平台封闭限制。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416" y="36449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共同问题：缺少同任务、同网络条件下的长期使用对比。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4171950"/>
              <a:ext cx="11049000" cy="11620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616" y="43116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 / 反例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4273" y="4286250"/>
              <a:ext cx="10822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5035" y="4565650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高价、社交尴尬、隐私；消费版退场，企业版 2023 停售。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9023" y="4286250"/>
              <a:ext cx="14334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9785" y="4565650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万销量，月活不足 10%；功能价值弱于手机。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4273" y="4972050"/>
              <a:ext cx="2215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AI Pin · Rabbit R1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9785" y="4984750"/>
              <a:ext cx="4347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以新设备替代手机：Pin 不到一年停服；R1 初审 Bug/延迟严重。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3118" y="5613400"/>
              <a:ext cx="7895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分：眼镜成功的前提是“现有形态 + 明确任务 + 可控隐私”，不是更大屏幕。</a:t>
              </a:r>
            </a:p>
          </p:txBody>
        </p:sp>
      </p:grpSp>
      <p:grpSp>
        <p:nvGrpSpPr>
          <p:cNvPr id="3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286500"/>
              <a:ext cx="4461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来源：Meta/EssilorLuxottica；Google；The Information/WSJ 转引；独立评测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电视与家庭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家庭终端的优势是入口现成，风险是任务被手机替代</a:t>
              </a:r>
            </a:p>
          </p:txBody>
        </p:sp>
      </p:grpSp>
      <p:grpSp>
        <p:nvGrpSpPr>
          <p:cNvPr id="45" name="tv-home"/>
          <p:cNvGrpSpPr/>
          <p:nvPr/>
        </p:nvGrpSpPr>
        <p:grpSpPr>
          <a:xfrm>
            <a:off x="562356" y="1270000"/>
            <a:ext cx="11058144" cy="4647057"/>
            <a:chOff x="562356" y="1270000"/>
            <a:chExt cx="11058144" cy="46470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303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家庭场景真正可防御的是“大屏＋共享环境＋持续看护”，而不是重复手机问答。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19100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0575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2356" y="1644650"/>
              <a:ext cx="2377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Samsung Vision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025650"/>
              <a:ext cx="1824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 电视 · 已上线部分机型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7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问影片、画作、旅行建议；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8702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点选搜索；摄像头看护宠物和家庭。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围绕屏幕内容和客厅共享画面；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37465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电视已有大屏、联网和常开电源。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7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785" y="43751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内容问答可用遥控/手机；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46228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摄像头看护另有误报、隐私与安全责任。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1406" y="1644650"/>
              <a:ext cx="2544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海信星海＋DeepSeek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5216" y="20256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电视端模型接入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483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4835" y="26225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万物识别、场景画质、语音对话；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483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语言、视觉生成与多模态理解。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9483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483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模型直接提升画质和电视交互；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4835" y="37465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可直接捆绑硬件销售。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48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4835" y="43751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披露偏营销，具体交互与任务效果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835" y="46228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未给出；区域与机型覆盖不清。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6156" y="164465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小度超能小度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9966" y="202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家庭智能体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95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95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设备看见并理解家庭环境；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958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看护、陪伴、娱乐和设备协同。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95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9585" y="34988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把多模态放到家庭中枢，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9585" y="3746500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而不是单个 App。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95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09585" y="4375150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发布信息很宽；家庭摄像头/语音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9585" y="46228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涉及持续监听、隐私和长期留存。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06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2514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场景结论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13535" y="525145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内容发现适合电视；持续看护适合家庭设备；重复识物更容易被手机替代。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5943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分：家庭多模态需要独占场景，否则只是把手机能力搬到更大的屏幕。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4086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来源：Samsung 2025；海信公开材料；小度/新华网 2026；均为摘要级证据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汽车座舱与空间交互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汽车提供手机没有的空间信息：谁在说、坐哪里、指向什么</a:t>
              </a:r>
            </a:p>
          </p:txBody>
        </p:sp>
      </p:grpSp>
      <p:grpSp>
        <p:nvGrpSpPr>
          <p:cNvPr id="36" name="cabin-context"/>
          <p:cNvGrpSpPr/>
          <p:nvPr/>
        </p:nvGrpSpPr>
        <p:grpSpPr>
          <a:xfrm>
            <a:off x="561975" y="1270000"/>
            <a:ext cx="11058525" cy="4856607"/>
            <a:chOff x="561975" y="1270000"/>
            <a:chExt cx="11058525" cy="48566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座舱是多传感器融合最具体的消费场景，也是安全与隐私门槛最高的场景。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38300"/>
              <a:ext cx="11049000" cy="8953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18034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输入链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907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多音区麦克风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28416" y="18161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谁在说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6404" y="1790700"/>
              <a:ext cx="909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3D ToF / IR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18161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坐哪、指向哪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04404" y="1790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图像＋车身传感器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05416" y="1816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内外环境与服务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3916" y="2178050"/>
              <a:ext cx="4830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语音与位置先被消歧，再进入座舱服务；这和手机上的“单一用户假设”不同。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27813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1975" y="282575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理想同学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3206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空间多模态感知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3575050"/>
              <a:ext cx="2175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MVS / MIMO / MSE 三网协同；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785" y="3822700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判断“谁、坐哪、指向哪、需要什么”。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785" y="44704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多人车内对话、指向控制、个性化服务；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5785" y="47180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语音不需要先知道用户坐在哪里。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578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785" y="536575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量产车型覆盖、误识别率、隐私回传和车规验证未披露。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2225" y="2825750"/>
              <a:ext cx="145738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蔚来 NOMI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3206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端云多模态与陪伴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035" y="3575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融合图像、音频和车身传感器；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035" y="38227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识别座舱内外人与物，提供情感化陪伴。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0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4470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空间上下文＋车辆服务＋长期陪伴；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47180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比通用语音助手更贴近驾驶与乘车场景。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603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035" y="53657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材料多为能力宣称；执行安全、情绪识别和隐私边界不清。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5772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3118" y="5803900"/>
              <a:ext cx="7527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分：座舱的空间输入有差异化，但最终价值取决于安全执行与数据责任。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3202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来源：全球竞品报告引用的理想同学、NOMI 公开/媒体报道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无障碍与高信任场景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无障碍最接近真实价值，但付费来自服务、管理与人工兜底</a:t>
              </a:r>
            </a:p>
          </p:txBody>
        </p:sp>
      </p:grpSp>
      <p:grpSp>
        <p:nvGrpSpPr>
          <p:cNvPr id="45" name="accessibility-matrix"/>
          <p:cNvGrpSpPr/>
          <p:nvPr/>
        </p:nvGrpSpPr>
        <p:grpSpPr>
          <a:xfrm>
            <a:off x="563118" y="1270000"/>
            <a:ext cx="11057382" cy="4761357"/>
            <a:chOff x="563118" y="1270000"/>
            <a:chExt cx="11057382" cy="47613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740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任务明确、视觉不可替代、失败可转人工，使无障碍比通用视觉问答更容易形成闭环。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33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1912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048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929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做什么 / 谁用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797" y="17335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价值与反馈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4297" y="1733550"/>
              <a:ext cx="9607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商业模式 / 缺口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2108200"/>
              <a:ext cx="1134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Seeing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535" y="2184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手机摄像头朗读文字、人物、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8535" y="2432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物体与场景；面向视障用户。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6035" y="2184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免费公共服务基线；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35" y="2432050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2017 年上线，任务明确。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33535" y="218440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免费、由平台/机构承担；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33535" y="2432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使用频率、留存未公开。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118" y="2870200"/>
              <a:ext cx="11010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8535" y="2946400"/>
              <a:ext cx="2005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GPT-4 图片解释、多轮追问；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3194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替代/补充远程人工志愿。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035" y="2946400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用户研究出现“game changer”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3194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反馈；提升独立性和匿名性。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33535" y="29464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3535" y="3194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仍需验证理解错误和图片质量。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3632200"/>
              <a:ext cx="1040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vivo 看见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8535" y="37084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实时环境描述、多轮对话、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8535" y="39560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物品查找、辅助拍摄。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37084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国内无障碍入口；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3956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依赖镜头对准与播报质量。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3535" y="3708400"/>
              <a:ext cx="763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 App；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3535" y="3956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官方说明为主，独立评测少。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118" y="4394200"/>
              <a:ext cx="2708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Eyes Workplace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18535" y="4470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个人免费；企业无障碍管理，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8535" y="4718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配置培训过的远程人工代理。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035" y="4470400"/>
              <a:ext cx="179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组织采购、SSO、SOC 2、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035" y="4718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人工兜底形成完整交付。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33535" y="4470400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企业授权/服务收费；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33535" y="4718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价格、客户、复购、毛利未知。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5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4419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最关键的产品结论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285" y="5441950"/>
              <a:ext cx="521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企业可能为管理、合规、培训和人工接管付费，而不一定为 AI 视觉单独付费。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7086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分：这是当前最值得做小样本验证的垂直方向，但仍不是已验证赛道。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1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来源：Microsoft Seeing AI；Be My Eyes；vivo；开源产品化报告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957731" cy="659892"/>
            <a:chOff x="559308" y="273050"/>
            <a:chExt cx="695773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631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基础设施、API 与开源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957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开源降低了“能做”的门槛，但没有证明“能卖”</a:t>
              </a:r>
            </a:p>
          </p:txBody>
        </p:sp>
      </p:grpSp>
      <p:grpSp>
        <p:nvGrpSpPr>
          <p:cNvPr id="42" name="stack-and-open-source"/>
          <p:cNvGrpSpPr/>
          <p:nvPr/>
        </p:nvGrpSpPr>
        <p:grpSpPr>
          <a:xfrm>
            <a:off x="565785" y="1270000"/>
            <a:ext cx="11019790" cy="4647502"/>
            <a:chOff x="565785" y="1270000"/>
            <a:chExt cx="11019790" cy="4647502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705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五层技术栈必须分开看：模型、实时传输、Agent 编排、能力 API、垂直应用。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00200"/>
              <a:ext cx="6858000" cy="666750"/>
            </a:xfrm>
            <a:prstGeom prst="rect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6854" y="17335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785" y="1746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无障碍服务 · 现场作业 · 家庭/座舱 · 视觉导购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547" y="20193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6CFC3"/>
                  </a:solidFill>
                  <a:latin typeface="+mn-lt"/>
                  <a:ea typeface="+mn-ea"/>
                  <a:cs typeface="+mn-cs"/>
                </a:rPr>
                <a:t>价值来自工作流、责任边界和付费方，不来自模型名称。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43150"/>
              <a:ext cx="6858000" cy="66675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6854" y="2476500"/>
              <a:ext cx="1007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能力 / API 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785" y="2489200"/>
              <a:ext cx="2603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SeedRealtime · TwelveLabs · 拍立淘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2762250"/>
              <a:ext cx="35125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6EFEA"/>
                  </a:solidFill>
                  <a:latin typeface="+mn-lt"/>
                  <a:ea typeface="+mn-ea"/>
                  <a:cs typeface="+mn-cs"/>
                </a:rPr>
                <a:t>实时交互模型、视频理解、视觉商品检索；按量/平台收费。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086100"/>
              <a:ext cx="6858000" cy="66675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6854" y="3219450"/>
              <a:ext cx="1020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785" y="3232150"/>
              <a:ext cx="2422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Vision-Agents · Pipecat · Dograh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547" y="350520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E9E2"/>
                  </a:solidFill>
                  <a:latin typeface="+mn-lt"/>
                  <a:ea typeface="+mn-ea"/>
                  <a:cs typeface="+mn-cs"/>
                </a:rPr>
                <a:t>多模型、工具调用、会话接力、工作流与可视化测试。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829050"/>
              <a:ext cx="6858000" cy="666750"/>
            </a:xfrm>
            <a:prstGeom prst="rect">
              <a:avLst/>
            </a:prstGeom>
            <a:solidFill>
              <a:srgbClr val="B8AA9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85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实时传输层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785" y="3975100"/>
              <a:ext cx="1882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LiveKit · Stream 边缘网络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547" y="4248150"/>
              <a:ext cx="30377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WebRTC/SFU、音视频与数据流、并发和断线恢复。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572000"/>
              <a:ext cx="6858000" cy="666750"/>
            </a:xfrm>
            <a:prstGeom prst="rect">
              <a:avLst/>
            </a:prstGeom>
            <a:solidFill>
              <a:srgbClr val="6B67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854" y="470535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模型 / 研究层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785" y="4718050"/>
              <a:ext cx="3217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CLIP · Flamingo · GPT-4V/Gemini · VLX-Flow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547" y="4991100"/>
              <a:ext cx="272101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DE9E1"/>
                  </a:solidFill>
                  <a:latin typeface="+mn-lt"/>
                  <a:ea typeface="+mn-ea"/>
                  <a:cs typeface="+mn-cs"/>
                </a:rPr>
                <a:t>图文/视频理解、流式视觉模型和低延迟推理。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441950"/>
              <a:ext cx="6269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已废弃：Landing AI vision-agent → 转向文档抽取，说明“视觉代码生成”并不天然形成产品。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5166" y="1587500"/>
              <a:ext cx="967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开源 vs 托管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785" y="1917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开源可获得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4785" y="21844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数据控制、定制、私有化、可自托管、避免单一供应商。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785" y="25654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同时接手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5166" y="2736850"/>
              <a:ext cx="24109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视频传输、模型兼容、安全更新、并发、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断线恢复、现场支持。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785" y="32131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总成本应包含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5166" y="3384550"/>
              <a:ext cx="26776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推理＋带宽＋设备＋实施＋培训＋误判纠正，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再加人工接管与合规。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10500" y="3905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04785" y="40513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闭源全栈对照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5166" y="4311650"/>
              <a:ext cx="3040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Muse：Secure VM＋记忆＋权限＋支付＋审计。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05166" y="45974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开源尚无同任务总成本证据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05166" y="48450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延迟、并发、断线恢复和现场支持都要算。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5166" y="513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合理策略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53784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先用托管建立体验基线，再比较自建的隐私与定制收益。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3261" y="5638800"/>
              <a:ext cx="24801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分：技术开放 ≠ 产品优势。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566738" y="6286500"/>
              <a:ext cx="34608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来源：开源产品化报告；GitHub README；各 API/平台公开材料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市场反响分层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强反响来自明确任务，失败来自承诺超过交付能力</a:t>
              </a:r>
            </a:p>
          </p:txBody>
        </p:sp>
      </p:grpSp>
      <p:grpSp>
        <p:nvGrpSpPr>
          <p:cNvPr id="40" name="reception-tiers"/>
          <p:cNvGrpSpPr/>
          <p:nvPr/>
        </p:nvGrpSpPr>
        <p:grpSpPr>
          <a:xfrm>
            <a:off x="563118" y="1270000"/>
            <a:ext cx="11136453" cy="4799457"/>
            <a:chOff x="563118" y="1270000"/>
            <a:chExt cx="11136453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证据强度从高到低：真实使用/销量 &gt; 独立评测 &gt; 厂商上线材料 &gt; 概念演示。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573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399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3773" y="1714500"/>
              <a:ext cx="10284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4916" y="1930400"/>
              <a:ext cx="203758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大规模视觉搜索；官方称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每月 80 亿次问题（2022 口径）。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5297" y="241935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说明：视觉入口被规模采用，但不等于连续任务闭环。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0523" y="1714500"/>
              <a:ext cx="1724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666" y="193040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无障碍用户获得独立性与匿名性；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真实任务价值强。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72047" y="2419350"/>
              <a:ext cx="3044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限制：仍会受图片质量、理解错误和人工兜底影响。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66529" y="1714500"/>
              <a:ext cx="128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/ Ray-Ban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7862" y="1955800"/>
              <a:ext cx="140398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六周 1000 万设置，</a:t>
              </a:r>
              <a:b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25% 日活；购物客单 $200+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67862" y="23812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公司自报；眼镜端尚未铺开。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7997" y="2667000"/>
              <a:ext cx="48318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强信号的共同点：任务本来就需要视觉/语音，或设备本来就是用户愿意戴的东西。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971800"/>
              <a:ext cx="11049000" cy="12573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616" y="31305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3773" y="3105150"/>
              <a:ext cx="13817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/ Copilot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4535" y="3384550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入口强、上下文强；独立任务成功率与付费未公开。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4916" y="3663950"/>
              <a:ext cx="258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Copilot 明确只高亮，不执行点击/输入。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105150"/>
              <a:ext cx="17066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夸克 S1 / 小艺看世界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3321050"/>
              <a:ext cx="21442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有生态与交互亮点；存在静态识别、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显示/续航/封闭生态争议。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3790950"/>
              <a:ext cx="22526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缺少版本化、同任务对照与长期留存。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66529" y="3105150"/>
              <a:ext cx="1168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Network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67672" y="3409950"/>
              <a:ext cx="21318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Agent 协作、商家交易仍在路线图。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7672" y="36576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缺互操作、责任和费率验证。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7997" y="4038600"/>
              <a:ext cx="47593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混合信号的共同点：能力可见，但效果、留存或付费没有被同一份证据同时证明。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4362450"/>
              <a:ext cx="11049000" cy="11239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616" y="45212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93773" y="4495800"/>
              <a:ext cx="27131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 · Ray-Ban Stories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94535" y="4775200"/>
              <a:ext cx="537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新硬件/第一视角有新鲜感，但高价、低频、隐私与手机替代导致退场或低活跃。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94916" y="505460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先后教训：穿戴形态必须服务清晰任务；销量不等于留存。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2523" y="4495800"/>
              <a:ext cx="14192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· Rabbit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047" y="4673600"/>
              <a:ext cx="1957705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“替代手机/替用户操作”承诺过强；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Pin 停服，R1 初审差。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34047" y="5219700"/>
              <a:ext cx="31744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硬件入口无法弥补任务失败、延迟、Bug 和生态缺失。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657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3118" y="5746750"/>
              <a:ext cx="5216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分：市场奖赏结果，不给“多模态能力”本身发奖。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566738" y="6286500"/>
              <a:ext cx="46857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来源：Google、Meta、Microsoft、Be My Eyes 与第三方评测；Lens 数字为官方口径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9241536" cy="659892"/>
            <a:chOff x="559308" y="273050"/>
            <a:chExt cx="924153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成败机制与商业模式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92415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产品能否留下，取决于任务、载体、反馈、信任和单位经济性</a:t>
              </a:r>
            </a:p>
          </p:txBody>
        </p:sp>
      </p:grpSp>
      <p:grpSp>
        <p:nvGrpSpPr>
          <p:cNvPr id="34" name="mechanisms-and-models"/>
          <p:cNvGrpSpPr/>
          <p:nvPr/>
        </p:nvGrpSpPr>
        <p:grpSpPr>
          <a:xfrm>
            <a:off x="563880" y="1270000"/>
            <a:ext cx="10866120" cy="4490720"/>
            <a:chOff x="563880" y="1270000"/>
            <a:chExt cx="10866120" cy="449072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模型能力只是入场券；真正难的是把结果交付、把失败接住、把成本覆盖。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962650" y="15621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166" y="17208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成功产品的共同点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404" y="2019300"/>
              <a:ext cx="2137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任务本来就需要多种输入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2733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读字、找物、无障碍、多音区、现场维护。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404" y="2628900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载体比替代方案自然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2882900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已有手机/眼镜/电视/车机，而不是要求用户再带一个设备。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3238500"/>
              <a:ext cx="183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系统能发现“没帮对”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34925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镜头纠正、重新聚焦、拒答、人工接管、撤销。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404" y="3848100"/>
              <a:ext cx="14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04　信任成本可接受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166" y="41021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隐私、旁观者、权限、错误代价、责任边界。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404" y="4457700"/>
              <a:ext cx="1975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05　总成本低于节省的价值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47117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设置、网络、推理、运维、培训、人工接管都要算。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3066" y="17208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五类商业模式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48400" y="19812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2304" y="21336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硬件销售与生态捆绑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43066" y="2387600"/>
              <a:ext cx="3193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Ray-Ban、夸克、华为、Apple、三星、理想/NOMI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2304" y="2781300"/>
              <a:ext cx="1935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企业订阅 / 工作场所 SaaS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3066" y="3035300"/>
              <a:ext cx="3468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Copilot、Be My Eyes Workplace：按席位/组织授权。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2304" y="3429000"/>
              <a:ext cx="165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按量 API / 开发者集成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3066" y="3683000"/>
              <a:ext cx="347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TwelveLabs、拍立淘：调用量、视频分钟、平台接入。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42304" y="407670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免费公共服务 / 机构资助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43066" y="4330700"/>
              <a:ext cx="2878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Seeing AI：用户免费，平台或机构承担成本。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42304" y="4724400"/>
              <a:ext cx="1694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免费入口 / 订阅 / 交易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3066" y="4978400"/>
              <a:ext cx="4107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Muse：免费＋商家交易费＋高阶订阅；夸克/拍立淘走交易生态。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48400" y="5314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3066" y="5492750"/>
              <a:ext cx="3939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价格、毛利、复购和 AI/人工收入拆分在现有材料中普遍缺失。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3880" y="5200650"/>
              <a:ext cx="2821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后台执行把“回答错误”升级为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880" y="5467350"/>
              <a:ext cx="3248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“真实行动错误”，治理价值上升。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5" name="TextBox 35"/>
            <p:cNvSpPr txBox="1"/>
            <p:nvPr/>
          </p:nvSpPr>
          <p:spPr>
            <a:xfrm>
              <a:off x="566738" y="628650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综合三份洞察：商业化路径与失败机制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机会与空白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通用视觉问答已拥挤，空白在实时任务闭环和失败恢复</a:t>
              </a:r>
            </a:p>
          </p:txBody>
        </p:sp>
      </p:grpSp>
      <p:grpSp>
        <p:nvGrpSpPr>
          <p:cNvPr id="45" name="opportunity-grid"/>
          <p:cNvGrpSpPr/>
          <p:nvPr/>
        </p:nvGrpSpPr>
        <p:grpSpPr>
          <a:xfrm>
            <a:off x="563499" y="1270000"/>
            <a:ext cx="11057001" cy="4360291"/>
            <a:chOff x="563499" y="1270000"/>
            <a:chExt cx="11057001" cy="43602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以下均为待验证假设；不把产品存在、仓库热度或演示效果当作市场成立。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43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2861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4837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8106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3486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66" y="16827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实时交互 harness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19304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记录观察、行动、纠正和结果；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2190750"/>
              <a:ext cx="1269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客户：终端/模型团队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547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风险：隐私和任务集偏差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71291" y="1682750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主动引导 SDK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71291" y="19304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提醒、纠错、转人工；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71672" y="2190750"/>
              <a:ext cx="17641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客户：无障碍/远程协助/OEM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1672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风险：误引导和责任边界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3541" y="1682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多模态安全护栏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3541" y="19304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按行业和设备适配政策；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3922" y="2190750"/>
              <a:ext cx="14137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客户：助手/Agent 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3922" y="24003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风险：低延迟和高误杀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5791" y="1682750"/>
              <a:ext cx="1175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Agent 交易与协议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5791" y="18542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身份、权限、比价、下单、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退款与跨 Agent 协商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6172" y="236220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客户：电商/平台；风险：错买、责任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3625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企业无障碍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166" y="38735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实时协助＋管理平台＋人工接管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41338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最接近付费形态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547" y="4343400"/>
              <a:ext cx="15313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需验证 AI 是否有增量价值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71291" y="3625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现场作业助手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71291" y="38735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巡检、维修、零售、远程专家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71672" y="41338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价值可量化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1672" y="43434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难点：行业数据与现场可靠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33541" y="36258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座舱空间 harness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3541" y="3873500"/>
              <a:ext cx="1450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多音区＋ToF/IR＋指向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3922" y="41338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33922" y="4343400"/>
              <a:ext cx="14830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难点：车规、安全、OEM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791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暂不优先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95791" y="37973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通用实时平台、通用工具、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又一个视觉问答 App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6172" y="43243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入口和付费都不在这类团队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4876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041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共同证据缺口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99285" y="5041900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任务频率、失败成本、同任务替代方案、端到端延迟、人工接管率、报价与续费。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499" y="5321300"/>
              <a:ext cx="63087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分：从高信任任务切入，把执行、审计、接管和付费做成闭环。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018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来源：全球竞品、产品层、开源产品化三份报告的“机会/空白”章节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981859" cy="659892"/>
            <a:chOff x="559308" y="273050"/>
            <a:chExt cx="798185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21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趋势与观察清单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9818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未来竞争从“看得见”走向“判断何时帮、帮到哪一步”</a:t>
              </a:r>
            </a:p>
          </p:txBody>
        </p:sp>
      </p:grpSp>
      <p:grpSp>
        <p:nvGrpSpPr>
          <p:cNvPr id="36" name="trend-and-watch"/>
          <p:cNvGrpSpPr/>
          <p:nvPr/>
        </p:nvGrpSpPr>
        <p:grpSpPr>
          <a:xfrm>
            <a:off x="562356" y="1270000"/>
            <a:ext cx="11058144" cy="4578350"/>
            <a:chOff x="562356" y="1270000"/>
            <a:chExt cx="11058144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四条趋势不是空泛预测：每一条都已有产品信号，也都还缺关键指标。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62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5785" y="17462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已发生信号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3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还要看什么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21018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单次识别 → 连续协作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3285" y="2203450"/>
              <a:ext cx="30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实时取景 → Gemini Live → Guided Vision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3285" y="22034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打断、镜头纠正、断线恢复、任务成功率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533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2356" y="27495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被动回答 → 主动提醒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3285" y="2851150"/>
              <a:ext cx="3230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Snap anticipatory AI；Guided Vision 主动纠错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3285" y="28511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误触发、打扰成本、关闭机制、何时应沉默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3181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2356" y="3397250"/>
              <a:ext cx="2119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给答案 → 完成任务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23285" y="3498850"/>
              <a:ext cx="3186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高亮；Bixby 系统控制；夸克支付/导航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3285" y="349885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权限确认、校验、撤销、人工接管、责任边界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3829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2737" y="3981450"/>
              <a:ext cx="261060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单体 Agent → 垂直闭环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3666" y="4044950"/>
              <a:ext cx="259765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Network、Personal Agent Protocol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＋无障碍、现场作业、座舱工作流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3666" y="404495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权限、责任、互操作、费率与复购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能否形成可信网络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1500" y="4552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785" y="47180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接下来重点盯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9166" y="4730750"/>
              <a:ext cx="1902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① 企业是否为 AI 视觉单独报价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71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② 平台是否公开真实任务成功率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③ 开源方案的生产延迟与总成本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166" y="5016500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④ 眼镜的长期佩戴与活跃率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3166" y="5016500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⑤ 座舱/家庭摄像头的隐私与误报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666" y="501650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⑥ 系统操作是否可撤销、可审计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14916" y="501650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⑦ 人工接管成本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5410200"/>
              <a:ext cx="11049000" cy="4381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505450"/>
              <a:ext cx="7696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分：最值得投资的不是又一个多模态入口，而是能测量并改进任务完成率的系统。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24448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综合三份报告的“趋势、空白与接下来盯什么”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4120896" cy="659892"/>
            <a:chOff x="559308" y="273050"/>
            <a:chExt cx="412089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附录 · 年份审计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4120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关键年份、事件和一手来源</a:t>
              </a:r>
            </a:p>
          </p:txBody>
        </p:sp>
      </p:grpSp>
      <p:grpSp>
        <p:nvGrpSpPr>
          <p:cNvPr id="99" name="date-ledger"/>
          <p:cNvGrpSpPr/>
          <p:nvPr/>
        </p:nvGrpSpPr>
        <p:grpSpPr>
          <a:xfrm>
            <a:off x="490347" y="1263650"/>
            <a:ext cx="11130153" cy="4719193"/>
            <a:chOff x="490347" y="1263650"/>
            <a:chExt cx="11130153" cy="4719193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原则：只记录可核验的发布日期/上线窗口；不会把报道日期当产品发表日期。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62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339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1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7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74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2011.10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1897" y="1866900"/>
              <a:ext cx="13502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 随 iPhone 4S 发布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3988" y="1866900"/>
              <a:ext cx="3158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1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6897" y="1866900"/>
              <a:ext cx="12678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居家生产力功能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7488" y="1866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2014.11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61897" y="2133600"/>
              <a:ext cx="12974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 / Alexa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39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1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6897" y="2133600"/>
              <a:ext cx="14206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Echo Show 10 屏幕跟随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774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1897" y="2400300"/>
              <a:ext cx="13836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发布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33988" y="24003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6897" y="2400300"/>
              <a:ext cx="8512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CLIP 公开发布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77488" y="2400300"/>
              <a:ext cx="4144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1897" y="2667000"/>
              <a:ext cx="6473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发布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33988" y="2667000"/>
              <a:ext cx="5041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Samsung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6897" y="2667000"/>
              <a:ext cx="10457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7488" y="2667000"/>
              <a:ext cx="304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61897" y="2933700"/>
              <a:ext cx="10542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 发布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33988" y="29337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1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6897" y="2933700"/>
              <a:ext cx="1122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Flamingo 研究发布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77488" y="2933700"/>
              <a:ext cx="5440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DeepMind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6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61897" y="3200400"/>
              <a:ext cx="14370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Bixby Voice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33988" y="3200400"/>
              <a:ext cx="11686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Microsoft/Samsung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1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6897" y="3200400"/>
              <a:ext cx="1105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AI 进入测试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7488" y="3200400"/>
              <a:ext cx="652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Be My Eyes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6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1897" y="3467100"/>
              <a:ext cx="11359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相机实时取景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3988" y="34671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76897" y="3467100"/>
              <a:ext cx="14597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GPT-4V / Be My AI 公测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7488" y="3467100"/>
              <a:ext cx="11263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OpenAI/Be My Eyes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6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61897" y="3733800"/>
              <a:ext cx="13349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Smart Display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33988" y="3733800"/>
              <a:ext cx="8534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Google/Lenovo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1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76897" y="3733800"/>
              <a:ext cx="669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1.0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77488" y="37338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61897" y="4000500"/>
              <a:ext cx="9181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33988" y="40005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81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2024.05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76897" y="4000500"/>
              <a:ext cx="150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GPT-4o / Project Astra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77488" y="4000500"/>
              <a:ext cx="855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OpenAI/Google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6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61897" y="4267200"/>
              <a:ext cx="872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33988" y="42672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81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2024.12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76897" y="4267200"/>
              <a:ext cx="17677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Apple Visual / Copilot Vision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77488" y="4267200"/>
              <a:ext cx="980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Apple/Microsoft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6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61897" y="4533900"/>
              <a:ext cx="7407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33988" y="45339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81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6897" y="4533900"/>
              <a:ext cx="14100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摄像头铺开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377488" y="4533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81547" y="4800600"/>
              <a:ext cx="7717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2025.08–11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76897" y="4800600"/>
              <a:ext cx="16857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小艺/Meta Display/夸克 S1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77488" y="4800600"/>
              <a:ext cx="924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华为/Meta/阿里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547" y="5067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76897" y="5067300"/>
              <a:ext cx="17529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 发布/豆包上线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77488" y="5067300"/>
              <a:ext cx="923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ByteDance Seed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81547" y="5334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176897" y="5334000"/>
              <a:ext cx="11327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 发布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77488" y="53340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66738" y="48006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2026.09.08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462088" y="4800600"/>
              <a:ext cx="9470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在美区上线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233988" y="4813300"/>
              <a:ext cx="2782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66738" y="50673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2026.09.23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462088" y="5067300"/>
              <a:ext cx="20803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 Audio / Muse眼镜计划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233988" y="5080000"/>
              <a:ext cx="2782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66738" y="53340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2026.10.21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462088" y="5334000"/>
              <a:ext cx="15329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Q3：1000万设置 / 25%日活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233988" y="5346700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财报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4953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90347" y="5791200"/>
              <a:ext cx="57369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注：2025 小艺、Meta Display、夸克为不同日期；Muse 指标为公司财报口径，完整链接见 P21。</a:t>
              </a:r>
            </a:p>
          </p:txBody>
        </p:sp>
      </p:grpSp>
      <p:grpSp>
        <p:nvGrpSpPr>
          <p:cNvPr id="10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100" name="TextBox 100"/>
            <p:cNvSpPr txBox="1"/>
            <p:nvPr/>
          </p:nvSpPr>
          <p:spPr>
            <a:xfrm>
              <a:off x="566738" y="6286500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所有事件均来自官方发布页或明确日期的权威报道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486400" cy="659892"/>
            <a:chOff x="559308" y="273050"/>
            <a:chExt cx="548640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976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APPENDIX · SOURCES &amp; COVERAGE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4864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来源、证据边界与三份洞察覆盖矩阵</a:t>
              </a:r>
            </a:p>
          </p:txBody>
        </p:sp>
      </p:grpSp>
      <p:grpSp>
        <p:nvGrpSpPr>
          <p:cNvPr id="54" name="source-coverage"/>
          <p:cNvGrpSpPr/>
          <p:nvPr/>
        </p:nvGrpSpPr>
        <p:grpSpPr>
          <a:xfrm>
            <a:off x="563499" y="1263650"/>
            <a:ext cx="11057001" cy="4480941"/>
            <a:chOff x="563499" y="1263650"/>
            <a:chExt cx="11057001" cy="448094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5063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厂商材料证明“上线”；独立评测/销量更接近“被接受”；本地报告保留不确定性。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905750" y="16192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81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官方 / 一手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566547" y="2000250"/>
              <a:ext cx="20320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Apple · Siri / Visual Intelligence</a:t>
              </a:r>
            </a:p>
          </p:txBody>
        </p:sp>
        <p:sp>
          <p:nvSpPr>
            <p:cNvPr id="11" name="TextBox 11">
              <a:hlinkClick r:id="rId3"/>
            </p:cNvPr>
            <p:cNvSpPr txBox="1"/>
            <p:nvPr/>
          </p:nvSpPr>
          <p:spPr>
            <a:xfrm>
              <a:off x="566547" y="2228850"/>
              <a:ext cx="1410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Echo / Alexa</a:t>
              </a:r>
            </a:p>
          </p:txBody>
        </p:sp>
        <p:sp>
          <p:nvSpPr>
            <p:cNvPr id="12" name="TextBox 12">
              <a:hlinkClick r:id="rId4"/>
            </p:cNvPr>
            <p:cNvSpPr txBox="1"/>
            <p:nvPr/>
          </p:nvSpPr>
          <p:spPr>
            <a:xfrm>
              <a:off x="566547" y="2457450"/>
              <a:ext cx="11929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Assistant</a:t>
              </a:r>
            </a:p>
          </p:txBody>
        </p:sp>
        <p:sp>
          <p:nvSpPr>
            <p:cNvPr id="13" name="TextBox 13">
              <a:hlinkClick r:id="rId5"/>
            </p:cNvPr>
            <p:cNvSpPr txBox="1"/>
            <p:nvPr/>
          </p:nvSpPr>
          <p:spPr>
            <a:xfrm>
              <a:off x="566547" y="2686050"/>
              <a:ext cx="1197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Lens 2018</a:t>
              </a:r>
            </a:p>
          </p:txBody>
        </p:sp>
        <p:sp>
          <p:nvSpPr>
            <p:cNvPr id="14" name="TextBox 14">
              <a:hlinkClick r:id="rId6"/>
            </p:cNvPr>
            <p:cNvSpPr txBox="1"/>
            <p:nvPr/>
          </p:nvSpPr>
          <p:spPr>
            <a:xfrm>
              <a:off x="566547" y="2914650"/>
              <a:ext cx="12347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Alexa APL</a:t>
              </a:r>
            </a:p>
          </p:txBody>
        </p:sp>
        <p:sp>
          <p:nvSpPr>
            <p:cNvPr id="15" name="TextBox 15">
              <a:hlinkClick r:id="rId7"/>
            </p:cNvPr>
            <p:cNvSpPr txBox="1"/>
            <p:nvPr/>
          </p:nvSpPr>
          <p:spPr>
            <a:xfrm>
              <a:off x="566547" y="3143250"/>
              <a:ext cx="122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CLIP 2021</a:t>
              </a:r>
            </a:p>
          </p:txBody>
        </p:sp>
        <p:sp>
          <p:nvSpPr>
            <p:cNvPr id="16" name="TextBox 16">
              <a:hlinkClick r:id="rId8"/>
            </p:cNvPr>
            <p:cNvSpPr txBox="1"/>
            <p:nvPr/>
          </p:nvSpPr>
          <p:spPr>
            <a:xfrm>
              <a:off x="566547" y="3371850"/>
              <a:ext cx="16231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DeepMind · Flamingo 2022</a:t>
              </a:r>
            </a:p>
          </p:txBody>
        </p:sp>
        <p:sp>
          <p:nvSpPr>
            <p:cNvPr id="17" name="TextBox 17">
              <a:hlinkClick r:id="rId9"/>
            </p:cNvPr>
            <p:cNvSpPr txBox="1"/>
            <p:nvPr/>
          </p:nvSpPr>
          <p:spPr>
            <a:xfrm>
              <a:off x="566547" y="3600450"/>
              <a:ext cx="14088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GPT-4V 2023</a:t>
              </a:r>
            </a:p>
          </p:txBody>
        </p:sp>
        <p:sp>
          <p:nvSpPr>
            <p:cNvPr id="18" name="TextBox 18">
              <a:hlinkClick r:id="rId10"/>
            </p:cNvPr>
            <p:cNvSpPr txBox="1"/>
            <p:nvPr/>
          </p:nvSpPr>
          <p:spPr>
            <a:xfrm>
              <a:off x="566547" y="3829050"/>
              <a:ext cx="130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Gemini 2023</a:t>
              </a:r>
            </a:p>
          </p:txBody>
        </p:sp>
        <p:sp>
          <p:nvSpPr>
            <p:cNvPr id="19" name="TextBox 19">
              <a:hlinkClick r:id="rId11"/>
            </p:cNvPr>
            <p:cNvSpPr txBox="1"/>
            <p:nvPr/>
          </p:nvSpPr>
          <p:spPr>
            <a:xfrm>
              <a:off x="566547" y="4057650"/>
              <a:ext cx="11404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Muse 2026</a:t>
              </a:r>
            </a:p>
          </p:txBody>
        </p:sp>
        <p:sp>
          <p:nvSpPr>
            <p:cNvPr id="20" name="TextBox 20">
              <a:hlinkClick r:id="rId12"/>
            </p:cNvPr>
            <p:cNvSpPr txBox="1"/>
            <p:nvPr/>
          </p:nvSpPr>
          <p:spPr>
            <a:xfrm>
              <a:off x="566547" y="4286250"/>
              <a:ext cx="14994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Audio / 眼镜路线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1297" y="1733550"/>
              <a:ext cx="14242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独立评测 / 市场信号</a:t>
              </a:r>
            </a:p>
          </p:txBody>
        </p:sp>
        <p:sp>
          <p:nvSpPr>
            <p:cNvPr id="22" name="TextBox 22">
              <a:hlinkClick r:id="rId13"/>
            </p:cNvPr>
            <p:cNvSpPr txBox="1"/>
            <p:nvPr/>
          </p:nvSpPr>
          <p:spPr>
            <a:xfrm>
              <a:off x="4281297" y="2000250"/>
              <a:ext cx="2101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Information · Stories 低使用</a:t>
              </a:r>
            </a:p>
          </p:txBody>
        </p:sp>
        <p:sp>
          <p:nvSpPr>
            <p:cNvPr id="23" name="TextBox 23">
              <a:hlinkClick r:id="rId14"/>
            </p:cNvPr>
            <p:cNvSpPr txBox="1"/>
            <p:nvPr/>
          </p:nvSpPr>
          <p:spPr>
            <a:xfrm>
              <a:off x="4281297" y="2228850"/>
              <a:ext cx="15623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Verge · Humane 停服</a:t>
              </a:r>
            </a:p>
          </p:txBody>
        </p:sp>
        <p:sp>
          <p:nvSpPr>
            <p:cNvPr id="24" name="TextBox 24">
              <a:hlinkClick r:id="rId15"/>
            </p:cNvPr>
            <p:cNvSpPr txBox="1"/>
            <p:nvPr/>
          </p:nvSpPr>
          <p:spPr>
            <a:xfrm>
              <a:off x="4281297" y="2457450"/>
              <a:ext cx="11410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WIRED · Rabbit R1</a:t>
              </a:r>
            </a:p>
          </p:txBody>
        </p:sp>
        <p:sp>
          <p:nvSpPr>
            <p:cNvPr id="25" name="TextBox 25">
              <a:hlinkClick r:id="rId16"/>
            </p:cNvPr>
            <p:cNvSpPr txBox="1"/>
            <p:nvPr/>
          </p:nvSpPr>
          <p:spPr>
            <a:xfrm>
              <a:off x="4281297" y="2686050"/>
              <a:ext cx="193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Android Authority · Meta 销量</a:t>
              </a:r>
            </a:p>
          </p:txBody>
        </p:sp>
        <p:sp>
          <p:nvSpPr>
            <p:cNvPr id="26" name="TextBox 26">
              <a:hlinkClick r:id="rId17"/>
            </p:cNvPr>
            <p:cNvSpPr txBox="1"/>
            <p:nvPr/>
          </p:nvSpPr>
          <p:spPr>
            <a:xfrm>
              <a:off x="4281297" y="2914650"/>
              <a:ext cx="1767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Guardian · 穿戴隐私分歧</a:t>
              </a:r>
            </a:p>
          </p:txBody>
        </p:sp>
        <p:sp>
          <p:nvSpPr>
            <p:cNvPr id="27" name="TextBox 27">
              <a:hlinkClick r:id="rId18"/>
            </p:cNvPr>
            <p:cNvSpPr txBox="1"/>
            <p:nvPr/>
          </p:nvSpPr>
          <p:spPr>
            <a:xfrm>
              <a:off x="4281297" y="3143250"/>
              <a:ext cx="12912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Be My Eyes · AI 发布</a:t>
              </a:r>
            </a:p>
          </p:txBody>
        </p:sp>
        <p:sp>
          <p:nvSpPr>
            <p:cNvPr id="28" name="TextBox 28">
              <a:hlinkClick r:id="rId19"/>
            </p:cNvPr>
            <p:cNvSpPr txBox="1"/>
            <p:nvPr/>
          </p:nvSpPr>
          <p:spPr>
            <a:xfrm>
              <a:off x="4281297" y="3371850"/>
              <a:ext cx="11569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夸克 S1 · 独立体验</a:t>
              </a:r>
            </a:p>
          </p:txBody>
        </p:sp>
        <p:sp>
          <p:nvSpPr>
            <p:cNvPr id="29" name="TextBox 29">
              <a:hlinkClick r:id="rId20"/>
            </p:cNvPr>
            <p:cNvSpPr txBox="1"/>
            <p:nvPr/>
          </p:nvSpPr>
          <p:spPr>
            <a:xfrm>
              <a:off x="4281297" y="3600450"/>
              <a:ext cx="166344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ByteDance · SeedRealtime</a:t>
              </a:r>
            </a:p>
          </p:txBody>
        </p:sp>
        <p:sp>
          <p:nvSpPr>
            <p:cNvPr id="30" name="TextBox 30">
              <a:hlinkClick r:id="rId21"/>
            </p:cNvPr>
            <p:cNvSpPr txBox="1"/>
            <p:nvPr/>
          </p:nvSpPr>
          <p:spPr>
            <a:xfrm>
              <a:off x="4281297" y="3829050"/>
              <a:ext cx="1712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华尔街见闻 · Muse 投资视角</a:t>
              </a:r>
            </a:p>
          </p:txBody>
        </p:sp>
        <p:sp>
          <p:nvSpPr>
            <p:cNvPr id="31" name="TextBox 31">
              <a:hlinkClick r:id="rId22"/>
            </p:cNvPr>
            <p:cNvSpPr txBox="1"/>
            <p:nvPr/>
          </p:nvSpPr>
          <p:spPr>
            <a:xfrm>
              <a:off x="4281297" y="4057650"/>
              <a:ext cx="12496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Meta Q3 财报电话会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81488" y="4286250"/>
              <a:ext cx="18935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仓库/演示不作为需求或商业验证。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1297" y="1733550"/>
              <a:ext cx="12066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本地洞察覆盖矩阵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1297" y="20193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全球竞品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34297" y="20193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P03–P19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1488" y="2266950"/>
              <a:ext cx="2226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竞品清单·差异·9类场景·变现·机会·空白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91297" y="26098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产品层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34297" y="260985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P04–P18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1488" y="2857500"/>
              <a:ext cx="2256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实时视觉指导·Copilot边界·人工兜底·API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91297" y="32004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开源产品化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24797" y="32004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P08–P19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91488" y="3448050"/>
              <a:ext cx="2273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无障碍优先·托管vs自建·P0/P1验证·成本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91297" y="3790950"/>
              <a:ext cx="6530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增补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34297" y="3790950"/>
              <a:ext cx="10971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 / 11 / 16–20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91488" y="4038600"/>
              <a:ext cx="21622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后台执行·Secure VM·交易·Agent 网络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096250" y="42672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91488" y="4343400"/>
              <a:ext cx="2559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完整逐章节映射：sources/coverage-map.md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571500" y="4610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6166" y="4768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18666" y="4768850"/>
              <a:ext cx="5565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任务成功率 · 端到端时延 · 纠错恢复 · 长期留存 · 设置/活跃口径 · 交易费率与人工成本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166" y="5054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判断原则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18666" y="505460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优先相信同任务、同用户、同指标下的结果；厂商与媒体都只能证明各自层级。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3499" y="5435600"/>
              <a:ext cx="660979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最终结论：Agent 的竞争已进入上下文、执行、信任和交易闭环。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2924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完整链接均为可点击对象；证据等级和日期口径见 P20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competitor-v2">
  <a:themeElements>
    <a:clrScheme name="multimodal-competitor-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competitor-v2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competitor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2026-10-29T09:33:16Z</dcterms:created>
  <dcterms:modified xsi:type="dcterms:W3CDTF">2026-10-29T09:33:16Z</dcterms:modified>
  <cp:category/>
  <cp:contentStatus/>
</cp:coreProperties>
</file>