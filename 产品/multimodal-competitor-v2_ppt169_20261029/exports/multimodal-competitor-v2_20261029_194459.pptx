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ultimodal-competitor-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ultimodal-competitor-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www.apple.com/newsroom/2011/10/04Apple-Launches-iPhone-4S-iOS-5-iCloud/" TargetMode="External"/>
  <Relationship Id="rId3" Type="http://schemas.openxmlformats.org/officeDocument/2006/relationships/hyperlink" Target="https://www.amazon.science/blog/alexa-at-five-looking-back-looking-forward" TargetMode="External"/>
  <Relationship Id="rId4" Type="http://schemas.openxmlformats.org/officeDocument/2006/relationships/hyperlink" Target="https://blog.google/products-and-platforms/products/assistant/io-building-next-evolution-of-google/" TargetMode="External"/>
  <Relationship Id="rId5" Type="http://schemas.openxmlformats.org/officeDocument/2006/relationships/hyperlink" Target="https://blog.google/products-and-platforms/devices/google-lens/google-lens-real-time-answers-questions-about-world-around-you/" TargetMode="External"/>
  <Relationship Id="rId6" Type="http://schemas.openxmlformats.org/officeDocument/2006/relationships/hyperlink" Target="https://www.amazon.science/blog/how-voice-and-graphics-working-together-enhance-the-alexa-experience" TargetMode="External"/>
  <Relationship Id="rId7" Type="http://schemas.openxmlformats.org/officeDocument/2006/relationships/hyperlink" Target="https://openai.com/index/clip/" TargetMode="External"/>
  <Relationship Id="rId8" Type="http://schemas.openxmlformats.org/officeDocument/2006/relationships/hyperlink" Target="https://deepmind.google/blog/tackling-multiple-tasks-with-a-single-visual-language-model/" TargetMode="External"/>
  <Relationship Id="rId9" Type="http://schemas.openxmlformats.org/officeDocument/2006/relationships/hyperlink" Target="https://openai.com/index/gpt-4v-system-card/" TargetMode="External"/>
  <Relationship Id="rId10" Type="http://schemas.openxmlformats.org/officeDocument/2006/relationships/hyperlink" Target="https://blog.google/innovation-and-ai/technology/ai/google-gemini-ai/" TargetMode="External"/>
  <Relationship Id="rId11" Type="http://schemas.openxmlformats.org/officeDocument/2006/relationships/hyperlink" Target="https://about.fb.com/news/2026/09/introducing-muse-personal-ai-agent/" TargetMode="External"/>
  <Relationship Id="rId12" Type="http://schemas.openxmlformats.org/officeDocument/2006/relationships/hyperlink" Target="https://about.fb.com/news/2026/09/introducing-ray-ban-meta-audio-glasses-new-styles-plus-muse/" TargetMode="External"/>
  <Relationship Id="rId13" Type="http://schemas.openxmlformats.org/officeDocument/2006/relationships/hyperlink" Target="https://www.theinformation.com/briefings/metas-ray-ban-glasses-fall-flat-with-customers" TargetMode="External"/>
  <Relationship Id="rId14" Type="http://schemas.openxmlformats.org/officeDocument/2006/relationships/hyperlink" Target="https://www.theverge.com/news/614883/humane-ai-hp-acquisition-pin-shutdown" TargetMode="External"/>
  <Relationship Id="rId15" Type="http://schemas.openxmlformats.org/officeDocument/2006/relationships/hyperlink" Target="https://www.wired.com/review/rabbit-r1/" TargetMode="External"/>
  <Relationship Id="rId16" Type="http://schemas.openxmlformats.org/officeDocument/2006/relationships/hyperlink" Target="https://www.androidauthority.com/ray-ban-meta-smart-glasses-3462348/" TargetMode="External"/>
  <Relationship Id="rId17" Type="http://schemas.openxmlformats.org/officeDocument/2006/relationships/hyperlink" Target="https://www.theguardian.com/technology/2026/aug/06/meta-ai-smart-glasses-privacy" TargetMode="External"/>
  <Relationship Id="rId18" Type="http://schemas.openxmlformats.org/officeDocument/2006/relationships/hyperlink" Target="https://www.bemyeyes.com/news/announcing-be-my-ai-soon-available-for-hundreds-of-thousands-of-be-my-eyes-users/" TargetMode="External"/>
  <Relationship Id="rId19" Type="http://schemas.openxmlformats.org/officeDocument/2006/relationships/hyperlink" Target="https://www.10100.com/article/107889453" TargetMode="External"/>
  <Relationship Id="rId20" Type="http://schemas.openxmlformats.org/officeDocument/2006/relationships/hyperlink" Target="https://seed.bytedance.com/zh/blog/seedrealtime-audio-visual-full-duplex-llm-released-toward-omni-modal-natural-interaction" TargetMode="External"/>
  <Relationship Id="rId21" Type="http://schemas.openxmlformats.org/officeDocument/2006/relationships/hyperlink" Target="https://wallstreetcn.com/articles/3782418" TargetMode="External"/>
  <Relationship Id="rId22" Type="http://schemas.openxmlformats.org/officeDocument/2006/relationships/hyperlink" Target="https://www.fool.com/earnings/call-transcripts/2026/10/21/meta-meta-q3-2026-earnings-call-transcript/" TargetMode="Externa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rule"/>
          <p:cNvSpPr/>
          <p:nvPr/>
        </p:nvSpPr>
        <p:spPr>
          <a:xfrm>
            <a:off x="457200" y="400050"/>
            <a:ext cx="76200" cy="6057900"/>
          </a:xfrm>
          <a:prstGeom prst="rect">
            <a:avLst/>
          </a:prstGeom>
          <a:solidFill>
            <a:srgbClr val="C14E2C"/>
          </a:solidFill>
          <a:ln>
            <a:noFill/>
          </a:ln>
        </p:spPr>
      </p:sp>
      <p:grpSp>
        <p:nvGrpSpPr>
          <p:cNvPr id="9" name="cover-title"/>
          <p:cNvGrpSpPr/>
          <p:nvPr/>
        </p:nvGrpSpPr>
        <p:grpSpPr>
          <a:xfrm>
            <a:off x="781050" y="692150"/>
            <a:ext cx="5314950" cy="3181096"/>
            <a:chOff x="781050" y="692150"/>
            <a:chExt cx="5314950" cy="3181096"/>
          </a:xfrm>
        </p:grpSpPr>
        <p:sp>
          <p:nvSpPr>
            <p:cNvPr id="3" name="TextBox 3"/>
            <p:cNvSpPr txBox="1"/>
            <p:nvPr/>
          </p:nvSpPr>
          <p:spPr>
            <a:xfrm>
              <a:off x="794766" y="692150"/>
              <a:ext cx="2766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INTERNAL RESEARCH / V2 / 2026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81050" y="1187450"/>
              <a:ext cx="3124200" cy="1343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4050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多模态交互</a:t>
              </a:r>
              <a:br>
                <a:rPr lang="zh-CN" sz="4050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</a:br>
              <a:r>
                <a:rPr lang="zh-CN" sz="4050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竞品发展脉络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800100" y="23622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2480" y="248920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不是摄像头助手史，而是感知、对话、</a:t>
              </a:r>
              <a:b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行动和载体逐步汇合的历史。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4385" y="3213100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内部研究版：更密的产品覆盖、可核验年份、市场反响与证据边界。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4004" y="3638550"/>
              <a:ext cx="49085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核心问题不是“能不能多模态”，而是“能不能在真实任务里帮上忙”。</a:t>
              </a:r>
            </a:p>
          </p:txBody>
        </p:sp>
      </p:grpSp>
      <p:grpSp>
        <p:nvGrpSpPr>
          <p:cNvPr id="27" name="cover-tracks"/>
          <p:cNvGrpSpPr/>
          <p:nvPr/>
        </p:nvGrpSpPr>
        <p:grpSpPr>
          <a:xfrm>
            <a:off x="6657975" y="939800"/>
            <a:ext cx="4676775" cy="4701159"/>
            <a:chOff x="6657975" y="939800"/>
            <a:chExt cx="4676775" cy="4701159"/>
          </a:xfrm>
        </p:grpSpPr>
        <p:sp>
          <p:nvSpPr>
            <p:cNvPr id="10" name="TextBox 10"/>
            <p:cNvSpPr txBox="1"/>
            <p:nvPr/>
          </p:nvSpPr>
          <p:spPr>
            <a:xfrm>
              <a:off x="6662166" y="93980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五条并行主线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667500" y="120015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57975" y="1397000"/>
              <a:ext cx="108869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语音助手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80654" y="1466850"/>
              <a:ext cx="2980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Siri · Alexa · Google Assistant · Bixby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57975" y="1987550"/>
              <a:ext cx="215834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视觉搜索与无障碍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52154" y="2057400"/>
              <a:ext cx="2090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Lens · Seeing AI · Be My AI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7975" y="2578100"/>
              <a:ext cx="13561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语音加屏幕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80654" y="2647950"/>
              <a:ext cx="2551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Smart Display · Echo Show · APL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57975" y="3168650"/>
              <a:ext cx="13561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多模态模型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80654" y="3238500"/>
              <a:ext cx="26302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CLIP · Flamingo · GPT-4V · Gemini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7975" y="3759200"/>
              <a:ext cx="189092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实时与主动交互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81797" y="3867150"/>
              <a:ext cx="28998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GPT-4o · Muse · SeedRealtime · Guided Vision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667500" y="434340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61404" y="4514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判断标准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1785" y="4794250"/>
              <a:ext cx="33736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输入是否自然 · 上下文是否连续 · 结果是否可验证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1785" y="5060950"/>
              <a:ext cx="2898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失败能否纠正 · 设备与商业模式是否可持续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2166" y="5435600"/>
              <a:ext cx="34879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厂商“能做什么” ≠ 用户“会持续使用” ≠ 企业“愿意付费”</a:t>
              </a:r>
            </a:p>
          </p:txBody>
        </p:sp>
      </p:grpSp>
      <p:grpSp>
        <p:nvGrpSpPr>
          <p:cNvPr id="30" name="cover-footer"/>
          <p:cNvGrpSpPr/>
          <p:nvPr/>
        </p:nvGrpSpPr>
        <p:grpSpPr>
          <a:xfrm>
            <a:off x="795338" y="6267450"/>
            <a:ext cx="10544174" cy="176212"/>
            <a:chOff x="795338" y="6267450"/>
            <a:chExt cx="10544174" cy="176212"/>
          </a:xfrm>
        </p:grpSpPr>
        <p:sp>
          <p:nvSpPr>
            <p:cNvPr id="28" name="TextBox 28"/>
            <p:cNvSpPr txBox="1"/>
            <p:nvPr/>
          </p:nvSpPr>
          <p:spPr>
            <a:xfrm>
              <a:off x="795338" y="6267450"/>
              <a:ext cx="31212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资料：Research 多模态交互三份洞察 · 截至 2026-10-29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24108" y="626745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17408" cy="659892"/>
            <a:chOff x="559308" y="273050"/>
            <a:chExt cx="8217408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定义与总判断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17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多模态交互不是多一种输入，而是把五层能力连成闭环</a:t>
              </a:r>
            </a:p>
          </p:txBody>
        </p:sp>
      </p:grpSp>
      <p:grpSp>
        <p:nvGrpSpPr>
          <p:cNvPr id="27" name="five-layers"/>
          <p:cNvGrpSpPr/>
          <p:nvPr/>
        </p:nvGrpSpPr>
        <p:grpSpPr>
          <a:xfrm>
            <a:off x="565785" y="1250950"/>
            <a:ext cx="7092315" cy="4753928"/>
            <a:chOff x="565785" y="1250950"/>
            <a:chExt cx="7092315" cy="4753928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50950"/>
              <a:ext cx="8460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五层能力栈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43050"/>
              <a:ext cx="7086600" cy="74295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95706" y="15875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01 输入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8404" y="165735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看见、听见、触摸、指向、感知空间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9166" y="1949450"/>
              <a:ext cx="32889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 · 图像 · 视频 · 屏幕 · 文档 · ToF/IR · 多音区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2381250"/>
              <a:ext cx="7086600" cy="742950"/>
            </a:xfrm>
            <a:prstGeom prst="rect">
              <a:avLst/>
            </a:prstGeom>
            <a:solidFill>
              <a:srgbClr val="EEE7D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5706" y="2425700"/>
              <a:ext cx="11627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02 上下文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8404" y="24955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把画面、对话、账号和系统数据接在一起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166" y="2787650"/>
              <a:ext cx="3706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多轮指代 · 屏幕内容 · 工作数据 · 位置/日历 · 跨设备记忆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3219450"/>
              <a:ext cx="7086600" cy="74295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5706" y="32639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03 时序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8404" y="33337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一次识别、连续视频、打断接话与全双工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9166" y="3625850"/>
              <a:ext cx="32052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延迟 · 打断 · 镜头纠正 · 主动提醒 · 误触发与沉默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4057650"/>
              <a:ext cx="7086600" cy="742950"/>
            </a:xfrm>
            <a:prstGeom prst="rect">
              <a:avLst/>
            </a:prstGeom>
            <a:solidFill>
              <a:srgbClr val="EEE7D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5706" y="41021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04 行动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8404" y="41719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从给答案走向指导、调用工具、完成任务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9166" y="4464050"/>
              <a:ext cx="3728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回答 · 高亮 · 镜头引导 · 系统操作 · 人工接管 · 校验/撤销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4895850"/>
              <a:ext cx="7086600" cy="74295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5706" y="4940300"/>
              <a:ext cx="906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05 载体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8404" y="501015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手机、电脑、眼镜、电视、汽车和家庭设备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9166" y="5302250"/>
              <a:ext cx="35091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入口 · 权限 · 传感器 · 生态 · 旁观者隐私 · 分发与付费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785" y="5784850"/>
              <a:ext cx="3946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后续所有竞品都按这五层比较，而不是简单排成“谁最强”。</a:t>
              </a:r>
            </a:p>
          </p:txBody>
        </p:sp>
      </p:grpSp>
      <p:grpSp>
        <p:nvGrpSpPr>
          <p:cNvPr id="41" name="thesis"/>
          <p:cNvGrpSpPr/>
          <p:nvPr/>
        </p:nvGrpSpPr>
        <p:grpSpPr>
          <a:xfrm>
            <a:off x="8143494" y="1263650"/>
            <a:ext cx="3286506" cy="4775200"/>
            <a:chOff x="8143494" y="1263650"/>
            <a:chExt cx="3286506" cy="4775200"/>
          </a:xfrm>
        </p:grpSpPr>
        <p:sp>
          <p:nvSpPr>
            <p:cNvPr id="28" name="TextBox 28"/>
            <p:cNvSpPr txBox="1"/>
            <p:nvPr/>
          </p:nvSpPr>
          <p:spPr>
            <a:xfrm>
              <a:off x="8148066" y="126365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全片总判断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43494" y="1441450"/>
              <a:ext cx="2325434" cy="705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竞争已经</a:t>
              </a:r>
              <a:b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</a:br>
              <a:r>
                <a:rPr lang="zh-CN" sz="19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从“看见”转向“帮到”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153400" y="220980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46923" y="23241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已经发生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47685" y="2495550"/>
              <a:ext cx="2287270" cy="715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手机、眼镜、汽车和家庭终端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都能持续获取现场信息；语音、视觉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和屏幕开始进入同一个会话。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46923" y="32385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尚未证明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47685" y="3454400"/>
              <a:ext cx="2571750" cy="7534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独立任务成功率、端到端时延、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纠错后恢复、长期留存和人工接管成本，</a:t>
              </a:r>
              <a:b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以及 AI 视觉的单独付费意愿。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46923" y="4476750"/>
              <a:ext cx="22530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因此，三个问题决定产品价值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47685" y="4775200"/>
              <a:ext cx="2506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1　任务是否必须同时用到多种输入？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47685" y="5022850"/>
              <a:ext cx="2355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　系统能否发现失败并帮助恢复？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47685" y="5270500"/>
              <a:ext cx="2974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3　谁愿意为结果，而不是为“多模态”付费？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153400" y="5638800"/>
              <a:ext cx="3276600" cy="400050"/>
            </a:xfrm>
            <a:prstGeom prst="rect">
              <a:avLst/>
            </a:prstGeom>
            <a:solidFill>
              <a:srgbClr val="1F5A49">
                <a:alpha val="9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00085" y="574675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结论：技术供给在加速，价值证据仍稀缺。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2" name="TextBox 42"/>
            <p:cNvSpPr txBox="1"/>
            <p:nvPr/>
          </p:nvSpPr>
          <p:spPr>
            <a:xfrm>
              <a:off x="566738" y="6286500"/>
              <a:ext cx="37654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综合三份洞察报告；五层框架是本次汇报的整理，不是厂商官方分类。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534656" cy="659892"/>
            <a:chOff x="559308" y="273050"/>
            <a:chExt cx="753465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783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2011–2017 · 入口形成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5346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语音入口和视觉入口分别成立，但还没有真正融合</a:t>
              </a:r>
            </a:p>
          </p:txBody>
        </p:sp>
      </p:grpSp>
      <p:grpSp>
        <p:nvGrpSpPr>
          <p:cNvPr id="43" name="entry-tracks"/>
          <p:cNvGrpSpPr/>
          <p:nvPr/>
        </p:nvGrpSpPr>
        <p:grpSpPr>
          <a:xfrm>
            <a:off x="565404" y="1270000"/>
            <a:ext cx="11055096" cy="4456557"/>
            <a:chOff x="565404" y="1270000"/>
            <a:chExt cx="11055096" cy="44565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866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两条路线同时前进；它们解决的是“怎么问”，还不是“怎么把任务做完”。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19150" y="213360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35255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015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57396" y="2254250"/>
              <a:ext cx="342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Siri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8012" y="25209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语音助手进入手机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92430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83190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14690" y="2254250"/>
              <a:ext cx="11716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Amazon Echo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29762" y="25209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免手语音进入家庭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59130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9890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86779" y="2254250"/>
              <a:ext cx="15614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Assistant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96762" y="25209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跨手机与家庭设备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9639300" y="205740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46906" y="179705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412" y="2254250"/>
              <a:ext cx="496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0755" y="2520950"/>
              <a:ext cx="12494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语音连接手机与 IoT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19150" y="352425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495800" y="34480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80960" y="31877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29611" y="3644900"/>
              <a:ext cx="1084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Lens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94194" y="3911600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相机“看见”并搜索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448550" y="34480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33710" y="31877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08656" y="3644900"/>
              <a:ext cx="832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24688" y="39116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摄像头朗读世界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10306050" y="34480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091210" y="31877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63984" y="3644900"/>
              <a:ext cx="1036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 Voice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70161" y="39116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语音开始控制系统任务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1500" y="4362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5404" y="45339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这个阶段的真实结果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5404" y="485775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语音解决了免手提问，视觉解决了拍完再搜；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5404" y="5124450"/>
              <a:ext cx="5213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两者尚未共享连续上下文，也还没有“发现失败—纠正—完成任务”的闭环。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28154" y="48577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被验证的价值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28154" y="5124450"/>
              <a:ext cx="33157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免手操作 · 快速识物 · 无障碍朗读 · 设备控制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25868" y="5403850"/>
              <a:ext cx="33025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分：入口先赢，闭环尚未出现。</a:t>
              </a:r>
            </a:p>
          </p:txBody>
        </p:sp>
      </p:grpSp>
      <p:grpSp>
        <p:nvGrpSpPr>
          <p:cNvPr id="46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4" name="TextBox 44"/>
            <p:cNvSpPr txBox="1"/>
            <p:nvPr/>
          </p:nvSpPr>
          <p:spPr>
            <a:xfrm>
              <a:off x="566738" y="6286500"/>
              <a:ext cx="49213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来源：Apple 2011；Amazon 2014；Google 2016/2017；Samsung 2017；Microsoft 2017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70321" cy="659892"/>
            <a:chOff x="559308" y="273050"/>
            <a:chExt cx="8270321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783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2018–2019 · 实时叠加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703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实时取景与“语音＋屏幕”，把多模态推进到边看边操作</a:t>
              </a:r>
            </a:p>
          </p:txBody>
        </p:sp>
      </p:grpSp>
      <p:grpSp>
        <p:nvGrpSpPr>
          <p:cNvPr id="28" name="integration-2018-19"/>
          <p:cNvGrpSpPr/>
          <p:nvPr/>
        </p:nvGrpSpPr>
        <p:grpSpPr>
          <a:xfrm>
            <a:off x="563118" y="1270000"/>
            <a:ext cx="11057382" cy="4399407"/>
            <a:chOff x="563118" y="1270000"/>
            <a:chExt cx="11057382" cy="43994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3682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所谓“2017–2021 断档”，其实是被忽略的多轨整合期。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81150"/>
              <a:ext cx="11049000" cy="121920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3806" y="1644650"/>
              <a:ext cx="609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2018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3154" y="1733550"/>
              <a:ext cx="22192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进入手机相机并实时取景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13916" y="2006600"/>
              <a:ext cx="4615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Live viewfinder、智能文字选择；视觉搜索从“拍完再搜”变成持续取景。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89904" y="1733550"/>
              <a:ext cx="2943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Assistant Smart Display 上市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90666" y="2006600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语音结果可以同时显示在地图、视频、相册和摄像头画面上。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13154" y="2362200"/>
              <a:ext cx="1163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Alexa APL 发布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90666" y="238760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语音与屏幕图形开始被同一套多模态技能编排。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914650"/>
              <a:ext cx="11049000" cy="1219200"/>
            </a:xfrm>
            <a:prstGeom prst="rect">
              <a:avLst/>
            </a:prstGeom>
            <a:solidFill>
              <a:srgbClr val="C14E2C">
                <a:alpha val="7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3806" y="2978150"/>
              <a:ext cx="609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2019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3154" y="3067050"/>
              <a:ext cx="20576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实时翻译叠加到原画面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3916" y="3340100"/>
              <a:ext cx="46469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可自动识别语言，在 100+ 语言上直接覆盖译文；相机开始承担即时任务。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89904" y="3067050"/>
              <a:ext cx="935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APL 正式 GA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90666" y="3340100"/>
              <a:ext cx="42549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为 Echo Show、Fire TV 等设备提供图文、视频、动画和触控组合。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13154" y="369570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语音助手开始走向视觉化回答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90666" y="3721100"/>
              <a:ext cx="3297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但仍是“用户提问 → 屏幕展示”，执行闭环尚未形成。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71500" y="4362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5404" y="4514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真实进步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5404" y="481965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连续取景、画面叠加、语音与屏幕同帧出现。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13654" y="4514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仍未解决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13654" y="481965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跨应用行动、系统数据权限、错误发现和长期记忆。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118" y="5346700"/>
              <a:ext cx="6426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分：这两年不是空白，而是“看图”向“在画面上行动”的过渡。</a:t>
              </a:r>
            </a:p>
          </p:txBody>
        </p:sp>
      </p:grpSp>
      <p:grpSp>
        <p:nvGrpSpPr>
          <p:cNvPr id="31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29" name="TextBox 29"/>
            <p:cNvSpPr txBox="1"/>
            <p:nvPr/>
          </p:nvSpPr>
          <p:spPr>
            <a:xfrm>
              <a:off x="566738" y="6286500"/>
              <a:ext cx="47902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 Lens 2018/2019；Google Smart Display 2018；Amazon APL 2018/2019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876032" cy="659892"/>
            <a:chOff x="559308" y="273050"/>
            <a:chExt cx="787603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429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2020–2021 · 从屏幕到第一视角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设备开始跟随人，第一视角试水，模型底座同步换代</a:t>
              </a:r>
            </a:p>
          </p:txBody>
        </p:sp>
      </p:grpSp>
      <p:grpSp>
        <p:nvGrpSpPr>
          <p:cNvPr id="39" name="period-2020-21"/>
          <p:cNvGrpSpPr/>
          <p:nvPr/>
        </p:nvGrpSpPr>
        <p:grpSpPr>
          <a:xfrm>
            <a:off x="563118" y="1270000"/>
            <a:ext cx="11057382" cy="4578350"/>
            <a:chOff x="563118" y="1270000"/>
            <a:chExt cx="11057382" cy="457835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205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2020–2021 同时出现“更自然的设备”和“更好的模型”，但产品价值仍然分裂。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66750" y="177165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95750" y="1619250"/>
              <a:ext cx="9525" cy="4229100"/>
            </a:xfrm>
            <a:custGeom>
              <a:avLst/>
              <a:gdLst/>
              <a:ahLst/>
              <a:cxnLst/>
              <a:rect l="l" t="t" r="r" b="b"/>
              <a:pathLst>
                <a:path w="9525" h="4229100">
                  <a:moveTo>
                    <a:pt x="0" y="0"/>
                  </a:moveTo>
                  <a:lnTo>
                    <a:pt x="0" y="4229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810500" y="1619250"/>
              <a:ext cx="9525" cy="4229100"/>
            </a:xfrm>
            <a:custGeom>
              <a:avLst/>
              <a:gdLst/>
              <a:ahLst/>
              <a:cxnLst/>
              <a:rect l="l" t="t" r="r" b="b"/>
              <a:pathLst>
                <a:path w="9525" h="4229100">
                  <a:moveTo>
                    <a:pt x="0" y="0"/>
                  </a:moveTo>
                  <a:lnTo>
                    <a:pt x="0" y="4229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1416" y="1930400"/>
              <a:ext cx="1435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2020 · 屏幕与场景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7606" y="2139950"/>
              <a:ext cx="18026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Echo Show 10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54635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屏幕可跟随用户移动；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1035" y="2794000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语音、屏幕和位置感知进入家庭空间。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035" y="3194050"/>
              <a:ext cx="9000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 Lens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035" y="34607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学习、购物、居家办公；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035" y="37084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视觉输入开始绑定具体任务。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035" y="41656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反响判断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035" y="4432300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设备更自然，但仍主要服务问答、内容和小任务。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80916" y="1930400"/>
              <a:ext cx="15971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 · 第一视角试水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77106" y="2139950"/>
              <a:ext cx="22047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Ray-Ban Stories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80535" y="2546350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摄像头+耳机+语音，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80535" y="27940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第一视角硬件进入日常眼镜。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80535" y="31940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使用结果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80535" y="3460750"/>
              <a:ext cx="22504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约 30 万销量，但月活不足 10%。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80535" y="37084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连接、续航、隐私和任务价值不足。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80535" y="41656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关键教训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80535" y="4432300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新硬件必须先通过“比手机更省事”的门槛。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95666" y="1930400"/>
              <a:ext cx="12740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2021 · 模型底座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91856" y="2139950"/>
              <a:ext cx="654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CLIP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95285" y="2546350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用 4 亿图文对学习共同表示；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95285" y="27940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图像与文字第一次共享可检索语义空间。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95285" y="319405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当时的产品含义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95285" y="34607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提升识别与零样本分类能力，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95285" y="37084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但还不是面向用户的实时交互系统。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95285" y="41656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后续影响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95285" y="4432300"/>
              <a:ext cx="33091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为 2022 Flamingo、2023 GPT-4V/Gemini 铺路。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1500" y="5010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5404" y="5200650"/>
              <a:ext cx="5045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看似没有“爆款”的两年，实际同时积累了设备、场景和模型三块拼图。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3118" y="5518150"/>
              <a:ext cx="5300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分：2017–2021 是能力汇合期，不是时间线断档。</a:t>
              </a:r>
            </a:p>
          </p:txBody>
        </p:sp>
      </p:grpSp>
      <p:grpSp>
        <p:nvGrpSpPr>
          <p:cNvPr id="42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0" name="TextBox 40"/>
            <p:cNvSpPr txBox="1"/>
            <p:nvPr/>
          </p:nvSpPr>
          <p:spPr>
            <a:xfrm>
              <a:off x="566738" y="6286500"/>
              <a:ext cx="41062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来源：Amazon 2020；Google 2020；Meta 2021；OpenAI 2021；WSJ 转引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5827776" cy="659892"/>
            <a:chOff x="559308" y="273050"/>
            <a:chExt cx="582777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429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2022–2023 · 多模态模型产品化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58277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视觉语言模型让图像成为可对话上下文</a:t>
              </a:r>
            </a:p>
          </p:txBody>
        </p:sp>
      </p:grpSp>
      <p:grpSp>
        <p:nvGrpSpPr>
          <p:cNvPr id="38" name="model-to-product"/>
          <p:cNvGrpSpPr/>
          <p:nvPr/>
        </p:nvGrpSpPr>
        <p:grpSpPr>
          <a:xfrm>
            <a:off x="565404" y="1270000"/>
            <a:ext cx="11055096" cy="4521200"/>
            <a:chOff x="565404" y="1270000"/>
            <a:chExt cx="11055096" cy="452120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2022 年先完成模型能力跃迁，2023 年才把它变成普通用户可调用的产品。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57250" y="2266950"/>
              <a:ext cx="10382250" cy="9525"/>
            </a:xfrm>
            <a:custGeom>
              <a:avLst/>
              <a:gdLst/>
              <a:ahLst/>
              <a:cxnLst/>
              <a:rect l="l" t="t" r="r" b="b"/>
              <a:pathLst>
                <a:path w="10382250" h="9525">
                  <a:moveTo>
                    <a:pt x="0" y="0"/>
                  </a:moveTo>
                  <a:lnTo>
                    <a:pt x="1038225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733550" y="219075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187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2022.04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2653" y="2393950"/>
              <a:ext cx="10541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Flamingo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00140" y="2749550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图文/视频交错输入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5634" y="297815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少样本完成多种视觉语言任务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591050" y="2190750"/>
              <a:ext cx="152400" cy="15240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762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2023.03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39779" y="2393950"/>
              <a:ext cx="16549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AI 测试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39426" y="2749550"/>
              <a:ext cx="1455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GPT-4 驱动的视觉助手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13810" y="297815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无障碍场景先跑通多轮解释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448550" y="21907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37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2023.09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22626" y="2393950"/>
              <a:ext cx="10042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GPT-4V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80546" y="2749550"/>
              <a:ext cx="1888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ChatGPT 可看图、听声、说话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2661" y="29781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视觉成为通用会话输入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0306050" y="2190750"/>
              <a:ext cx="152400" cy="15240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91210" y="1930400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2023.12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42169" y="2393950"/>
              <a:ext cx="1280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1.0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82188" y="27495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原生多模态模型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12195" y="2978150"/>
              <a:ext cx="1940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文本/图像/音频/视频统一建模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71500" y="35623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5404" y="37338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体验发生了什么变化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5404" y="4038600"/>
              <a:ext cx="45677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从“识别一张图”变成“围绕图片连续问、补充背景、重新聚焦”；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5404" y="430530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从固定视觉任务变成自然语言定义的开放任务。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85154" y="37338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但还没有解决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85154" y="403860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实时视频、打断接话、动作执行、失败恢复和任务级验证；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85154" y="430530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厂商演示也尚未等于稳定用户体验。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4838700"/>
              <a:ext cx="11049000" cy="95250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6854" y="49911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证据等级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13535" y="5003800"/>
              <a:ext cx="6124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Flamingo：研究发布 · GPT-4V/Gemini：官方能力发布 · Be My AI：真实用户反馈相对更强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4568" y="5251450"/>
              <a:ext cx="61036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分：2023 年解决了“能对话”，还没有解决“能持续协作”。</a:t>
              </a:r>
            </a:p>
          </p:txBody>
        </p:sp>
      </p:grpSp>
      <p:grpSp>
        <p:nvGrpSpPr>
          <p:cNvPr id="41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9" name="TextBox 39"/>
            <p:cNvSpPr txBox="1"/>
            <p:nvPr/>
          </p:nvSpPr>
          <p:spPr>
            <a:xfrm>
              <a:off x="566738" y="6286500"/>
              <a:ext cx="39260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来源：DeepMind 2022；OpenAI 2023；Google 2023；Be My Eyes 2023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193280" cy="659892"/>
            <a:chOff x="559308" y="273050"/>
            <a:chExt cx="719328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081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 · 实时多模态进入平台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1932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现场共享成为助手能力，但执行边界被明确划出</a:t>
              </a:r>
            </a:p>
          </p:txBody>
        </p:sp>
      </p:grpSp>
      <p:grpSp>
        <p:nvGrpSpPr>
          <p:cNvPr id="41" name="platform-six"/>
          <p:cNvGrpSpPr/>
          <p:nvPr/>
        </p:nvGrpSpPr>
        <p:grpSpPr>
          <a:xfrm>
            <a:off x="563118" y="1270000"/>
            <a:ext cx="11057382" cy="4589907"/>
            <a:chOff x="563118" y="1270000"/>
            <a:chExt cx="11057382" cy="45899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85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同一年的六个产品，分别回答“怎么实时看、谁有上下文、谁负责执行”。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219575" y="1562100"/>
              <a:ext cx="9525" cy="4114800"/>
            </a:xfrm>
            <a:custGeom>
              <a:avLst/>
              <a:gdLst/>
              <a:ahLst/>
              <a:cxnLst/>
              <a:rect l="l" t="t" r="r" b="b"/>
              <a:pathLst>
                <a:path w="9525"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934325" y="1562100"/>
              <a:ext cx="9525" cy="4114800"/>
            </a:xfrm>
            <a:custGeom>
              <a:avLst/>
              <a:gdLst/>
              <a:ahLst/>
              <a:cxnLst/>
              <a:rect l="l" t="t" r="r" b="b"/>
              <a:pathLst>
                <a:path w="9525" h="4114800">
                  <a:moveTo>
                    <a:pt x="0" y="0"/>
                  </a:moveTo>
                  <a:lnTo>
                    <a:pt x="0" y="41148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3638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3118" y="1631950"/>
              <a:ext cx="9606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GPT-4o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166" y="1968500"/>
              <a:ext cx="12697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 · 2024.05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785" y="22415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语音、视频、文本低延迟互动；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785" y="24892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强调自然打断与实时对话。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288290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证据：官方发布；任务成功率待独立验证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20743" y="1631950"/>
              <a:ext cx="23682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Live / Astra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23791" y="1968500"/>
              <a:ext cx="15443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 · 2024.05 演示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23410" y="224155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摄像头与屏幕共享；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23410" y="248920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围绕当前画面连续对话。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23791" y="2882900"/>
              <a:ext cx="26301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后续 2025 扩大上线；2026 Guided Vision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35493" y="1631950"/>
              <a:ext cx="29299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Apple Visual Intelligence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38541" y="1968500"/>
              <a:ext cx="11364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 · 2024.12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38160" y="2241550"/>
              <a:ext cx="1634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Camera Control 触发；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38160" y="24892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地点、翻译、识物、视觉搜索。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38541" y="28829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更偏单次工具，持续协作较少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3118" y="3727450"/>
              <a:ext cx="16586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Copilot Vision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166" y="4064000"/>
              <a:ext cx="14892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Microsoft · 2024.12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785" y="433705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屏幕/摄像头＋工作数据；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5785" y="45847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可高亮，但不代替点击和输入。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166" y="49784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价值：上下文最强；边界：行动不闭合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20743" y="3727450"/>
              <a:ext cx="17035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Humane AI Pin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23791" y="4064000"/>
              <a:ext cx="19786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2024.04 上市 · 2025.02 停服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23410" y="43370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激光投影、语音与摄像头；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23410" y="45847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试图替代手机，但可靠性差。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23791" y="49784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独立评测差；高价和依赖云端放大风险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35493" y="3727450"/>
              <a:ext cx="11805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Rabbit R1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38541" y="4064000"/>
              <a:ext cx="9912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CES 2024 发布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38160" y="4337050"/>
              <a:ext cx="21687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语音与“Large Action Model”；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38160" y="4584700"/>
              <a:ext cx="231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承诺跨 App 行动，初期交付有限。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38541" y="4978400"/>
              <a:ext cx="29670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回应：Bug、延迟；后被指核心为 Android 应用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71500" y="5410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3118" y="5537200"/>
              <a:ext cx="77626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分：平台助手证明实时上下文可行；专用 AI 硬件证明“新入口”不是价值。</a:t>
              </a:r>
            </a:p>
          </p:txBody>
        </p:sp>
      </p:grpSp>
      <p:grpSp>
        <p:nvGrpSpPr>
          <p:cNvPr id="44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2" name="TextBox 42"/>
            <p:cNvSpPr txBox="1"/>
            <p:nvPr/>
          </p:nvSpPr>
          <p:spPr>
            <a:xfrm>
              <a:off x="566738" y="6286500"/>
              <a:ext cx="42500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来源：OpenAI；Google；Apple；Microsoft；The Verge / WIRED 等独立评测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786909" cy="659892"/>
            <a:chOff x="559308" y="273050"/>
            <a:chExt cx="8786909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429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2025–2026 · 设备化与主动交互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78690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多模态进入终端，竞争焦点转向全情境 Agent 与行动网络</a:t>
              </a:r>
            </a:p>
          </p:txBody>
        </p:sp>
      </p:grpSp>
      <p:grpSp>
        <p:nvGrpSpPr>
          <p:cNvPr id="56" name="terminal-and-interaction"/>
          <p:cNvGrpSpPr/>
          <p:nvPr/>
        </p:nvGrpSpPr>
        <p:grpSpPr>
          <a:xfrm>
            <a:off x="563118" y="1270000"/>
            <a:ext cx="11057382" cy="4799457"/>
            <a:chOff x="563118" y="1270000"/>
            <a:chExt cx="11057382" cy="47994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60160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终端路线决定“在哪里感知”，Muse 进一步把入口推进为跨 App、可持续执行的个人代理。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6166" y="1625600"/>
              <a:ext cx="16030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终端与 Agent 时间线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81050" y="2457450"/>
              <a:ext cx="10648950" cy="9525"/>
            </a:xfrm>
            <a:custGeom>
              <a:avLst/>
              <a:gdLst/>
              <a:ahLst/>
              <a:cxnLst/>
              <a:rect l="l" t="t" r="r" b="b"/>
              <a:pathLst>
                <a:path w="10648950" h="9525">
                  <a:moveTo>
                    <a:pt x="0" y="0"/>
                  </a:moveTo>
                  <a:lnTo>
                    <a:pt x="1064895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266825" y="239077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83847" y="21526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2025.05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2718" y="2603500"/>
              <a:ext cx="120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 铺开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2524" y="2838450"/>
              <a:ext cx="681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摄像头/屏幕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552825" y="239077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69847" y="21526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2025.08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36849" y="26035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小艺看世界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11842" y="283845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实时＋指向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838825" y="239077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12729" y="2152650"/>
              <a:ext cx="7855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2025.09 / 11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72834" y="2603500"/>
              <a:ext cx="1265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Display / 夸克 S1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70627" y="2838450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近眼/导航/支付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124825" y="2390775"/>
              <a:ext cx="133350" cy="133350"/>
            </a:xfrm>
            <a:prstGeom prst="ellipse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41847" y="21526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2026.08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2394" y="2603500"/>
              <a:ext cx="1018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SeedRealtime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23264" y="283845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全双工音视频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10391775" y="2371725"/>
              <a:ext cx="171450" cy="17145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27847" y="215265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36028" y="2603500"/>
              <a:ext cx="8829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Muse + 眼镜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82985" y="2838450"/>
              <a:ext cx="9890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全情境个人 Agent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" y="3257550"/>
              <a:ext cx="11049000" cy="1657350"/>
            </a:xfrm>
            <a:prstGeom prst="rect">
              <a:avLst/>
            </a:prstGeom>
            <a:solidFill>
              <a:srgbClr val="C14E2C">
                <a:alpha val="6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7616" y="3397250"/>
              <a:ext cx="2541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Meta Muse：2026 年的关键跃迁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363855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从问答到后台执行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8188" y="3905250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计划、浏览器、跨应用、多步任务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8188" y="4095750"/>
              <a:ext cx="186232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关闭 App 后继续；敏感动作先确认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8188" y="4286250"/>
              <a:ext cx="19397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Secure VM、Sentinel、权限与审计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8188" y="4552950"/>
              <a:ext cx="19639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Reuters：human concierge 测试中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79723" y="363855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公司自报早期信号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81438" y="3905250"/>
              <a:ext cx="18208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美加六周 1000 万设置；25% 日活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881438" y="4095750"/>
              <a:ext cx="18571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购物最常见，平均客单超 200 美元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881438" y="4286250"/>
              <a:ext cx="14815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设置量 ≠ 下载、月活或留存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81438" y="4552950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缺独立审计与交易结果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65773" y="36385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设备分层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7488" y="3905250"/>
              <a:ext cx="21635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Audio：无摄像头、43g、12h、349 美元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67488" y="4095750"/>
              <a:ext cx="19077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Gen 3：保留 12MP 相机、449 美元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7488" y="4286250"/>
              <a:ext cx="18390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隐私/价格/续航与视觉能力被分层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7488" y="4552950"/>
              <a:ext cx="14685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眼镜端 Muse 尚未全量上线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18523" y="3638550"/>
              <a:ext cx="16049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下一步：Agent 网络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20238" y="3905250"/>
              <a:ext cx="1482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Network / Personal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20238" y="4095750"/>
              <a:ext cx="8894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Agent Protocol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20238" y="4286250"/>
              <a:ext cx="1510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亲友与商家 Agent 协商交易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20238" y="4552950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路线图，不是已交付能力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571500" y="5105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65785" y="52705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已经看到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65785" y="5537200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更低延迟、全双工、镜头纠错、主动提醒、后台执行和商业化入口。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85535" y="52705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仍未公开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85535" y="5537200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独立成功率、误打扰、人工接管率、隐私成本、交易费率与复购。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3118" y="5746750"/>
              <a:ext cx="81016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分：2026 的分水岭不是“看见”，而是持续上下文、后台执行与 Agent 协作。</a:t>
              </a:r>
            </a:p>
          </p:txBody>
        </p:sp>
      </p:grpSp>
      <p:grpSp>
        <p:nvGrpSpPr>
          <p:cNvPr id="59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57" name="TextBox 57"/>
            <p:cNvSpPr txBox="1"/>
            <p:nvPr/>
          </p:nvSpPr>
          <p:spPr>
            <a:xfrm>
              <a:off x="566738" y="6286500"/>
              <a:ext cx="46546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来源：Google；华为；Meta；夸克；字节 Seed；Snap；独立实测（日期口径见 P20）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169152" cy="659892"/>
            <a:chOff x="559308" y="273050"/>
            <a:chExt cx="616915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竞品全景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1691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五类玩家构成多模态交互的真实竞争地图</a:t>
              </a:r>
            </a:p>
          </p:txBody>
        </p:sp>
      </p:grpSp>
      <p:grpSp>
        <p:nvGrpSpPr>
          <p:cNvPr id="68" name="five-category-map"/>
          <p:cNvGrpSpPr/>
          <p:nvPr/>
        </p:nvGrpSpPr>
        <p:grpSpPr>
          <a:xfrm>
            <a:off x="565404" y="1270000"/>
            <a:ext cx="11122020" cy="4525328"/>
            <a:chOff x="565404" y="1270000"/>
            <a:chExt cx="11122020" cy="4525328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6210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同一列表中不可直接排名：系统助手的终端入口、硬件的传感器、基础设施的 API 是不同层。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264795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80060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95325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105900" y="15811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6166" y="1720850"/>
              <a:ext cx="1246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系统 / App 助手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404" y="2038350"/>
              <a:ext cx="9127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166" y="2292350"/>
              <a:ext cx="16364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ChatGPT / SeedRealtime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2520950"/>
              <a:ext cx="15302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/ 小艺 / 超级小爱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785" y="2736850"/>
              <a:ext cx="10768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 / Bixby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5785" y="2965450"/>
              <a:ext cx="1758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Apple Visual Intelligence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616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竞争点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547" y="3638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入口、系统权限和数据；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6547" y="38290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账号与连续对话。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616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6166" y="43116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独立任务成功率与付费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95016" y="1720850"/>
              <a:ext cx="865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眼镜 / 穿戴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94254" y="2038350"/>
              <a:ext cx="11420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94635" y="2279650"/>
              <a:ext cx="9330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Meta Display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94635" y="2508250"/>
              <a:ext cx="1757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Android XR / Snap Specs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94635" y="2736850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华为眼镜 / 小米 / 夸克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94635" y="2965450"/>
              <a:ext cx="18539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Glass / Stories / Pin / R1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9501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竞争点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95397" y="3638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第一视角、免手、显示；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95397" y="38290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佩戴舒适度与生态。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9501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95016" y="431165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留存、日常频次、隐私接受度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47666" y="1720850"/>
              <a:ext cx="865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电视 / 家庭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46904" y="2038350"/>
              <a:ext cx="1441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Samsung Vision AI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47285" y="2279650"/>
              <a:ext cx="1371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海信星海+DeepSeek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47285" y="25082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小度超能小度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47666" y="29781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主要任务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48047" y="32004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内容问答、点选搜索、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48047" y="33909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看护与陪伴。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47666" y="36258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核心风险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48047" y="38481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多数任务手机可替代；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48047" y="40386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摄像头隐私敏感。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47666" y="43116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多数只有厂商功能材料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00316" y="1720850"/>
              <a:ext cx="865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汽车 / 空间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99554" y="20383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理想同学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9935" y="2279650"/>
              <a:ext cx="735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蔚来 NOMI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00316" y="2749550"/>
              <a:ext cx="17764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多音区麦克风 + 3D ToF + IR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00316" y="297815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判断谁、坐哪、指向哪、需要什么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0031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00697" y="3638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手机没有的空间、位置；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00697" y="38290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车身上下文更完整。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0031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核心风险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00316" y="4311650"/>
              <a:ext cx="1961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车规、安全、隐私与 OEM 绑定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52966" y="1720850"/>
              <a:ext cx="13502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基础设施 / 无障碍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52204" y="2038350"/>
              <a:ext cx="1616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 / Be My AI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52585" y="2279650"/>
              <a:ext cx="2416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vivo 看见 / Be My Eyes Workplace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52585" y="2508250"/>
              <a:ext cx="1470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TwelveLabs / 拍立淘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52585" y="2736850"/>
              <a:ext cx="2434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Vision-Agents / LiveKit / Pipecat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52585" y="2965450"/>
              <a:ext cx="1367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Dograh / VLX-Flow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52966" y="34163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竞争点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53347" y="36385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模型、传输、编排、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53347" y="38290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检索与垂直服务。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252966" y="4064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53347" y="42862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总成本、延迟、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53347" y="44767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生产案例与付费。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571500" y="5105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65404" y="5276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比较原则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65785" y="5575300"/>
              <a:ext cx="8228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同层比较；记录输入、上下文、行动、载体、商业模式与证据强度。仓库 star、功能上线和厂商演示都不能代替真实采用。</a:t>
              </a:r>
            </a:p>
          </p:txBody>
        </p:sp>
      </p:grpSp>
      <p:grpSp>
        <p:nvGrpSpPr>
          <p:cNvPr id="71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69" name="TextBox 69"/>
            <p:cNvSpPr txBox="1"/>
            <p:nvPr/>
          </p:nvSpPr>
          <p:spPr>
            <a:xfrm>
              <a:off x="566738" y="6286500"/>
              <a:ext cx="32565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来源：2026-10-28 全球竞品报告及产品层、开源产品化报告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09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510528" cy="659892"/>
            <a:chOff x="559308" y="273050"/>
            <a:chExt cx="6510528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2386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系统与 App 助手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510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强在入口和上下文权限，弱在独立任务证据</a:t>
              </a:r>
            </a:p>
          </p:txBody>
        </p:sp>
      </p:grpSp>
      <p:grpSp>
        <p:nvGrpSpPr>
          <p:cNvPr id="54" name="assistant-matrix"/>
          <p:cNvGrpSpPr/>
          <p:nvPr/>
        </p:nvGrpSpPr>
        <p:grpSpPr>
          <a:xfrm>
            <a:off x="563118" y="1270000"/>
            <a:ext cx="11121466" cy="4666107"/>
            <a:chOff x="563118" y="1270000"/>
            <a:chExt cx="11121466" cy="46661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002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同样是“看见并回答”，系统权限和行动边界决定它们其实不是同一类产品。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619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B6AEA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547" y="17335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产品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81047" y="1733550"/>
              <a:ext cx="6969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输入 / 交互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57547" y="1733550"/>
              <a:ext cx="8288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上下文 / 行动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05547" y="17335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主要场景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91547" y="17335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证据状态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4642" y="1993900"/>
              <a:ext cx="1117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Gemini Live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80666" y="20447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语音＋摄像头／屏幕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7166" y="2044700"/>
              <a:ext cx="20602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连续画面；2026 可主动纠正镜头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05166" y="20447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日常看、找物、读字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91547" y="20574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上线；独立指标少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4642" y="2432050"/>
              <a:ext cx="8850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ChatGPT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80666" y="24828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语音＋图像／实时视频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57166" y="248285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通用多轮；依赖用户提供上下文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05166" y="24828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通用探索、学习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91547" y="24955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功能强；任务证据少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4642" y="2870200"/>
              <a:ext cx="12057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小艺 / 看世界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80666" y="29210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语音＋实时视频＋指向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57166" y="2921000"/>
              <a:ext cx="17210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天气/日历/位置等系统服务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05166" y="29210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旅游、日常、无障碍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91547" y="2933700"/>
              <a:ext cx="14215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来源冲突：静态 vs 实时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4642" y="3308350"/>
              <a:ext cx="23972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Apple Visual Intelligence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80666" y="3359150"/>
              <a:ext cx="1673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Camera Control 单次触发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57166" y="335915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地点、翻译、识物、搜索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5166" y="33591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快速识物、跨语言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91547" y="33718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工具化；持续协作少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4642" y="3746500"/>
              <a:ext cx="1357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Copilot Vision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80666" y="3797300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语音＋桌面/手机画面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57166" y="37973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工作数据；高亮但不点击输入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05166" y="37973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知识工作、屏幕协作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091547" y="38100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上下文强；执行未闭合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4642" y="4184650"/>
              <a:ext cx="523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Muse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280666" y="4235450"/>
              <a:ext cx="1741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语音＋App/网页，后续眼镜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57166" y="4235450"/>
              <a:ext cx="17846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后台多步；支付/邮件需确认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05166" y="423545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购物、生产力、日历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91547" y="4248150"/>
              <a:ext cx="14874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1000万设置；待独立验证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64642" y="4622800"/>
              <a:ext cx="15492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Bixby / 超级小爱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80666" y="4673600"/>
              <a:ext cx="1657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相机/文档/圈屏/设备入口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57166" y="467360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系统任务、陪伴与设备生态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05166" y="46736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手机与家庭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091547" y="4686300"/>
              <a:ext cx="10851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官方宣传 → 待实测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64642" y="5060950"/>
              <a:ext cx="1329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SeedRealtime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280666" y="51117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连续音视频全双工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57166" y="511175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边看边听边说；持续判断接话时机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05166" y="51117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陪伴、实时指导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91547" y="512445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官方称量产；缺少独立测试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571500" y="5524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3118" y="5613400"/>
              <a:ext cx="7761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分：平台助手正在商品化；差异化落在系统权限、失败恢复和可验证任务。</a:t>
              </a:r>
            </a:p>
          </p:txBody>
        </p:sp>
      </p:grpSp>
      <p:grpSp>
        <p:nvGrpSpPr>
          <p:cNvPr id="57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566738" y="6286500"/>
              <a:ext cx="32807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来源：全球竞品报告；产品层报告；各厂商官方与第三方评测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876032" cy="659892"/>
            <a:chOff x="559308" y="273050"/>
            <a:chExt cx="787603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眼镜与可穿戴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第一视角入口正在成立，但日常价值还没有统一答案</a:t>
              </a:r>
            </a:p>
          </p:txBody>
        </p:sp>
      </p:grpSp>
      <p:grpSp>
        <p:nvGrpSpPr>
          <p:cNvPr id="31" name="wearable-tiers"/>
          <p:cNvGrpSpPr/>
          <p:nvPr/>
        </p:nvGrpSpPr>
        <p:grpSpPr>
          <a:xfrm>
            <a:off x="563118" y="1270000"/>
            <a:ext cx="11057382" cy="4666107"/>
            <a:chOff x="563118" y="1270000"/>
            <a:chExt cx="11057382" cy="46661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152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成功与失败的关键不在是否“像眼镜”，而在能否借用熟悉形态完成明确任务。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81150"/>
              <a:ext cx="11049000" cy="116205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616" y="172085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较强反响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84273" y="1695450"/>
              <a:ext cx="270683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 / Display / Audio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85416" y="1968500"/>
              <a:ext cx="46146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摄像头版销量增长；Display 增加导航、字幕；Audio 是无摄像头新 SKU。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85416" y="2216150"/>
              <a:ext cx="46808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Audio：349 美元、43g、12h；摄像头版 Gen 3 仍保留 449 美元与 12MP。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75523" y="1695450"/>
              <a:ext cx="119763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Muse 接入眼镜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77047" y="1955800"/>
              <a:ext cx="1646555" cy="382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App：六周 1000 万设置</a:t>
              </a:r>
              <a:b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25% 日活；眼镜端尚未铺开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77238" y="2286000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公司口径；不等于眼镜销量或留存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876550"/>
              <a:ext cx="11049000" cy="1162050"/>
            </a:xfrm>
            <a:prstGeom prst="rect">
              <a:avLst/>
            </a:prstGeom>
            <a:solidFill>
              <a:srgbClr val="C14E2C">
                <a:alpha val="7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7616" y="3016250"/>
              <a:ext cx="102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混合 / 待验证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84273" y="2990850"/>
              <a:ext cx="210797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Android XR · Snap Specs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85035" y="3270250"/>
              <a:ext cx="52599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Gemini 第一视角共享；AR 主动提醒。能力有差异，上市范围与真实留存有限。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99023" y="2990850"/>
              <a:ext cx="146297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华为 / 小米 / 夸克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9785" y="3270250"/>
              <a:ext cx="5288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实时画面、近眼导航、支付与购物生态；同时存在续航、显示和平台封闭限制。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85416" y="364490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共同问题：缺少同任务、同网络条件下的长期使用对比。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" y="4171950"/>
              <a:ext cx="11049000" cy="1162050"/>
            </a:xfrm>
            <a:prstGeom prst="rect">
              <a:avLst/>
            </a:prstGeom>
            <a:solidFill>
              <a:srgbClr val="A33B27">
                <a:alpha val="6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7616" y="4311650"/>
              <a:ext cx="1188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明显失败 / 反例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84273" y="4286250"/>
              <a:ext cx="108228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Glass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85035" y="4565650"/>
              <a:ext cx="39014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高价、社交尴尬、隐私；消费版退场，企业版 2023 停售。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99023" y="4286250"/>
              <a:ext cx="14334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Stories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99785" y="4565650"/>
              <a:ext cx="3456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约 30 万销量，月活不足 10%；功能价值弱于手机。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84273" y="4972050"/>
              <a:ext cx="22158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Humane AI Pin · Rabbit R1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99785" y="4984750"/>
              <a:ext cx="4347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以新设备替代手机：Pin 不到一年停服；R1 初审 Bug/延迟严重。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71500" y="5524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3118" y="5613400"/>
              <a:ext cx="78955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分：眼镜成功的前提是“现有形态 + 明确任务 + 可控隐私”，不是更大屏幕。</a:t>
              </a:r>
            </a:p>
          </p:txBody>
        </p:sp>
      </p:grpSp>
      <p:grpSp>
        <p:nvGrpSpPr>
          <p:cNvPr id="34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2" name="TextBox 32"/>
            <p:cNvSpPr txBox="1"/>
            <p:nvPr/>
          </p:nvSpPr>
          <p:spPr>
            <a:xfrm>
              <a:off x="566738" y="6286500"/>
              <a:ext cx="44615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来源：Meta/EssilorLuxottica；Google；The Information/WSJ 转引；独立评测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876032" cy="659892"/>
            <a:chOff x="559308" y="273050"/>
            <a:chExt cx="787603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电视与家庭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家庭终端的优势是入口现成，风险是任务被手机替代</a:t>
              </a:r>
            </a:p>
          </p:txBody>
        </p:sp>
      </p:grpSp>
      <p:grpSp>
        <p:nvGrpSpPr>
          <p:cNvPr id="45" name="tv-home"/>
          <p:cNvGrpSpPr/>
          <p:nvPr/>
        </p:nvGrpSpPr>
        <p:grpSpPr>
          <a:xfrm>
            <a:off x="562356" y="1270000"/>
            <a:ext cx="11058144" cy="4647057"/>
            <a:chOff x="562356" y="1270000"/>
            <a:chExt cx="11058144" cy="46470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303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家庭场景真正可防御的是“大屏＋共享环境＋持续看护”，而不是重复手机问答。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191000" y="1581150"/>
              <a:ext cx="9525" cy="4057650"/>
            </a:xfrm>
            <a:custGeom>
              <a:avLst/>
              <a:gdLst/>
              <a:ahLst/>
              <a:cxnLst/>
              <a:rect l="l" t="t" r="r" b="b"/>
              <a:pathLst>
                <a:path w="9525" h="4057650">
                  <a:moveTo>
                    <a:pt x="0" y="0"/>
                  </a:moveTo>
                  <a:lnTo>
                    <a:pt x="0" y="40576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905750" y="1581150"/>
              <a:ext cx="9525" cy="4057650"/>
            </a:xfrm>
            <a:custGeom>
              <a:avLst/>
              <a:gdLst/>
              <a:ahLst/>
              <a:cxnLst/>
              <a:rect l="l" t="t" r="r" b="b"/>
              <a:pathLst>
                <a:path w="9525" h="4057650">
                  <a:moveTo>
                    <a:pt x="0" y="0"/>
                  </a:moveTo>
                  <a:lnTo>
                    <a:pt x="0" y="40576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2356" y="1644650"/>
              <a:ext cx="2377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Samsung Vision AI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2025650"/>
              <a:ext cx="18245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2025 电视 · 已上线部分机型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5785" y="2374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785" y="26225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问影片、画作、旅行建议；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785" y="28702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点选搜索；摄像头看护宠物和家庭。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5785" y="3251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785" y="34988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围绕屏幕内容和客厅共享画面；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5785" y="374650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电视已有大屏、联网和常开电源。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578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5785" y="437515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内容问答可用遥控/手机；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5785" y="46228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摄像头看护另有误报、隐私与安全责任。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91406" y="1644650"/>
              <a:ext cx="2544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海信星海＋DeepSeek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5216" y="20256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电视端模型接入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4835" y="2374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94835" y="26225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万物识别、场景画质、语音对话；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94835" y="28702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语言、视觉生成与多模态理解。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94835" y="3251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94835" y="34988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模型直接提升画质和电视交互；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94835" y="374650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可直接捆绑硬件销售。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9483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94835" y="43751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披露偏营销，具体交互与任务效果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94835" y="46228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未给出；区域与机型覆盖不清。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06156" y="1644650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小度超能小度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09966" y="20256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家庭智能体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09585" y="23749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09585" y="26225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设备看见并理解家庭环境；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9585" y="28702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看护、陪伴、娱乐和设备协同。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09585" y="3251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09585" y="34988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把多模态放到家庭中枢，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09585" y="3746500"/>
              <a:ext cx="12156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而不是单个 App。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0958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09585" y="4375150"/>
              <a:ext cx="2205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发布信息很宽；家庭摄像头/语音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09585" y="462280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涉及持续监听、隐私和长期留存。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5067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785" y="52514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场景结论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613535" y="525145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内容发现适合电视；持续看护适合家庭设备；重复识物更容易被手机替代。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118" y="5594350"/>
              <a:ext cx="72923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分：家庭多模态需要独占场景，否则只是把手机能力搬到更大的屏幕。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40868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来源：Samsung 2025；海信公开材料；小度/新华网 2026；均为摘要级证据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900160" cy="659892"/>
            <a:chOff x="559308" y="273050"/>
            <a:chExt cx="890016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44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汽车座舱与空间交互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9001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汽车提供手机没有的空间信息：谁在说、坐哪里、指向什么</a:t>
              </a:r>
            </a:p>
          </p:txBody>
        </p:sp>
      </p:grpSp>
      <p:grpSp>
        <p:nvGrpSpPr>
          <p:cNvPr id="36" name="cabin-context"/>
          <p:cNvGrpSpPr/>
          <p:nvPr/>
        </p:nvGrpSpPr>
        <p:grpSpPr>
          <a:xfrm>
            <a:off x="561975" y="1270000"/>
            <a:ext cx="11058525" cy="4856607"/>
            <a:chOff x="561975" y="1270000"/>
            <a:chExt cx="11058525" cy="485660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座舱是多传感器融合最具体的消费场景，也是安全与隐私门槛最高的场景。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638300"/>
              <a:ext cx="11049000" cy="89535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18034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输入链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3154" y="17907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多音区麦克风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28416" y="18161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谁在说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56404" y="1790700"/>
              <a:ext cx="909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3D ToF / IR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90666" y="181610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坐哪、指向哪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04404" y="17907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图像＋车身传感器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05416" y="18161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内外环境与服务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13916" y="2178050"/>
              <a:ext cx="48307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语音与位置先被消歧，再进入座舱服务；这和手机上的“单一用户假设”不同。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0" y="2781300"/>
              <a:ext cx="9525" cy="2609850"/>
            </a:xfrm>
            <a:custGeom>
              <a:avLst/>
              <a:gdLst/>
              <a:ahLst/>
              <a:cxnLst/>
              <a:rect l="l" t="t" r="r" b="b"/>
              <a:pathLst>
                <a:path w="9525" h="2609850">
                  <a:moveTo>
                    <a:pt x="0" y="0"/>
                  </a:moveTo>
                  <a:lnTo>
                    <a:pt x="0" y="26098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61975" y="2825750"/>
              <a:ext cx="108869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理想同学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166" y="32067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空间多模态感知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5785" y="3575050"/>
              <a:ext cx="21751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MVS / MIMO / MSE 三网协同；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5785" y="3822700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判断“谁、坐哪、指向哪、需要什么”。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5785" y="42227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5785" y="44704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多人车内对话、指向控制、个性化服务；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5785" y="47180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语音不需要先知道用户坐在哪里。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5785" y="5118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疑问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5785" y="5365750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量产车型覆盖、误识别率、隐私回传和车规验证未披露。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2225" y="2825750"/>
              <a:ext cx="145738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蔚来 NOMI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6416" y="32067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端云多模态与陪伴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76035" y="35750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融合图像、音频和车身传感器；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76035" y="38227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识别座舱内外人与物，提供情感化陪伴。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76035" y="42227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价值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76035" y="44704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空间上下文＋车辆服务＋长期陪伴；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76035" y="471805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比通用语音助手更贴近驾驶与乘车场景。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76035" y="5118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疑问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76035" y="5365750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材料多为能力宣称；执行安全、情绪识别和隐私边界不清。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71500" y="5772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3118" y="5803900"/>
              <a:ext cx="75270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分：座舱的空间输入有差异化，但最终价值取决于安全执行与数据责任。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7" name="TextBox 37"/>
            <p:cNvSpPr txBox="1"/>
            <p:nvPr/>
          </p:nvSpPr>
          <p:spPr>
            <a:xfrm>
              <a:off x="566738" y="6286500"/>
              <a:ext cx="32020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来源：全球竞品报告引用的理想同学、NOMI 公开/媒体报道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900160" cy="659892"/>
            <a:chOff x="559308" y="273050"/>
            <a:chExt cx="890016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44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无障碍与高信任场景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9001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无障碍最接近真实价值，但付费来自服务、管理与人工兜底</a:t>
              </a:r>
            </a:p>
          </p:txBody>
        </p:sp>
      </p:grpSp>
      <p:grpSp>
        <p:nvGrpSpPr>
          <p:cNvPr id="45" name="accessibility-matrix"/>
          <p:cNvGrpSpPr/>
          <p:nvPr/>
        </p:nvGrpSpPr>
        <p:grpSpPr>
          <a:xfrm>
            <a:off x="563118" y="1270000"/>
            <a:ext cx="11057382" cy="4761357"/>
            <a:chOff x="563118" y="1270000"/>
            <a:chExt cx="11057382" cy="47613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740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任务明确、视觉不可替代、失败可转人工，使无障碍比通用视觉问答更容易形成闭环。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3333750" y="158115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191250" y="158115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048750" y="158115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6547" y="17335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产品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19297" y="1733550"/>
              <a:ext cx="8288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做什么 / 谁用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797" y="173355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价值与反馈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34297" y="1733550"/>
              <a:ext cx="9607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商业模式 / 缺口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118" y="2108200"/>
              <a:ext cx="11349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Seeing AI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18535" y="21844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手机摄像头朗读文字、人物、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18535" y="2432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物体与场景；面向视障用户。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76035" y="21844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免费公共服务基线；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76035" y="2432050"/>
              <a:ext cx="1745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2017 年上线，任务明确。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33535" y="218440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免费、由平台/机构承担；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33535" y="24320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使用频率、留存未公开。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3118" y="2870200"/>
              <a:ext cx="11010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AI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18535" y="2946400"/>
              <a:ext cx="2005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GPT-4 图片解释、多轮追问；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18535" y="3194050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替代/补充远程人工志愿。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6035" y="2946400"/>
              <a:ext cx="2069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用户研究出现“game changer”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6035" y="3194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反馈；提升独立性和匿名性。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33535" y="29464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个人免费；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33535" y="31940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仍需验证理解错误和图片质量。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118" y="3632200"/>
              <a:ext cx="1040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vivo 看见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18535" y="37084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实时环境描述、多轮对话、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18535" y="395605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物品查找、辅助拍摄。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76035" y="370840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国内无障碍入口；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76035" y="39560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依赖镜头对准与播报质量。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33535" y="3708400"/>
              <a:ext cx="7633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免费 App；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33535" y="3956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官方说明为主，独立评测少。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3118" y="4394200"/>
              <a:ext cx="27088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Be My Eyes Workplace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18535" y="447040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个人免费；企业无障碍管理，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18535" y="47180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配置培训过的远程人工代理。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6035" y="4470400"/>
              <a:ext cx="1791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组织采购、SSO、SOC 2、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76035" y="47180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人工兜底形成完整交付。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33535" y="4470400"/>
              <a:ext cx="1451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企业授权/服务收费；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33535" y="47180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价格、客户、复购、毛利未知。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525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785" y="544195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最关键的产品结论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80285" y="5441950"/>
              <a:ext cx="5217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企业可能为管理、合规、培训和人工接管付费，而不一定为 AI 视觉单独付费。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118" y="5708650"/>
              <a:ext cx="72923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分：这是当前最值得做小样本验证的垂直方向，但仍不是已验证赛道。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36182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来源：Microsoft Seeing AI；Be My Eyes；vivo；开源产品化报告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957731" cy="659892"/>
            <a:chOff x="559308" y="273050"/>
            <a:chExt cx="6957731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631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基础设施、API 与开源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9577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开源降低了“能做”的门槛，但没有证明“能卖”</a:t>
              </a:r>
            </a:p>
          </p:txBody>
        </p:sp>
      </p:grpSp>
      <p:grpSp>
        <p:nvGrpSpPr>
          <p:cNvPr id="42" name="stack-and-open-source"/>
          <p:cNvGrpSpPr/>
          <p:nvPr/>
        </p:nvGrpSpPr>
        <p:grpSpPr>
          <a:xfrm>
            <a:off x="565785" y="1270000"/>
            <a:ext cx="11019790" cy="4647502"/>
            <a:chOff x="565785" y="1270000"/>
            <a:chExt cx="11019790" cy="4647502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2705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五层技术栈必须分开看：模型、实时传输、Agent 编排、能力 API、垂直应用。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600200"/>
              <a:ext cx="6858000" cy="666750"/>
            </a:xfrm>
            <a:prstGeom prst="rect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6854" y="17335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应用层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8785" y="1746250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无障碍服务 · 现场作业 · 家庭/座舱 · 视觉导购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9547" y="2019300"/>
              <a:ext cx="33080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D6CFC3"/>
                  </a:solidFill>
                  <a:latin typeface="+mn-lt"/>
                  <a:ea typeface="+mn-ea"/>
                  <a:cs typeface="+mn-cs"/>
                </a:rPr>
                <a:t>价值来自工作流、责任边界和付费方，不来自模型名称。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2343150"/>
              <a:ext cx="6858000" cy="666750"/>
            </a:xfrm>
            <a:prstGeom prst="rect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6854" y="2476500"/>
              <a:ext cx="1007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能力 / API 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8785" y="2489200"/>
              <a:ext cx="2603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SeedRealtime · TwelveLabs · 拍立淘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9547" y="2762250"/>
              <a:ext cx="351258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6EFEA"/>
                  </a:solidFill>
                  <a:latin typeface="+mn-lt"/>
                  <a:ea typeface="+mn-ea"/>
                  <a:cs typeface="+mn-cs"/>
                </a:rPr>
                <a:t>实时交互模型、视频理解、视觉商品检索；按量/平台收费。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3086100"/>
              <a:ext cx="6858000" cy="666750"/>
            </a:xfrm>
            <a:prstGeom prst="rect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6854" y="3219450"/>
              <a:ext cx="1020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Agent 编排层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8785" y="3232150"/>
              <a:ext cx="2422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Vision-Agents · Pipecat · Dograh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9547" y="3505200"/>
              <a:ext cx="31761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E9E2"/>
                  </a:solidFill>
                  <a:latin typeface="+mn-lt"/>
                  <a:ea typeface="+mn-ea"/>
                  <a:cs typeface="+mn-cs"/>
                </a:rPr>
                <a:t>多模型、工具调用、会话接力、工作流与可视化测试。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829050"/>
              <a:ext cx="6858000" cy="666750"/>
            </a:xfrm>
            <a:prstGeom prst="rect">
              <a:avLst/>
            </a:prstGeom>
            <a:solidFill>
              <a:srgbClr val="B8AA9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6854" y="39624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实时传输层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8785" y="3975100"/>
              <a:ext cx="1882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LiveKit · Stream 边缘网络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9547" y="4248150"/>
              <a:ext cx="30377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WebRTC/SFU、音视频与数据流、并发和断线恢复。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4572000"/>
              <a:ext cx="6858000" cy="666750"/>
            </a:xfrm>
            <a:prstGeom prst="rect">
              <a:avLst/>
            </a:prstGeom>
            <a:solidFill>
              <a:srgbClr val="6B676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6854" y="4705350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模型 / 研究层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8785" y="4718050"/>
              <a:ext cx="3217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CLIP · Flamingo · GPT-4V/Gemini · VLX-Flow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9547" y="4991100"/>
              <a:ext cx="272101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DE9E1"/>
                  </a:solidFill>
                  <a:latin typeface="+mn-lt"/>
                  <a:ea typeface="+mn-ea"/>
                  <a:cs typeface="+mn-cs"/>
                </a:rPr>
                <a:t>图文/视频理解、流式视觉模型和低延迟推理。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785" y="5441950"/>
              <a:ext cx="62692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已废弃：Landing AI vision-agent → 转向文档抽取，说明“视觉代码生成”并不天然形成产品。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05166" y="1587500"/>
              <a:ext cx="967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开源 vs 托管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04785" y="1917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开源可获得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04785" y="2184400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数据控制、定制、私有化、可自托管、避免单一供应商。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4785" y="25654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同时接手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05166" y="2736850"/>
              <a:ext cx="2410968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视频传输、模型兼容、安全更新、并发、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断线恢复、现场支持。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04785" y="32131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总成本应包含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05166" y="3384550"/>
              <a:ext cx="2677668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推理＋带宽＋设备＋实施＋培训＋误判纠正，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再加人工接管与合规。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810500" y="39052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04785" y="40513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闭源全栈对照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05166" y="4311650"/>
              <a:ext cx="30409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Muse：Secure VM＋记忆＋权限＋支付＋审计。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05166" y="459740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开源尚无同任务总成本证据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05166" y="484505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延迟、并发、断线恢复和现场支持都要算。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05166" y="51308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合理策略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05166" y="537845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先用托管建立体验基线，再比较自建的隐私与定制收益。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03261" y="5638800"/>
              <a:ext cx="24801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分：技术开放 ≠ 产品优势。</a:t>
              </a:r>
            </a:p>
          </p:txBody>
        </p:sp>
      </p:grpSp>
      <p:grpSp>
        <p:nvGrpSpPr>
          <p:cNvPr id="45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3" name="TextBox 43"/>
            <p:cNvSpPr txBox="1"/>
            <p:nvPr/>
          </p:nvSpPr>
          <p:spPr>
            <a:xfrm>
              <a:off x="566738" y="6286500"/>
              <a:ext cx="34608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来源：开源产品化报告；GitHub README；各 API/平台公开材料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534656" cy="659892"/>
            <a:chOff x="559308" y="273050"/>
            <a:chExt cx="753465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市场反响分层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5346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强反响来自明确任务，失败来自承诺超过交付能力</a:t>
              </a:r>
            </a:p>
          </p:txBody>
        </p:sp>
      </p:grpSp>
      <p:grpSp>
        <p:nvGrpSpPr>
          <p:cNvPr id="40" name="reception-tiers"/>
          <p:cNvGrpSpPr/>
          <p:nvPr/>
        </p:nvGrpSpPr>
        <p:grpSpPr>
          <a:xfrm>
            <a:off x="563118" y="1270000"/>
            <a:ext cx="11136453" cy="4799457"/>
            <a:chOff x="563118" y="1270000"/>
            <a:chExt cx="11136453" cy="4799457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137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证据强度从高到低：真实使用/销量 &gt; 独立评测 &gt; 厂商上线材料 &gt; 概念演示。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81150"/>
              <a:ext cx="11049000" cy="1257300"/>
            </a:xfrm>
            <a:prstGeom prst="rect">
              <a:avLst/>
            </a:prstGeom>
            <a:solidFill>
              <a:srgbClr val="1F5A49">
                <a:alpha val="7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616" y="173990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较强反响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93773" y="1714500"/>
              <a:ext cx="102847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Lens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4916" y="1930400"/>
              <a:ext cx="203758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大规模视觉搜索；官方称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每月 80 亿次问题（2022 口径）。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95297" y="2419350"/>
              <a:ext cx="31761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说明：视觉入口被规模采用，但不等于连续任务闭环。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70523" y="1714500"/>
              <a:ext cx="172461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 / Be My AI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71666" y="1930400"/>
              <a:ext cx="20109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无障碍用户获得独立性与匿名性；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真实任务价值强。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72047" y="2419350"/>
              <a:ext cx="30442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限制：仍会受图片质量、理解错误和人工兜底影响。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566529" y="1714500"/>
              <a:ext cx="1288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Muse / Ray-Ban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67862" y="1955800"/>
              <a:ext cx="140398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六周 1000 万设置，</a:t>
              </a:r>
              <a:b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25% 日活；购物客单 $200+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67862" y="238125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公司自报；眼镜端尚未铺开。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7997" y="2667000"/>
              <a:ext cx="48318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强信号的共同点：任务本来就需要视觉/语音，或设备本来就是用户愿意戴的东西。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2971800"/>
              <a:ext cx="11049000" cy="1257300"/>
            </a:xfrm>
            <a:prstGeom prst="rect">
              <a:avLst/>
            </a:prstGeom>
            <a:solidFill>
              <a:srgbClr val="C14E2C">
                <a:alpha val="7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7616" y="3130550"/>
              <a:ext cx="102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混合 / 待验证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93773" y="3105150"/>
              <a:ext cx="138174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/ Copilot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94535" y="3384550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入口强、上下文强；独立任务成功率与付费未公开。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94916" y="3663950"/>
              <a:ext cx="25874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Copilot 明确只高亮，不执行点击/输入。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0523" y="3105150"/>
              <a:ext cx="170663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夸克 S1 / 小艺看世界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1666" y="3321050"/>
              <a:ext cx="21442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有生态与交互亮点；存在静态识别、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显示/续航/封闭生态争议。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2047" y="3790950"/>
              <a:ext cx="225267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缺少版本化、同任务对照与长期留存。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66529" y="3105150"/>
              <a:ext cx="1168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Meta Network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67672" y="3409950"/>
              <a:ext cx="21318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Agent 协作、商家交易仍在路线图。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67672" y="3657600"/>
              <a:ext cx="172496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缺互操作、责任和费率验证。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7997" y="4038600"/>
              <a:ext cx="47593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混合信号的共同点：能力可见，但效果、留存或付费没有被同一份证据同时证明。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4362450"/>
              <a:ext cx="11049000" cy="1123950"/>
            </a:xfrm>
            <a:prstGeom prst="rect">
              <a:avLst/>
            </a:prstGeom>
            <a:solidFill>
              <a:srgbClr val="A33B27">
                <a:alpha val="6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7616" y="452120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明显失败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93773" y="4495800"/>
              <a:ext cx="27131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Glass · Ray-Ban Stories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94535" y="4775200"/>
              <a:ext cx="5371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新硬件/第一视角有新鲜感，但高价、低频、隐私与手机替代导致退场或低活跃。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94916" y="5054600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先后教训：穿戴形态必须服务清晰任务；销量不等于留存。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32523" y="4495800"/>
              <a:ext cx="14192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Humane · Rabbit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34047" y="4673600"/>
              <a:ext cx="1957705" cy="4011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“替代手机/替用户操作”承诺过强；</a:t>
              </a:r>
              <a:b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Pin 停服，R1 初审差。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34047" y="5219700"/>
              <a:ext cx="31744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硬件入口无法弥补任务失败、延迟、Bug 和生态缺失。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71500" y="5657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3118" y="5746750"/>
              <a:ext cx="5216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分：市场奖赏结果，不给“多模态能力”本身发奖。</a:t>
              </a:r>
            </a:p>
          </p:txBody>
        </p:sp>
      </p:grpSp>
      <p:grpSp>
        <p:nvGrpSpPr>
          <p:cNvPr id="43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566738" y="6286500"/>
              <a:ext cx="46857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来源：Google、Meta、Microsoft、Be My Eyes 与第三方评测；Lens 数字为官方口径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9241536" cy="659892"/>
            <a:chOff x="559308" y="273050"/>
            <a:chExt cx="924153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44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成败机制与商业模式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92415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产品能否留下，取决于任务、载体、反馈、信任和单位经济性</a:t>
              </a:r>
            </a:p>
          </p:txBody>
        </p:sp>
      </p:grpSp>
      <p:grpSp>
        <p:nvGrpSpPr>
          <p:cNvPr id="34" name="mechanisms-and-models"/>
          <p:cNvGrpSpPr/>
          <p:nvPr/>
        </p:nvGrpSpPr>
        <p:grpSpPr>
          <a:xfrm>
            <a:off x="563880" y="1270000"/>
            <a:ext cx="10866120" cy="4490720"/>
            <a:chOff x="563880" y="1270000"/>
            <a:chExt cx="10866120" cy="449072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模型能力只是入场券；真正难的是把结果交付、把失败接住、把成本覆盖。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962650" y="15621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166" y="172085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成功产品的共同点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5404" y="2019300"/>
              <a:ext cx="21373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01　任务本来就需要多种输入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227330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读字、找物、无障碍、多音区、现场维护。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5404" y="2628900"/>
              <a:ext cx="1814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02　载体比替代方案自然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166" y="2882900"/>
              <a:ext cx="37776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已有手机/眼镜/电视/车机，而不是要求用户再带一个设备。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404" y="3238500"/>
              <a:ext cx="18392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03　系统能发现“没帮对”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349250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镜头纠正、重新聚焦、拒答、人工接管、撤销。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404" y="3848100"/>
              <a:ext cx="1491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04　信任成本可接受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6166" y="410210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隐私、旁观者、权限、错误代价、责任边界。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5404" y="4457700"/>
              <a:ext cx="19757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05　总成本低于节省的价值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166" y="471170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设置、网络、推理、运维、培训、人工接管都要算。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43066" y="1720850"/>
              <a:ext cx="95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五类商业模式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48400" y="19812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42304" y="21336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硬件销售与生态捆绑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43066" y="2387600"/>
              <a:ext cx="3193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Ray-Ban、夸克、华为、Apple、三星、理想/NOMI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42304" y="2781300"/>
              <a:ext cx="19356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企业订阅 / 工作场所 SaaS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43066" y="3035300"/>
              <a:ext cx="34689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Copilot、Be My Eyes Workplace：按席位/组织授权。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42304" y="3429000"/>
              <a:ext cx="1653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按量 API / 开发者集成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43066" y="3683000"/>
              <a:ext cx="34754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TwelveLabs、拍立淘：调用量、视频分钟、平台接入。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42304" y="407670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免费公共服务 / 机构资助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43066" y="4330700"/>
              <a:ext cx="2878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Seeing AI：用户免费，平台或机构承担成本。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42304" y="4724400"/>
              <a:ext cx="16946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免费入口 / 订阅 / 交易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43066" y="4978400"/>
              <a:ext cx="4107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Muse：免费＋商家交易费＋高阶订阅；夸克/拍立淘走交易生态。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248400" y="53149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43066" y="5492750"/>
              <a:ext cx="3939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价格、毛利、复购和 AI/人工收入拆分在现有材料中普遍缺失。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3880" y="5200650"/>
              <a:ext cx="28219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后台执行把“回答错误”升级为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3880" y="5467350"/>
              <a:ext cx="32487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“真实行动错误”，治理价值上升。</a:t>
              </a:r>
            </a:p>
          </p:txBody>
        </p:sp>
      </p:grpSp>
      <p:grpSp>
        <p:nvGrpSpPr>
          <p:cNvPr id="37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5" name="TextBox 35"/>
            <p:cNvSpPr txBox="1"/>
            <p:nvPr/>
          </p:nvSpPr>
          <p:spPr>
            <a:xfrm>
              <a:off x="566738" y="6286500"/>
              <a:ext cx="2069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综合三份洞察：商业化路径与失败机制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8217408" cy="659892"/>
            <a:chOff x="559308" y="273050"/>
            <a:chExt cx="8217408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798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机会与空白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8217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通用视觉问答已拥挤，空白在实时任务闭环和失败恢复</a:t>
              </a:r>
            </a:p>
          </p:txBody>
        </p:sp>
      </p:grpSp>
      <p:grpSp>
        <p:nvGrpSpPr>
          <p:cNvPr id="45" name="opportunity-grid"/>
          <p:cNvGrpSpPr/>
          <p:nvPr/>
        </p:nvGrpSpPr>
        <p:grpSpPr>
          <a:xfrm>
            <a:off x="563499" y="1270000"/>
            <a:ext cx="11057001" cy="4360291"/>
            <a:chOff x="563499" y="1270000"/>
            <a:chExt cx="11057001" cy="4360291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以下均为待验证假设；不把产品存在、仓库热度或演示效果当作市场成立。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43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286125" y="154305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48375" y="154305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810625" y="1543050"/>
              <a:ext cx="9525" cy="3848100"/>
            </a:xfrm>
            <a:custGeom>
              <a:avLst/>
              <a:gdLst/>
              <a:ahLst/>
              <a:cxnLst/>
              <a:rect l="l" t="t" r="r" b="b"/>
              <a:pathLst>
                <a:path w="9525" h="3848100">
                  <a:moveTo>
                    <a:pt x="0" y="0"/>
                  </a:moveTo>
                  <a:lnTo>
                    <a:pt x="0" y="38481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71500" y="3486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6166" y="1682750"/>
              <a:ext cx="1192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实时交互 harness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166" y="193040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记录观察、行动、纠正和结果；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547" y="2190750"/>
              <a:ext cx="12698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客户：终端/模型团队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547" y="24003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风险：隐私和任务集偏差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71291" y="1682750"/>
              <a:ext cx="881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主动引导 SDK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71291" y="19304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提醒、纠错、转人工；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71672" y="2190750"/>
              <a:ext cx="17641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客户：无障碍/远程协助/OEM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71672" y="24003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风险：误引导和责任边界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33541" y="16827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多模态安全护栏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33541" y="193040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按行业和设备适配政策；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33922" y="2190750"/>
              <a:ext cx="14137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客户：助手/Agent 平台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33922" y="24003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风险：低延迟和高误杀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95791" y="1682750"/>
              <a:ext cx="1175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Agent 交易与协议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95791" y="1854200"/>
              <a:ext cx="16108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身份、权限、比价、下单、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退款与跨 Agent 协商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96172" y="2362200"/>
              <a:ext cx="21933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客户：电商/平台；风险：错买、责任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6166" y="36258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企业无障碍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6166" y="387350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实时协助＋管理平台＋人工接管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547" y="41338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最接近付费形态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6547" y="4343400"/>
              <a:ext cx="15313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需验证 AI 是否有增量价值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71291" y="36258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现场作业助手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71291" y="38735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巡检、维修、零售、远程专家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71672" y="413385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价值可量化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71672" y="43434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难点：行业数据与现场可靠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33541" y="3625850"/>
              <a:ext cx="1192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座舱空间 harness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33541" y="3873500"/>
              <a:ext cx="14507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多音区＋ToF/IR＋指向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33922" y="41338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差异化强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33922" y="4343400"/>
              <a:ext cx="14830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难点：车规、安全、OEM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95791" y="36258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暂不优先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95791" y="3797300"/>
              <a:ext cx="16108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通用实时平台、通用工具、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又一个视觉问答 App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96172" y="432435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入口和付费都不在这类团队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4876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5785" y="50419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共同证据缺口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99285" y="5041900"/>
              <a:ext cx="5439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任务频率、失败成本、同任务替代方案、端到端延迟、人工接管率、报价与续费。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499" y="5321300"/>
              <a:ext cx="63087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分：从高信任任务切入，把执行、审计、接管和付费做成闭环。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36018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来源：全球竞品、产品层、开源产品化三份报告的“机会/空白”章节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981859" cy="659892"/>
            <a:chOff x="559308" y="273050"/>
            <a:chExt cx="7981859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121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趋势与观察清单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9818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未来竞争从“看得见”走向“判断何时帮、帮到哪一步”</a:t>
              </a:r>
            </a:p>
          </p:txBody>
        </p:sp>
      </p:grpSp>
      <p:grpSp>
        <p:nvGrpSpPr>
          <p:cNvPr id="36" name="trend-and-watch"/>
          <p:cNvGrpSpPr/>
          <p:nvPr/>
        </p:nvGrpSpPr>
        <p:grpSpPr>
          <a:xfrm>
            <a:off x="562356" y="1270000"/>
            <a:ext cx="11058144" cy="4578350"/>
            <a:chOff x="562356" y="1270000"/>
            <a:chExt cx="11058144" cy="4578350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四条趋势不是空泛预测：每一条都已有产品信号，也都还缺关键指标。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62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5785" y="17462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变化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23285" y="17462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已发生信号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33285" y="17462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还要看什么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2356" y="2101850"/>
              <a:ext cx="23757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单次识别 → 连续协作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23285" y="2203450"/>
              <a:ext cx="3083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Lens 实时取景 → Gemini Live → Guided Vision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33285" y="220345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打断、镜头纠正、断线恢复、任务成功率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71500" y="25336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2356" y="2749550"/>
              <a:ext cx="23757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被动回答 → 主动提醒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23285" y="2851150"/>
              <a:ext cx="3230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Snap anticipatory AI；Guided Vision 主动纠错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3285" y="285115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误触发、打扰成本、关闭机制、何时应沉默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71500" y="31813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2356" y="3397250"/>
              <a:ext cx="21196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给答案 → 完成任务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23285" y="3498850"/>
              <a:ext cx="3186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 高亮；Bixby 系统控制；夸克支付/导航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33285" y="3498850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权限确认、校验、撤销、人工接管、责任边界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71500" y="3829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2737" y="3981450"/>
              <a:ext cx="261060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单体 Agent → 垂直闭环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23666" y="4044950"/>
              <a:ext cx="259765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Network、Personal Agent Protocol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＋无障碍、现场作业、座舱工作流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33666" y="4044950"/>
              <a:ext cx="20109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权限、责任、互操作、费率与复购</a:t>
              </a:r>
              <a:b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能否形成可信网络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71500" y="4552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5785" y="47180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接下来重点盯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09166" y="4730750"/>
              <a:ext cx="1902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① 企业是否为 AI 视觉单独报价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71416" y="4730750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② 平台是否公开真实任务成功率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19416" y="4730750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③ 开源方案的生产延迟与总成本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6166" y="5016500"/>
              <a:ext cx="16856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④ 眼镜的长期佩戴与活跃率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33166" y="5016500"/>
              <a:ext cx="2046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⑤ 座舱/家庭摄像头的隐私与误报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1666" y="5016500"/>
              <a:ext cx="1968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⑥ 系统操作是否可撤销、可审计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14916" y="5016500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⑦ 人工接管成本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5410200"/>
              <a:ext cx="11049000" cy="438150"/>
            </a:xfrm>
            <a:prstGeom prst="rect">
              <a:avLst/>
            </a:prstGeom>
            <a:solidFill>
              <a:srgbClr val="1F5A49">
                <a:alpha val="8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6280" y="5505450"/>
              <a:ext cx="7696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A49"/>
                  </a:solidFill>
                  <a:latin typeface="+mj-lt"/>
                  <a:ea typeface="+mj-ea"/>
                  <a:cs typeface="+mj-cs"/>
                </a:rPr>
                <a:t>分：最值得投资的不是又一个多模态入口，而是能测量并改进任务完成率的系统。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37" name="TextBox 37"/>
            <p:cNvSpPr txBox="1"/>
            <p:nvPr/>
          </p:nvSpPr>
          <p:spPr>
            <a:xfrm>
              <a:off x="566738" y="6286500"/>
              <a:ext cx="24448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综合三份报告的“趋势、空白与接下来盯什么”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19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4120896" cy="659892"/>
            <a:chOff x="559308" y="273050"/>
            <a:chExt cx="412089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188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附录 · 年份审计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41208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关键年份、事件和一手来源</a:t>
              </a:r>
            </a:p>
          </p:txBody>
        </p:sp>
      </p:grpSp>
      <p:grpSp>
        <p:nvGrpSpPr>
          <p:cNvPr id="99" name="date-ledger"/>
          <p:cNvGrpSpPr/>
          <p:nvPr/>
        </p:nvGrpSpPr>
        <p:grpSpPr>
          <a:xfrm>
            <a:off x="490347" y="1263650"/>
            <a:ext cx="11130153" cy="4719193"/>
            <a:chOff x="490347" y="1263650"/>
            <a:chExt cx="11130153" cy="4719193"/>
          </a:xfrm>
        </p:grpSpPr>
        <p:sp>
          <p:nvSpPr>
            <p:cNvPr id="5" name="TextBox 5"/>
            <p:cNvSpPr txBox="1"/>
            <p:nvPr/>
          </p:nvSpPr>
          <p:spPr>
            <a:xfrm>
              <a:off x="566166" y="1263650"/>
              <a:ext cx="4894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原则：只记录可核验的发布日期/上线窗口；不会把报道日期当产品发表日期。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04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73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日期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620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339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173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日期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770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77488" y="16002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547" y="1866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2011.10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61897" y="1866900"/>
              <a:ext cx="13502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Siri 随 iPhone 4S 发布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33988" y="1866900"/>
              <a:ext cx="3158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81547" y="1866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2020.05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76897" y="1866900"/>
              <a:ext cx="12678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居家生产力功能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77488" y="18669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6547" y="21336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2014.11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61897" y="2133600"/>
              <a:ext cx="12974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Amazon Echo / Alexa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33988" y="21336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1547" y="21336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2020.09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76897" y="2133600"/>
              <a:ext cx="14206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Echo Show 10 屏幕跟随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77488" y="21336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547" y="24003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2016.05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61897" y="2400300"/>
              <a:ext cx="138367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Assistant 发布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33988" y="24003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81547" y="24003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2021.01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76897" y="2400300"/>
              <a:ext cx="85125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CLIP 公开发布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77488" y="2400300"/>
              <a:ext cx="4144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6547" y="26670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61897" y="2667000"/>
              <a:ext cx="6473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 发布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33988" y="2667000"/>
              <a:ext cx="5041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Samsung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81547" y="26670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2021.09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76897" y="2667000"/>
              <a:ext cx="10457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Stories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77488" y="2667000"/>
              <a:ext cx="3044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6547" y="29337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61897" y="2933700"/>
              <a:ext cx="105427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Lens 发布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33988" y="29337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81547" y="29337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2022.04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6897" y="2933700"/>
              <a:ext cx="11222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Flamingo 研究发布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377488" y="2933700"/>
              <a:ext cx="5440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DeepMind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6547" y="32004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2017.07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61897" y="3200400"/>
              <a:ext cx="14370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 / Bixby Voice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33988" y="3200400"/>
              <a:ext cx="11686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Microsoft/Samsung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81547" y="32004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2023.03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6897" y="3200400"/>
              <a:ext cx="11057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Be My AI 进入测试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77488" y="3200400"/>
              <a:ext cx="6529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Be My Eyes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6547" y="34671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2018.05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61897" y="3467100"/>
              <a:ext cx="11359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相机实时取景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33988" y="34671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81547" y="34671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2023.09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76897" y="3467100"/>
              <a:ext cx="14597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GPT-4V / Be My AI 公测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77488" y="3467100"/>
              <a:ext cx="11263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OpenAI/Be My Eyes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6547" y="37338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2018.07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461897" y="3733800"/>
              <a:ext cx="13349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Google Smart Display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233988" y="3733800"/>
              <a:ext cx="8534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Google/Lenovo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81547" y="37338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2023.12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76897" y="3733800"/>
              <a:ext cx="6691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1.0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377488" y="37338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6547" y="40005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2018.09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461897" y="4000500"/>
              <a:ext cx="9181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Alexa APL 发布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233988" y="40005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81547" y="40005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2024.05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76897" y="4000500"/>
              <a:ext cx="15002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GPT-4o / Project Astra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77488" y="4000500"/>
              <a:ext cx="8551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OpenAI/Google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66547" y="42672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2019.05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461897" y="4267200"/>
              <a:ext cx="8721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Lens 实时翻译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33988" y="42672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281547" y="42672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2024.12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176897" y="4267200"/>
              <a:ext cx="17677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Apple Visual / Copilot Vision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377488" y="4267200"/>
              <a:ext cx="9805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Apple/Microsoft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66547" y="4533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2019.09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461897" y="4533900"/>
              <a:ext cx="7407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APL 正式 GA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233988" y="4533900"/>
              <a:ext cx="437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Amazon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81547" y="45339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2025.05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176897" y="4533900"/>
              <a:ext cx="14100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 摄像头铺开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377488" y="45339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281547" y="4800600"/>
              <a:ext cx="7717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2025.08–11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176897" y="4800600"/>
              <a:ext cx="16857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小艺/Meta Display/夸克 S1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377488" y="4800600"/>
              <a:ext cx="924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华为/Meta/阿里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81547" y="50673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2026.08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176897" y="5067300"/>
              <a:ext cx="17529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SeedRealtime 发布/豆包上线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377488" y="5067300"/>
              <a:ext cx="9239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ByteDance Seed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281547" y="5334000"/>
              <a:ext cx="5432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2026.10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176897" y="5334000"/>
              <a:ext cx="113272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Guided Vision 发布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377488" y="5334000"/>
              <a:ext cx="382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Google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66738" y="4800600"/>
              <a:ext cx="7092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2026.09.08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462088" y="4800600"/>
              <a:ext cx="9470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Muse 在美区上线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233988" y="4813300"/>
              <a:ext cx="2782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66738" y="5067300"/>
              <a:ext cx="7092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2026.09.23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462088" y="5067300"/>
              <a:ext cx="20803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 Audio / Muse眼镜计划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233988" y="5080000"/>
              <a:ext cx="2782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566738" y="5334000"/>
              <a:ext cx="7092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2026.10.21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462088" y="5334000"/>
              <a:ext cx="15329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Q3：1000万设置 / 25%日活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233988" y="5346700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财报</a:t>
              </a:r>
            </a:p>
          </p:txBody>
        </p:sp>
        <p:sp>
          <p:nvSpPr>
            <p:cNvPr id="97" name="Line 97"/>
            <p:cNvSpPr/>
            <p:nvPr/>
          </p:nvSpPr>
          <p:spPr>
            <a:xfrm>
              <a:off x="495300" y="56197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490347" y="5791200"/>
              <a:ext cx="57369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注：2025 小艺、Meta Display、夸克为不同日期；Muse 指标为公司财报口径，完整链接见 P21。</a:t>
              </a:r>
            </a:p>
          </p:txBody>
        </p:sp>
      </p:grpSp>
      <p:grpSp>
        <p:nvGrpSpPr>
          <p:cNvPr id="102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100" name="TextBox 100"/>
            <p:cNvSpPr txBox="1"/>
            <p:nvPr/>
          </p:nvSpPr>
          <p:spPr>
            <a:xfrm>
              <a:off x="566738" y="6286500"/>
              <a:ext cx="26750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所有事件均来自官方发布页或明确日期的权威报道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5486400" cy="659892"/>
            <a:chOff x="559308" y="273050"/>
            <a:chExt cx="548640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29760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APPENDIX · SOURCES &amp; COVERAGE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54864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来源、证据边界与三份洞察覆盖矩阵</a:t>
              </a:r>
            </a:p>
          </p:txBody>
        </p:sp>
      </p:grpSp>
      <p:grpSp>
        <p:nvGrpSpPr>
          <p:cNvPr id="54" name="source-coverage"/>
          <p:cNvGrpSpPr/>
          <p:nvPr/>
        </p:nvGrpSpPr>
        <p:grpSpPr>
          <a:xfrm>
            <a:off x="563499" y="1263650"/>
            <a:ext cx="11057001" cy="4480941"/>
            <a:chOff x="563499" y="1263650"/>
            <a:chExt cx="11057001" cy="4480941"/>
          </a:xfrm>
        </p:grpSpPr>
        <p:sp>
          <p:nvSpPr>
            <p:cNvPr id="5" name="TextBox 5"/>
            <p:cNvSpPr txBox="1"/>
            <p:nvPr/>
          </p:nvSpPr>
          <p:spPr>
            <a:xfrm>
              <a:off x="566166" y="1263650"/>
              <a:ext cx="5063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厂商材料证明“上线”；独立评测/销量更接近“被接受”；本地报告保留不确定性。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04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95750" y="161925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905750" y="161925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6547" y="1733550"/>
              <a:ext cx="8157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官方 / 一手</a:t>
              </a:r>
            </a:p>
          </p:txBody>
        </p:sp>
        <p:sp>
          <p:nvSpPr>
            <p:cNvPr id="10" name="TextBox 10">
              <a:hlinkClick r:id="rId2"/>
            </p:cNvPr>
            <p:cNvSpPr txBox="1"/>
            <p:nvPr/>
          </p:nvSpPr>
          <p:spPr>
            <a:xfrm>
              <a:off x="566547" y="2000250"/>
              <a:ext cx="203202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Apple · Siri / Visual Intelligence</a:t>
              </a:r>
            </a:p>
          </p:txBody>
        </p:sp>
        <p:sp>
          <p:nvSpPr>
            <p:cNvPr id="11" name="TextBox 11">
              <a:hlinkClick r:id="rId3"/>
            </p:cNvPr>
            <p:cNvSpPr txBox="1"/>
            <p:nvPr/>
          </p:nvSpPr>
          <p:spPr>
            <a:xfrm>
              <a:off x="566547" y="2228850"/>
              <a:ext cx="14108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Amazon · Echo / Alexa</a:t>
              </a:r>
            </a:p>
          </p:txBody>
        </p:sp>
        <p:sp>
          <p:nvSpPr>
            <p:cNvPr id="12" name="TextBox 12">
              <a:hlinkClick r:id="rId4"/>
            </p:cNvPr>
            <p:cNvSpPr txBox="1"/>
            <p:nvPr/>
          </p:nvSpPr>
          <p:spPr>
            <a:xfrm>
              <a:off x="566547" y="2457450"/>
              <a:ext cx="11929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Assistant</a:t>
              </a:r>
            </a:p>
          </p:txBody>
        </p:sp>
        <p:sp>
          <p:nvSpPr>
            <p:cNvPr id="13" name="TextBox 13">
              <a:hlinkClick r:id="rId5"/>
            </p:cNvPr>
            <p:cNvSpPr txBox="1"/>
            <p:nvPr/>
          </p:nvSpPr>
          <p:spPr>
            <a:xfrm>
              <a:off x="566547" y="2686050"/>
              <a:ext cx="11973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Lens 2018</a:t>
              </a:r>
            </a:p>
          </p:txBody>
        </p:sp>
        <p:sp>
          <p:nvSpPr>
            <p:cNvPr id="14" name="TextBox 14">
              <a:hlinkClick r:id="rId6"/>
            </p:cNvPr>
            <p:cNvSpPr txBox="1"/>
            <p:nvPr/>
          </p:nvSpPr>
          <p:spPr>
            <a:xfrm>
              <a:off x="566547" y="2914650"/>
              <a:ext cx="123471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Amazon · Alexa APL</a:t>
              </a:r>
            </a:p>
          </p:txBody>
        </p:sp>
        <p:sp>
          <p:nvSpPr>
            <p:cNvPr id="15" name="TextBox 15">
              <a:hlinkClick r:id="rId7"/>
            </p:cNvPr>
            <p:cNvSpPr txBox="1"/>
            <p:nvPr/>
          </p:nvSpPr>
          <p:spPr>
            <a:xfrm>
              <a:off x="566547" y="3143250"/>
              <a:ext cx="122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OpenAI · CLIP 2021</a:t>
              </a:r>
            </a:p>
          </p:txBody>
        </p:sp>
        <p:sp>
          <p:nvSpPr>
            <p:cNvPr id="16" name="TextBox 16">
              <a:hlinkClick r:id="rId8"/>
            </p:cNvPr>
            <p:cNvSpPr txBox="1"/>
            <p:nvPr/>
          </p:nvSpPr>
          <p:spPr>
            <a:xfrm>
              <a:off x="566547" y="3371850"/>
              <a:ext cx="16231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DeepMind · Flamingo 2022</a:t>
              </a:r>
            </a:p>
          </p:txBody>
        </p:sp>
        <p:sp>
          <p:nvSpPr>
            <p:cNvPr id="17" name="TextBox 17">
              <a:hlinkClick r:id="rId9"/>
            </p:cNvPr>
            <p:cNvSpPr txBox="1"/>
            <p:nvPr/>
          </p:nvSpPr>
          <p:spPr>
            <a:xfrm>
              <a:off x="566547" y="3600450"/>
              <a:ext cx="14088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OpenAI · GPT-4V 2023</a:t>
              </a:r>
            </a:p>
          </p:txBody>
        </p:sp>
        <p:sp>
          <p:nvSpPr>
            <p:cNvPr id="18" name="TextBox 18">
              <a:hlinkClick r:id="rId10"/>
            </p:cNvPr>
            <p:cNvSpPr txBox="1"/>
            <p:nvPr/>
          </p:nvSpPr>
          <p:spPr>
            <a:xfrm>
              <a:off x="566547" y="3829050"/>
              <a:ext cx="13016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Google · Gemini 2023</a:t>
              </a:r>
            </a:p>
          </p:txBody>
        </p:sp>
        <p:sp>
          <p:nvSpPr>
            <p:cNvPr id="19" name="TextBox 19">
              <a:hlinkClick r:id="rId11"/>
            </p:cNvPr>
            <p:cNvSpPr txBox="1"/>
            <p:nvPr/>
          </p:nvSpPr>
          <p:spPr>
            <a:xfrm>
              <a:off x="566547" y="4057650"/>
              <a:ext cx="11404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Meta · Muse 2026</a:t>
              </a:r>
            </a:p>
          </p:txBody>
        </p:sp>
        <p:sp>
          <p:nvSpPr>
            <p:cNvPr id="20" name="TextBox 20">
              <a:hlinkClick r:id="rId12"/>
            </p:cNvPr>
            <p:cNvSpPr txBox="1"/>
            <p:nvPr/>
          </p:nvSpPr>
          <p:spPr>
            <a:xfrm>
              <a:off x="566547" y="4286250"/>
              <a:ext cx="149944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Meta · Audio / 眼镜路线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81297" y="1733550"/>
              <a:ext cx="14242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独立评测 / 市场信号</a:t>
              </a:r>
            </a:p>
          </p:txBody>
        </p:sp>
        <p:sp>
          <p:nvSpPr>
            <p:cNvPr id="22" name="TextBox 22">
              <a:hlinkClick r:id="rId13"/>
            </p:cNvPr>
            <p:cNvSpPr txBox="1"/>
            <p:nvPr/>
          </p:nvSpPr>
          <p:spPr>
            <a:xfrm>
              <a:off x="4281297" y="2000250"/>
              <a:ext cx="21013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Information · Stories 低使用</a:t>
              </a:r>
            </a:p>
          </p:txBody>
        </p:sp>
        <p:sp>
          <p:nvSpPr>
            <p:cNvPr id="23" name="TextBox 23">
              <a:hlinkClick r:id="rId14"/>
            </p:cNvPr>
            <p:cNvSpPr txBox="1"/>
            <p:nvPr/>
          </p:nvSpPr>
          <p:spPr>
            <a:xfrm>
              <a:off x="4281297" y="2228850"/>
              <a:ext cx="15623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Verge · Humane 停服</a:t>
              </a:r>
            </a:p>
          </p:txBody>
        </p:sp>
        <p:sp>
          <p:nvSpPr>
            <p:cNvPr id="24" name="TextBox 24">
              <a:hlinkClick r:id="rId15"/>
            </p:cNvPr>
            <p:cNvSpPr txBox="1"/>
            <p:nvPr/>
          </p:nvSpPr>
          <p:spPr>
            <a:xfrm>
              <a:off x="4281297" y="2457450"/>
              <a:ext cx="11410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WIRED · Rabbit R1</a:t>
              </a:r>
            </a:p>
          </p:txBody>
        </p:sp>
        <p:sp>
          <p:nvSpPr>
            <p:cNvPr id="25" name="TextBox 25">
              <a:hlinkClick r:id="rId16"/>
            </p:cNvPr>
            <p:cNvSpPr txBox="1"/>
            <p:nvPr/>
          </p:nvSpPr>
          <p:spPr>
            <a:xfrm>
              <a:off x="4281297" y="2686050"/>
              <a:ext cx="19302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Android Authority · Meta 销量</a:t>
              </a:r>
            </a:p>
          </p:txBody>
        </p:sp>
        <p:sp>
          <p:nvSpPr>
            <p:cNvPr id="26" name="TextBox 26">
              <a:hlinkClick r:id="rId17"/>
            </p:cNvPr>
            <p:cNvSpPr txBox="1"/>
            <p:nvPr/>
          </p:nvSpPr>
          <p:spPr>
            <a:xfrm>
              <a:off x="4281297" y="2914650"/>
              <a:ext cx="17677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The Guardian · 穿戴隐私分歧</a:t>
              </a:r>
            </a:p>
          </p:txBody>
        </p:sp>
        <p:sp>
          <p:nvSpPr>
            <p:cNvPr id="27" name="TextBox 27">
              <a:hlinkClick r:id="rId18"/>
            </p:cNvPr>
            <p:cNvSpPr txBox="1"/>
            <p:nvPr/>
          </p:nvSpPr>
          <p:spPr>
            <a:xfrm>
              <a:off x="4281297" y="3143250"/>
              <a:ext cx="129122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Be My Eyes · AI 发布</a:t>
              </a:r>
            </a:p>
          </p:txBody>
        </p:sp>
        <p:sp>
          <p:nvSpPr>
            <p:cNvPr id="28" name="TextBox 28">
              <a:hlinkClick r:id="rId19"/>
            </p:cNvPr>
            <p:cNvSpPr txBox="1"/>
            <p:nvPr/>
          </p:nvSpPr>
          <p:spPr>
            <a:xfrm>
              <a:off x="4281297" y="3371850"/>
              <a:ext cx="11569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夸克 S1 · 独立体验</a:t>
              </a:r>
            </a:p>
          </p:txBody>
        </p:sp>
        <p:sp>
          <p:nvSpPr>
            <p:cNvPr id="29" name="TextBox 29">
              <a:hlinkClick r:id="rId20"/>
            </p:cNvPr>
            <p:cNvSpPr txBox="1"/>
            <p:nvPr/>
          </p:nvSpPr>
          <p:spPr>
            <a:xfrm>
              <a:off x="4281297" y="3600450"/>
              <a:ext cx="166344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u="sng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ByteDance · SeedRealtime</a:t>
              </a:r>
            </a:p>
          </p:txBody>
        </p:sp>
        <p:sp>
          <p:nvSpPr>
            <p:cNvPr id="30" name="TextBox 30">
              <a:hlinkClick r:id="rId21"/>
            </p:cNvPr>
            <p:cNvSpPr txBox="1"/>
            <p:nvPr/>
          </p:nvSpPr>
          <p:spPr>
            <a:xfrm>
              <a:off x="4281297" y="3829050"/>
              <a:ext cx="17123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华尔街见闻 · Muse 投资视角</a:t>
              </a:r>
            </a:p>
          </p:txBody>
        </p:sp>
        <p:sp>
          <p:nvSpPr>
            <p:cNvPr id="31" name="TextBox 31">
              <a:hlinkClick r:id="rId22"/>
            </p:cNvPr>
            <p:cNvSpPr txBox="1"/>
            <p:nvPr/>
          </p:nvSpPr>
          <p:spPr>
            <a:xfrm>
              <a:off x="4281297" y="4057650"/>
              <a:ext cx="12496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u="sng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Meta Q3 财报电话会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81488" y="4286250"/>
              <a:ext cx="18935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仓库/演示不作为需求或商业验证。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91297" y="1733550"/>
              <a:ext cx="12066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本地洞察覆盖矩阵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91297" y="201930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全球竞品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34297" y="2019300"/>
              <a:ext cx="5465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P03–P19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91488" y="2266950"/>
              <a:ext cx="22267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竞品清单·差异·9类场景·变现·机会·空白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91297" y="2609850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产品层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34297" y="2609850"/>
              <a:ext cx="5465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P04–P18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91488" y="2857500"/>
              <a:ext cx="22560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实时视觉指导·Copilot边界·人工兜底·API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91297" y="32004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开源产品化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24797" y="3200400"/>
              <a:ext cx="5465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P08–P19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91488" y="3448050"/>
              <a:ext cx="2273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无障碍优先·托管vs自建·P0/P1验证·成本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91297" y="3790950"/>
              <a:ext cx="6530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Muse 增补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34297" y="3790950"/>
              <a:ext cx="10971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P08 / 11 / 16–20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91488" y="4038600"/>
              <a:ext cx="21622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后台执行·Secure VM·交易·Agent 网络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8096250" y="42672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091488" y="4343400"/>
              <a:ext cx="25599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完整逐章节映射：sources/coverage-map.md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571500" y="4610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6166" y="47688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证据缺口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18666" y="4768850"/>
              <a:ext cx="55657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任务成功率 · 端到端时延 · 纠错恢复 · 长期留存 · 设置/活跃口径 · 交易费率与人工成本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6166" y="50546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判断原则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518666" y="5054600"/>
              <a:ext cx="4957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优先相信同任务、同用户、同指标下的结果；厂商与媒体都只能证明各自层级。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63499" y="5435600"/>
              <a:ext cx="660979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最终结论：Agent 的竞争已进入上下文、执行、信任和交易闭环。</a:t>
              </a:r>
            </a:p>
          </p:txBody>
        </p:sp>
      </p:grpSp>
      <p:grpSp>
        <p:nvGrpSpPr>
          <p:cNvPr id="57" name="page-footer"/>
          <p:cNvGrpSpPr/>
          <p:nvPr/>
        </p:nvGrpSpPr>
        <p:grpSpPr>
          <a:xfrm>
            <a:off x="566738" y="6286500"/>
            <a:ext cx="11058524" cy="176212"/>
            <a:chOff x="566738" y="6286500"/>
            <a:chExt cx="11058524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566738" y="6286500"/>
              <a:ext cx="29246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完整链接均为可点击对象；证据等级和日期口径见 P20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09858" y="628650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21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025152" cy="659892"/>
            <a:chOff x="559308" y="273050"/>
            <a:chExt cx="702515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57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补页 01 · 时间串联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0251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2011–2026：从“帮我查”走到“看着我一起做”</a:t>
              </a:r>
            </a:p>
          </p:txBody>
        </p:sp>
      </p:grpSp>
      <p:grpSp>
        <p:nvGrpSpPr>
          <p:cNvPr id="59" name="complete-timeline"/>
          <p:cNvGrpSpPr/>
          <p:nvPr/>
        </p:nvGrpSpPr>
        <p:grpSpPr>
          <a:xfrm>
            <a:off x="563499" y="1270000"/>
            <a:ext cx="11105508" cy="4550791"/>
            <a:chOff x="563499" y="1270000"/>
            <a:chExt cx="11105508" cy="4550791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590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底部四个阶段依次回答：能问什么、能看懂什么、能持续做什么、能替我完成什么。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66750" y="182880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724025" y="17430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4676775" y="17430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629525" y="17430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563225" y="1724025"/>
              <a:ext cx="209550" cy="20955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61950" y="1524000"/>
              <a:ext cx="6956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2011–2017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31976" y="1898650"/>
              <a:ext cx="9555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入口出现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0490" y="2228850"/>
              <a:ext cx="10785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“这是什么东西？”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2110" y="2552700"/>
              <a:ext cx="23952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Siri · Echo · Google Assistant · Bixby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97374" y="2781300"/>
              <a:ext cx="10247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Lens · Seeing AI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59776" y="300990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语音、识图分头发展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14700" y="1524000"/>
              <a:ext cx="6956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2018–2021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84726" y="1898650"/>
              <a:ext cx="9555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边看边问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59385" y="2228850"/>
              <a:ext cx="160623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“镜头对着它，下一步呢？”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42199" y="2552700"/>
              <a:ext cx="22406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Lens 实时取景/翻译 · Smart Display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5916" y="2781300"/>
              <a:ext cx="16131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Alexa APL · Echo Show 10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07929" y="3009900"/>
              <a:ext cx="15091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语音与屏幕组合；CLIP 打底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7450" y="1524000"/>
              <a:ext cx="6956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2022–2023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20128" y="1898650"/>
              <a:ext cx="11902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理解与对话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14244" y="2228850"/>
              <a:ext cx="20020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“你能帮我读懂、一起想办法吗？”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56750" y="2552700"/>
              <a:ext cx="17169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Flamingo · GPT-4V · Gemini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29548" y="2781300"/>
              <a:ext cx="15714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Be My AI · Ray-Ban Meta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22960" y="300990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多轮解释、即时翻译、无障碍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20200" y="1524000"/>
              <a:ext cx="6956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2024–2026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90226" y="1898650"/>
              <a:ext cx="9555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实时协作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666994" y="2228850"/>
              <a:ext cx="20020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“看着我一起做，能帮我做完吗？”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063742" y="2552700"/>
              <a:ext cx="12085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GPT-4o · Gemini Live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60201" y="2762250"/>
              <a:ext cx="12155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SeedRealtime · Muse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913944" y="2971800"/>
              <a:ext cx="15081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Guided Vision · 多品牌眼镜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90519" y="3194050"/>
              <a:ext cx="1554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持续视频、主动纠错、后台执行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" y="3486150"/>
              <a:ext cx="2686050" cy="171450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7616" y="3644900"/>
              <a:ext cx="12969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阶段 1 · 单模态入口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7616" y="39116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语音帮我查，摄像头帮我搜；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7616" y="415925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用户还要自己完成中间步骤。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7616" y="454025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问题：不会追问、不会纠错、换场景就断。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352800" y="3486150"/>
              <a:ext cx="2686050" cy="1714500"/>
            </a:xfrm>
            <a:prstGeom prst="rect">
              <a:avLst/>
            </a:prstGeom>
            <a:solidFill>
              <a:srgbClr val="EEE7D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518916" y="3644900"/>
              <a:ext cx="14383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阶段 2 · 视听屏幕融合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18916" y="3911600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用户看到的结果可以在屏幕上叠加；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18916" y="415925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语音可以指方向，但任务仍常靠人做。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18916" y="4540250"/>
              <a:ext cx="27538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问题：跨 App 权限、记忆和真实动作缺失。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134100" y="3486150"/>
              <a:ext cx="2686050" cy="1714500"/>
            </a:xfrm>
            <a:prstGeom prst="rect">
              <a:avLst/>
            </a:prstGeom>
            <a:solidFill>
              <a:srgbClr val="E9E1D4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00216" y="3644900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阶段 3 · 多轮理解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00216" y="3911600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用户能连续追问，系统能解释、比较；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00216" y="415925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无障碍场景第一次出现明确价值。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00216" y="4540250"/>
              <a:ext cx="2740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问题：仍是“说给你听”，不是“帮你做完”。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915400" y="3486150"/>
              <a:ext cx="2705100" cy="1714500"/>
            </a:xfrm>
            <a:prstGeom prst="rect">
              <a:avLst/>
            </a:prstGeom>
            <a:solidFill>
              <a:srgbClr val="C14E2C">
                <a:alpha val="9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081516" y="3644900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阶段 4 · 实时代理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81516" y="391160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用户共享现场，系统持续看、听、指导；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81516" y="4159250"/>
              <a:ext cx="25179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开始后台执行、付款并请求确认。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81897" y="4533900"/>
              <a:ext cx="172496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新问题：何时开口、谁负责、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81897" y="47434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出错怎么接管。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571500" y="5410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3499" y="5511800"/>
              <a:ext cx="743239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分：每跨一个阶段，用户少做一步，但系统要承担更多理解、纠正和责任。</a:t>
              </a:r>
            </a:p>
          </p:txBody>
        </p:sp>
      </p:grpSp>
      <p:grpSp>
        <p:nvGrpSpPr>
          <p:cNvPr id="62" name="page-footer"/>
          <p:cNvGrpSpPr/>
          <p:nvPr/>
        </p:nvGrpSpPr>
        <p:grpSpPr>
          <a:xfrm>
            <a:off x="566738" y="6286500"/>
            <a:ext cx="11058525" cy="176212"/>
            <a:chOff x="566738" y="6286500"/>
            <a:chExt cx="11058525" cy="176212"/>
          </a:xfrm>
        </p:grpSpPr>
        <p:sp>
          <p:nvSpPr>
            <p:cNvPr id="60" name="TextBox 60"/>
            <p:cNvSpPr txBox="1"/>
            <p:nvPr/>
          </p:nvSpPr>
          <p:spPr>
            <a:xfrm>
              <a:off x="566738" y="6286500"/>
              <a:ext cx="38684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补页 01 / 05 · 时间线覆盖 2011–2026；具体日期与证据见第 20、21 页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25289" y="6286500"/>
              <a:ext cx="3999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EXT 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4120896" cy="659892"/>
            <a:chOff x="559308" y="273050"/>
            <a:chExt cx="4120896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57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补页 02 · 产品体验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41208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每个产品到底能帮人干什么</a:t>
              </a:r>
            </a:p>
          </p:txBody>
        </p:sp>
      </p:grpSp>
      <p:grpSp>
        <p:nvGrpSpPr>
          <p:cNvPr id="45" name="experience-roster"/>
          <p:cNvGrpSpPr/>
          <p:nvPr/>
        </p:nvGrpSpPr>
        <p:grpSpPr>
          <a:xfrm>
            <a:off x="563499" y="1282700"/>
            <a:ext cx="11089120" cy="4671441"/>
            <a:chOff x="563499" y="1282700"/>
            <a:chExt cx="11089120" cy="4671441"/>
          </a:xfrm>
        </p:grpSpPr>
        <p:sp>
          <p:nvSpPr>
            <p:cNvPr id="5" name="TextBox 5"/>
            <p:cNvSpPr txBox="1"/>
            <p:nvPr/>
          </p:nvSpPr>
          <p:spPr>
            <a:xfrm>
              <a:off x="566166" y="1282700"/>
              <a:ext cx="55374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“这是什么？” · “下一步怎么做？” · “能帮我订吗？” · “陪我一起做” · “记住并提醒我”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562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00500" y="1676400"/>
              <a:ext cx="9525" cy="4133850"/>
            </a:xfrm>
            <a:custGeom>
              <a:avLst/>
              <a:gdLst/>
              <a:ahLst/>
              <a:cxnLst/>
              <a:rect l="l" t="t" r="r" b="b"/>
              <a:pathLst>
                <a:path w="9525" h="4133850">
                  <a:moveTo>
                    <a:pt x="0" y="0"/>
                  </a:moveTo>
                  <a:lnTo>
                    <a:pt x="0" y="41338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810500" y="1676400"/>
              <a:ext cx="9525" cy="4133850"/>
            </a:xfrm>
            <a:custGeom>
              <a:avLst/>
              <a:gdLst/>
              <a:ahLst/>
              <a:cxnLst/>
              <a:rect l="l" t="t" r="r" b="b"/>
              <a:pathLst>
                <a:path w="9525" h="4133850">
                  <a:moveTo>
                    <a:pt x="0" y="0"/>
                  </a:moveTo>
                  <a:lnTo>
                    <a:pt x="0" y="413385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6547" y="1733550"/>
              <a:ext cx="11770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系统 / App 助手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2019300"/>
              <a:ext cx="2190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小艺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：看画面后直接问，也能调系统服务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738" y="2305050"/>
              <a:ext cx="25689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Gemini Live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：共享镜头/屏幕，实时解释并纠错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2590800"/>
              <a:ext cx="18478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ChatGPT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：指着现场问，连续追问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738" y="2876550"/>
              <a:ext cx="30704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Apple Visual Intelligence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：对准物体识物/翻译/查地点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738" y="3162300"/>
              <a:ext cx="25334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Copilot Vision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：看工作画面，总结并高亮重点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6738" y="3448050"/>
              <a:ext cx="27811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Bixby / 超级小爱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：语音找内容、控设备、圈屏提问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6738" y="3733800"/>
              <a:ext cx="22931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Muse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：说出目标，后台跨 App 执行并确认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738" y="4019550"/>
              <a:ext cx="25147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SeedRealtime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：边看、边听、边说，持续协作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6738" y="4438650"/>
              <a:ext cx="30368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共同体验：少打字、少切 App，让系统接住现场上下文。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86047" y="1733550"/>
              <a:ext cx="16630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眼镜、屏幕、家庭与汽车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86238" y="2019300"/>
              <a:ext cx="23108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Ray-Ban Meta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：免手持看、问、拍、翻译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86238" y="2305050"/>
              <a:ext cx="23621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Meta Display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：镜片里看导航、字幕和提醒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86238" y="2590800"/>
              <a:ext cx="22544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Meta Audio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：不拍画面，只用声音和助手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86238" y="2876550"/>
              <a:ext cx="25441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Android XR / Snap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：第一视角共享与主动提醒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86238" y="3162300"/>
              <a:ext cx="2330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华为/小米/夸克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：拍录、识别、导航、支付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86238" y="3448050"/>
              <a:ext cx="28919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Samsung Vision / 海信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：电视内容问答、看护、画质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86238" y="3733800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小度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：家庭看护、陪伴与设备控制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86238" y="4019550"/>
              <a:ext cx="24185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理想 / NOMI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：分辨谁、坐哪、指向哪并服务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86238" y="4400550"/>
              <a:ext cx="2636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Glass / Stories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：早期穿戴入口，日常价值不足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86238" y="4686300"/>
              <a:ext cx="2573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Humane / Rabbit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：想替代手机，真实执行不稳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96047" y="1733550"/>
              <a:ext cx="15109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无障碍与能力基础设施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96238" y="2019300"/>
              <a:ext cx="21302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Seeing AI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：读文字、认物件、描述场景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96238" y="2305050"/>
              <a:ext cx="172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Be My AI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：解释图片并继续追问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96238" y="2590800"/>
              <a:ext cx="19919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vivo 看见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：实时描述环境和寻找物品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96238" y="2876550"/>
              <a:ext cx="28301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Be My Eyes Workplace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：AI 协助，必要时人工接手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96238" y="3162300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拍立淘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：拍图找同款、比价、溯源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96238" y="3448050"/>
              <a:ext cx="24069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TwelveLabs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：上传视频后搜索、分析和标注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96238" y="3733800"/>
              <a:ext cx="25699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Vision-Agents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：让开发者搭会看会听的 Agent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96238" y="4019550"/>
              <a:ext cx="30380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LiveKit / Pipecat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：实时音视频、打断、多 Agent 接力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96238" y="4305300"/>
              <a:ext cx="28496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Dograh / VLX-Flow</a:t>
              </a:r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：自托管工作流与流式视觉理解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96238" y="4686300"/>
              <a:ext cx="36563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这些不是终端助手，而是别人产品背后的“耳朵、眼睛和行动管线”。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71500" y="52006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6166" y="53784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用词原则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18666" y="5378450"/>
              <a:ext cx="52547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先说用户要完成什么，再说产品怎么帮；不要用“学习、办公、赋能”代替具体动作。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3499" y="5645150"/>
              <a:ext cx="724249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分：同一个“多模态”，有人帮我查，有人陪我做，也有人替我把事办完。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5" cy="176212"/>
            <a:chOff x="566738" y="6286500"/>
            <a:chExt cx="11058525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36200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补页 02 / 05 · 产品能力按公开材料整理；具体体验仍需同任务实测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25289" y="6286500"/>
              <a:ext cx="3999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EXT 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6957731" cy="659892"/>
            <a:chOff x="559308" y="273050"/>
            <a:chExt cx="6957731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57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补页 03 · 横向布局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69577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大家不在同一层竞争：从“答一下”到“替我做”</a:t>
              </a:r>
            </a:p>
          </p:txBody>
        </p:sp>
      </p:grpSp>
      <p:grpSp>
        <p:nvGrpSpPr>
          <p:cNvPr id="45" name="landscape-map"/>
          <p:cNvGrpSpPr/>
          <p:nvPr/>
        </p:nvGrpSpPr>
        <p:grpSpPr>
          <a:xfrm>
            <a:off x="417269" y="1270000"/>
            <a:ext cx="11203231" cy="4636643"/>
            <a:chOff x="417269" y="1270000"/>
            <a:chExt cx="11203231" cy="4636643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137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横轴看行动深度，纵轴看上下文范围；位置是产品能力对比，不是市场份额。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619250" y="49530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619250" y="1752600"/>
              <a:ext cx="9525" cy="3200400"/>
            </a:xfrm>
            <a:custGeom>
              <a:avLst/>
              <a:gdLst/>
              <a:ahLst/>
              <a:cxnLst/>
              <a:rect l="l" t="t" r="r" b="b"/>
              <a:pathLst>
                <a:path w="9525" h="3200400">
                  <a:moveTo>
                    <a:pt x="0" y="32004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6AEA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826709" y="5130800"/>
              <a:ext cx="3491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回答一个问题 → 指引下一步 → 执行操作 → 承担任务结果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 rot="-5400000">
              <a:off x="417269" y="3326321"/>
              <a:ext cx="19362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单次 / 单设备 → 持续 / 跨设备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572250" y="1752600"/>
              <a:ext cx="9525" cy="3200400"/>
            </a:xfrm>
            <a:custGeom>
              <a:avLst/>
              <a:gdLst/>
              <a:ahLst/>
              <a:cxnLst/>
              <a:rect l="l" t="t" r="r" b="b"/>
              <a:pathLst>
                <a:path w="9525"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noFill/>
            <a:ln w="9525">
              <a:solidFill>
                <a:srgbClr val="D6CFC3"/>
              </a:solidFill>
              <a:custDash>
                <a:ds d="600000" sp="600000"/>
              </a:custDash>
            </a:ln>
          </p:spPr>
        </p:sp>
        <p:sp>
          <p:nvSpPr>
            <p:cNvPr id="11" name="Line 11"/>
            <p:cNvSpPr/>
            <p:nvPr/>
          </p:nvSpPr>
          <p:spPr>
            <a:xfrm>
              <a:off x="1619250" y="33528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  <a:custDash>
                <a:ds d="600000" sp="600000"/>
              </a:custDash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937766" y="4425950"/>
              <a:ext cx="13121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视觉搜索 / 内容识别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38147" y="4667250"/>
              <a:ext cx="25258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Lens：看到就搜/译；Seeing AI：看图朗读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37766" y="26924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实时感知与对话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38147" y="2933700"/>
              <a:ext cx="313248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Gemini Live：边看边聊；SeedRealtime：连续看听说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38147" y="3143250"/>
              <a:ext cx="21481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Guided Vision：镜头不对就教你调整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33666" y="4425950"/>
              <a:ext cx="102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工作 / 设备执行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34047" y="4667250"/>
              <a:ext cx="303175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Copilot：看工作画面并高亮；Bixby：调用系统功能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3666" y="2673350"/>
              <a:ext cx="892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全情境 Agent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34047" y="2914650"/>
              <a:ext cx="25737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Muse：记住目标、后台跑任务、付款前确认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34047" y="3124200"/>
              <a:ext cx="23219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Be My Eyes：AI 协助，必要时人工接管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866900" y="1866900"/>
              <a:ext cx="2381250" cy="514350"/>
            </a:xfrm>
            <a:prstGeom prst="rect">
              <a:avLst/>
            </a:prstGeom>
            <a:solidFill>
              <a:srgbClr val="1F5A49">
                <a:alpha val="8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976247" y="19621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多模态系统助手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76438" y="2171700"/>
              <a:ext cx="19485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小艺 / 超级小爱 / ChatGPT / Apple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15100" y="1866900"/>
              <a:ext cx="2381250" cy="514350"/>
            </a:xfrm>
            <a:prstGeom prst="rect">
              <a:avLst/>
            </a:prstGeom>
            <a:solidFill>
              <a:srgbClr val="C14E2C">
                <a:alpha val="8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24447" y="19621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可执行个人代理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24638" y="2171700"/>
              <a:ext cx="13013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Muse / Copilot / Bixby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686300" y="4362450"/>
              <a:ext cx="1676400" cy="400050"/>
            </a:xfrm>
            <a:prstGeom prst="rect">
              <a:avLst/>
            </a:prstGeom>
            <a:solidFill>
              <a:srgbClr val="1F5A49">
                <a:alpha val="6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795838" y="4495800"/>
              <a:ext cx="8369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视觉交易 / API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00738" y="4508500"/>
              <a:ext cx="10775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拍立淘 · TwelveLabs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686300" y="3695700"/>
              <a:ext cx="1676400" cy="400050"/>
            </a:xfrm>
            <a:prstGeom prst="rect">
              <a:avLst/>
            </a:prstGeom>
            <a:solidFill>
              <a:srgbClr val="A33B27">
                <a:alpha val="6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95838" y="382905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无障碍可视化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14988" y="3841750"/>
              <a:ext cx="7940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vivo · Be My AI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829800" y="1790700"/>
              <a:ext cx="1676400" cy="1485900"/>
            </a:xfrm>
            <a:prstGeom prst="rect">
              <a:avLst/>
            </a:prstGeom>
            <a:solidFill>
              <a:srgbClr val="F4F0E7"/>
            </a:solidFill>
            <a:ln w="19050">
              <a:solidFill>
                <a:srgbClr val="C14E2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977438" y="1943100"/>
              <a:ext cx="892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75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2026 最新边界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77247" y="2190750"/>
              <a:ext cx="3470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Muse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77438" y="2413000"/>
              <a:ext cx="9091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全情境 / 后台执行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77247" y="2609850"/>
              <a:ext cx="8908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SeedRealtime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77438" y="2832100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连续音视频全双工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977247" y="3028950"/>
              <a:ext cx="86986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Guided Vision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977438" y="3251200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主动纠错镜头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571500" y="5562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66547" y="57150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六个判断维度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04797" y="5715000"/>
              <a:ext cx="45350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连续上下文 · 行动深度 · 终端绑定 · 视觉/空间 · 生态权限 · 隐私与信任成本</a:t>
              </a:r>
            </a:p>
          </p:txBody>
        </p:sp>
      </p:grpSp>
      <p:grpSp>
        <p:nvGrpSpPr>
          <p:cNvPr id="48" name="page-footer"/>
          <p:cNvGrpSpPr/>
          <p:nvPr/>
        </p:nvGrpSpPr>
        <p:grpSpPr>
          <a:xfrm>
            <a:off x="566738" y="6286500"/>
            <a:ext cx="11058525" cy="176212"/>
            <a:chOff x="566738" y="6286500"/>
            <a:chExt cx="11058525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566738" y="6286500"/>
              <a:ext cx="34746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补页 03 / 05 · 位置为定性映射；高亮框表示 2026 年新扩展边界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25289" y="6286500"/>
              <a:ext cx="3999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EXT 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193280" cy="659892"/>
            <a:chOff x="559308" y="273050"/>
            <a:chExt cx="7193280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457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补页 04 · 经验教训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1932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行业不是没有技术，而是很多产品没把任务做完</a:t>
              </a:r>
            </a:p>
          </p:txBody>
        </p:sp>
      </p:grpSp>
      <p:grpSp>
        <p:nvGrpSpPr>
          <p:cNvPr id="42" name="lessons"/>
          <p:cNvGrpSpPr/>
          <p:nvPr/>
        </p:nvGrpSpPr>
        <p:grpSpPr>
          <a:xfrm>
            <a:off x="563499" y="1270000"/>
            <a:ext cx="11057001" cy="4741291"/>
            <a:chOff x="563499" y="1270000"/>
            <a:chExt cx="11057001" cy="4741291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把每代产品放在同一张因果链里，会发现成败并不神秘。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50773" y="1657350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看懂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851023" y="1657350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会说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46523" y="165735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会判断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42023" y="165735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会执行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37523" y="165735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会负责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57250" y="20193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28575">
              <a:solidFill>
                <a:srgbClr val="B6AEA1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247775" y="19335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343275" y="19335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438775" y="19335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534275" y="1933575"/>
              <a:ext cx="171450" cy="171450"/>
            </a:xfrm>
            <a:prstGeom prst="ellipse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9610725" y="1914525"/>
              <a:ext cx="209550" cy="209550"/>
            </a:xfrm>
            <a:prstGeom prst="ellipse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86422" y="219075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识别画面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81922" y="219075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连续解释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16842" y="219075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决定下一步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18445" y="2190750"/>
              <a:ext cx="8031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调用工具/系统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80627" y="2190750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确认/接管/审计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71500" y="2647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6166" y="2825750"/>
              <a:ext cx="1735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坑 1：把“看懂”当成“完成”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6166" y="3073400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看图回答很酷，但用户真正想要的是订成功、装正确、问题解决。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547" y="3314700"/>
              <a:ext cx="40014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Lens 单次搜索成立；Muse 和 Copilot 的差别在于是否进入行动链。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71666" y="282575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启示：先定义任务终点，再选模态和模型。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71666" y="307340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交付标准是结果可验证、失败可恢复，而不是答得像人。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71500" y="3638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6166" y="3816350"/>
              <a:ext cx="2681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坑 2：要求用户换设备，却没带来十倍省事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6166" y="4064000"/>
              <a:ext cx="41200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Glass、Stories、Humane、Rabbit 都在提醒：新入口不是需求。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6547" y="4305300"/>
              <a:ext cx="31761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用户不会为了新奇长期忍受充电、配对、隐私和失败。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1666" y="381635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启示：优先寄生现有手机、眼镜、车机、电视入口。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1666" y="4064000"/>
              <a:ext cx="35585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新硬件必须回答“为什么手机做不了、为什么现在要买”。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71500" y="4629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CFC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6166" y="4806950"/>
              <a:ext cx="28224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33B27"/>
                  </a:solidFill>
                  <a:latin typeface="+mn-lt"/>
                  <a:ea typeface="+mn-ea"/>
                  <a:cs typeface="+mn-cs"/>
                </a:rPr>
                <a:t>坑 3：把演示当稳定体验，把下载当长期采用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6166" y="5054600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背景噪声、错识别、断网、权限、支付和人工接管都会发生。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6547" y="5295900"/>
              <a:ext cx="364295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6760"/>
                  </a:solidFill>
                  <a:latin typeface="+mn-lt"/>
                  <a:ea typeface="+mn-ea"/>
                  <a:cs typeface="+mn-cs"/>
                </a:rPr>
                <a:t>Muse 有 1000 万设置，但留存、退货、责任和费率仍需验证。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71666" y="480695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启示：产品能力必须带失败路径。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1666" y="5054600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确认、拒答、重来、转人工、撤销、审计，才是完整体验。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71500" y="5619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3499" y="5702300"/>
              <a:ext cx="769196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分：真正留下来的产品，都是把“理解、执行、纠错、信任”一起做成了系统。</a:t>
              </a:r>
            </a:p>
          </p:txBody>
        </p:sp>
      </p:grpSp>
      <p:grpSp>
        <p:nvGrpSpPr>
          <p:cNvPr id="45" name="page-footer"/>
          <p:cNvGrpSpPr/>
          <p:nvPr/>
        </p:nvGrpSpPr>
        <p:grpSpPr>
          <a:xfrm>
            <a:off x="566738" y="6286500"/>
            <a:ext cx="11058525" cy="176212"/>
            <a:chOff x="566738" y="6286500"/>
            <a:chExt cx="11058525" cy="176212"/>
          </a:xfrm>
        </p:grpSpPr>
        <p:sp>
          <p:nvSpPr>
            <p:cNvPr id="43" name="TextBox 43"/>
            <p:cNvSpPr txBox="1"/>
            <p:nvPr/>
          </p:nvSpPr>
          <p:spPr>
            <a:xfrm>
              <a:off x="566738" y="6286500"/>
              <a:ext cx="31405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补页 04 / 05 · 综合历史竞品、失败案例与新增 Muse 证据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25289" y="6286500"/>
              <a:ext cx="3999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EXT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59308" y="273050"/>
            <a:ext cx="7259422" cy="659892"/>
            <a:chOff x="559308" y="273050"/>
            <a:chExt cx="7259422" cy="659892"/>
          </a:xfrm>
        </p:grpSpPr>
        <p:sp>
          <p:nvSpPr>
            <p:cNvPr id="2" name="TextBox 2"/>
            <p:cNvSpPr txBox="1"/>
            <p:nvPr/>
          </p:nvSpPr>
          <p:spPr>
            <a:xfrm>
              <a:off x="566166" y="273050"/>
              <a:ext cx="1780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补页 05 · 云核心网机会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9308" y="463550"/>
              <a:ext cx="725942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D1C19"/>
                  </a:solidFill>
                  <a:latin typeface="+mj-lt"/>
                  <a:ea typeface="+mj-ea"/>
                  <a:cs typeface="+mj-cs"/>
                </a:rPr>
                <a:t>不要再做多模态 App，做它依赖的实时交互底座</a:t>
              </a:r>
            </a:p>
          </p:txBody>
        </p:sp>
      </p:grpSp>
      <p:grpSp>
        <p:nvGrpSpPr>
          <p:cNvPr id="44" name="cloud-core-future"/>
          <p:cNvGrpSpPr/>
          <p:nvPr/>
        </p:nvGrpSpPr>
        <p:grpSpPr>
          <a:xfrm>
            <a:off x="563499" y="1270000"/>
            <a:ext cx="11057001" cy="4665091"/>
            <a:chOff x="563499" y="1270000"/>
            <a:chExt cx="11057001" cy="4665091"/>
          </a:xfrm>
        </p:grpSpPr>
        <p:sp>
          <p:nvSpPr>
            <p:cNvPr id="5" name="TextBox 5"/>
            <p:cNvSpPr txBox="1"/>
            <p:nvPr/>
          </p:nvSpPr>
          <p:spPr>
            <a:xfrm>
              <a:off x="565785" y="1270000"/>
              <a:ext cx="5749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D4942"/>
                  </a:solidFill>
                  <a:latin typeface="+mn-lt"/>
                  <a:ea typeface="+mn-ea"/>
                  <a:cs typeface="+mn-cs"/>
                </a:rPr>
                <a:t>我们的优势不在再训练一个模型，而在连接、会话、时延、边缘、身份、权限和 SLA。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638300"/>
              <a:ext cx="2476500" cy="1104900"/>
            </a:xfrm>
            <a:prstGeom prst="rect">
              <a:avLst/>
            </a:prstGeom>
            <a:solidFill>
              <a:srgbClr val="1D1C19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17843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实时媒体面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7997" y="20574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音视频上行、抖动、丢包、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7997" y="22669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多方混流、弱网切换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8188" y="2495550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9C1B4"/>
                  </a:solidFill>
                  <a:latin typeface="+mn-lt"/>
                  <a:ea typeface="+mn-ea"/>
                  <a:cs typeface="+mn-cs"/>
                </a:rPr>
                <a:t>卖点：可承诺的体验质量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200400" y="1638300"/>
              <a:ext cx="2476500" cy="1104900"/>
            </a:xfrm>
            <a:prstGeom prst="rect">
              <a:avLst/>
            </a:prstGeom>
            <a:solidFill>
              <a:srgbClr val="1F5A4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366135" y="17843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端边云协同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66897" y="2057400"/>
              <a:ext cx="134237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端侧唤醒/脱敏/预筛；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66897" y="22669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边缘低延迟；云端长记忆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67088" y="249555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6EFEA"/>
                  </a:solidFill>
                  <a:latin typeface="+mn-lt"/>
                  <a:ea typeface="+mn-ea"/>
                  <a:cs typeface="+mn-cs"/>
                </a:rPr>
                <a:t>卖点：成本、隐私与时延平衡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829300" y="1638300"/>
              <a:ext cx="2476500" cy="1104900"/>
            </a:xfrm>
            <a:prstGeom prst="rect">
              <a:avLst/>
            </a:prstGeom>
            <a:solidFill>
              <a:srgbClr val="C14E2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95035" y="1784350"/>
              <a:ext cx="9520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Agent 会话层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95797" y="20574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连续会话、身份、权限、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95797" y="22669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审计、转人工、跨域接管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95988" y="249555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8E9E2"/>
                  </a:solidFill>
                  <a:latin typeface="+mn-lt"/>
                  <a:ea typeface="+mn-ea"/>
                  <a:cs typeface="+mn-cs"/>
                </a:rPr>
                <a:t>卖点：让任务可治理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458200" y="1638300"/>
              <a:ext cx="3162300" cy="1104900"/>
            </a:xfrm>
            <a:prstGeom prst="rect">
              <a:avLst/>
            </a:prstGeom>
            <a:solidFill>
              <a:srgbClr val="6B676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23935" y="1784350"/>
              <a:ext cx="11028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Agent 互操作层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24697" y="2057400"/>
              <a:ext cx="24284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个人 Agent ↔ 企业 Agent；身份、授权、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24697" y="226695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4F0E7"/>
                  </a:solidFill>
                  <a:latin typeface="+mn-lt"/>
                  <a:ea typeface="+mn-ea"/>
                  <a:cs typeface="+mn-cs"/>
                </a:rPr>
                <a:t>交易、可信地址与网络路由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24888" y="2495550"/>
              <a:ext cx="17057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E4DD"/>
                  </a:solidFill>
                  <a:latin typeface="+mn-lt"/>
                  <a:ea typeface="+mn-ea"/>
                  <a:cs typeface="+mn-cs"/>
                </a:rPr>
                <a:t>卖点：从连接人升级为连接任务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6166" y="3016250"/>
              <a:ext cx="160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C14E2C"/>
                  </a:solidFill>
                  <a:latin typeface="+mn-lt"/>
                  <a:ea typeface="+mn-ea"/>
                  <a:cs typeface="+mn-cs"/>
                </a:rPr>
                <a:t>可以做的三个产品方向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5404" y="3276600"/>
              <a:ext cx="14358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1. 实时多模态 QoS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547" y="3543300"/>
              <a:ext cx="37038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按任务保障带宽、时延、优先级；面向眼镜、车机、远程协助。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84904" y="3276600"/>
              <a:ext cx="19641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2. Agent Session Fabric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86047" y="3543300"/>
              <a:ext cx="29123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统一连续会话、上下文状态、权限和跨设备切换。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90154" y="3276600"/>
              <a:ext cx="14705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3. 可信 Agent 通道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91297" y="3543300"/>
              <a:ext cx="29202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身份、授权、审计、数据边界、人工接管和 SLA。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571500" y="39433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1B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6166" y="414020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1F5A49"/>
                  </a:solidFill>
                  <a:latin typeface="+mn-lt"/>
                  <a:ea typeface="+mn-ea"/>
                  <a:cs typeface="+mn-cs"/>
                </a:rPr>
                <a:t>建议路线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66166" y="4425950"/>
              <a:ext cx="5230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0–30 天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23416" y="4425950"/>
              <a:ext cx="3831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拿 Muse / Gemini Live / SeedRealtime 做同一任务网络基线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6166" y="4711700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1–3 个月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13916" y="4711700"/>
              <a:ext cx="32650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做端边云分流、弱网降级、隐私脱敏和人工接管 PoC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6166" y="4997450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3–6 个月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13916" y="499745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选一个高价值任务做垂直闭环：无障碍、现场维护或车舱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6166" y="5283200"/>
              <a:ext cx="664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D1C19"/>
                  </a:solidFill>
                  <a:latin typeface="+mn-lt"/>
                  <a:ea typeface="+mn-ea"/>
                  <a:cs typeface="+mn-cs"/>
                </a:rPr>
                <a:t>6–12 个月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09166" y="5283200"/>
              <a:ext cx="34047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F3B35"/>
                  </a:solidFill>
                  <a:latin typeface="+mn-lt"/>
                  <a:ea typeface="+mn-ea"/>
                  <a:cs typeface="+mn-cs"/>
                </a:rPr>
                <a:t>沉淀 Agent session API、QoS 指标、审计与接管标准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3499" y="5626100"/>
              <a:ext cx="832646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14E2C"/>
                  </a:solidFill>
                  <a:latin typeface="+mj-lt"/>
                  <a:ea typeface="+mj-ea"/>
                  <a:cs typeface="+mj-cs"/>
                </a:rPr>
                <a:t>分：核心网的机会是把多模态 Agent 从“能用”变成“可承诺、可治理、可规模化”。</a:t>
              </a:r>
            </a:p>
          </p:txBody>
        </p:sp>
      </p:grpSp>
      <p:grpSp>
        <p:nvGrpSpPr>
          <p:cNvPr id="47" name="page-footer"/>
          <p:cNvGrpSpPr/>
          <p:nvPr/>
        </p:nvGrpSpPr>
        <p:grpSpPr>
          <a:xfrm>
            <a:off x="566738" y="6286500"/>
            <a:ext cx="11058525" cy="176212"/>
            <a:chOff x="566738" y="6286500"/>
            <a:chExt cx="11058525" cy="176212"/>
          </a:xfrm>
        </p:grpSpPr>
        <p:sp>
          <p:nvSpPr>
            <p:cNvPr id="45" name="TextBox 45"/>
            <p:cNvSpPr txBox="1"/>
            <p:nvPr/>
          </p:nvSpPr>
          <p:spPr>
            <a:xfrm>
              <a:off x="566738" y="6286500"/>
              <a:ext cx="37411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补页 05 / 05 · 基于现有证据的产品方向推断，尚未经过真实客户验证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25289" y="6286500"/>
              <a:ext cx="3999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7A756D"/>
                  </a:solidFill>
                  <a:latin typeface="+mn-lt"/>
                  <a:ea typeface="+mn-ea"/>
                  <a:cs typeface="+mn-cs"/>
                </a:rPr>
                <a:t>EXT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ultimodal-competitor-v2">
  <a:themeElements>
    <a:clrScheme name="multimodal-competitor-v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ultimodal-competitor-v2">
      <a:majorFont>
        <a:latin typeface="SimSun"/>
        <a:ea typeface="SimSun"/>
        <a:cs typeface="SimSu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ultimodal-competitor-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2026-10-29T11:45:00Z</dcterms:created>
  <dcterms:modified xsi:type="dcterms:W3CDTF">2026-10-29T11:45:00Z</dcterms:modified>
  <cp:category/>
  <cp:contentStatus/>
</cp:coreProperties>
</file>