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ultimodal-timeline-horizontal-v3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ultimodal-timeline-horizontal-v3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ase-2011-2017"/>
          <p:cNvSpPr/>
          <p:nvPr/>
        </p:nvSpPr>
        <p:spPr>
          <a:xfrm>
            <a:off x="1885950" y="876300"/>
            <a:ext cx="4324350" cy="4972050"/>
          </a:xfrm>
          <a:prstGeom prst="rect">
            <a:avLst/>
          </a:prstGeom>
          <a:solidFill>
            <a:srgbClr val="1D1C19">
              <a:alpha val="3500"/>
            </a:srgbClr>
          </a:solidFill>
          <a:ln w="9525">
            <a:solidFill>
              <a:srgbClr val="B6AEA1"/>
            </a:solidFill>
          </a:ln>
        </p:spPr>
      </p:sp>
      <p:sp>
        <p:nvSpPr>
          <p:cNvPr id="3" name="phase-2018-2021"/>
          <p:cNvSpPr/>
          <p:nvPr/>
        </p:nvSpPr>
        <p:spPr>
          <a:xfrm>
            <a:off x="6210300" y="876300"/>
            <a:ext cx="2552700" cy="4972050"/>
          </a:xfrm>
          <a:prstGeom prst="rect">
            <a:avLst/>
          </a:prstGeom>
          <a:solidFill>
            <a:srgbClr val="1F5A49">
              <a:alpha val="5500"/>
            </a:srgbClr>
          </a:solidFill>
          <a:ln w="9525">
            <a:solidFill>
              <a:srgbClr val="B6AEA1"/>
            </a:solidFill>
          </a:ln>
        </p:spPr>
      </p:sp>
      <p:sp>
        <p:nvSpPr>
          <p:cNvPr id="4" name="phase-2022-2023"/>
          <p:cNvSpPr/>
          <p:nvPr/>
        </p:nvSpPr>
        <p:spPr>
          <a:xfrm>
            <a:off x="8763000" y="876300"/>
            <a:ext cx="1285875" cy="4972050"/>
          </a:xfrm>
          <a:prstGeom prst="rect">
            <a:avLst/>
          </a:prstGeom>
          <a:solidFill>
            <a:srgbClr val="A33B27">
              <a:alpha val="6500"/>
            </a:srgbClr>
          </a:solidFill>
          <a:ln w="9525">
            <a:solidFill>
              <a:srgbClr val="B6AEA1"/>
            </a:solidFill>
          </a:ln>
        </p:spPr>
      </p:sp>
      <p:sp>
        <p:nvSpPr>
          <p:cNvPr id="5" name="phase-2024-2026"/>
          <p:cNvSpPr/>
          <p:nvPr/>
        </p:nvSpPr>
        <p:spPr>
          <a:xfrm>
            <a:off x="10048875" y="876300"/>
            <a:ext cx="1743075" cy="4972050"/>
          </a:xfrm>
          <a:prstGeom prst="rect">
            <a:avLst/>
          </a:prstGeom>
          <a:solidFill>
            <a:srgbClr val="C14E2C">
              <a:alpha val="10000"/>
            </a:srgbClr>
          </a:solidFill>
          <a:ln w="14288">
            <a:solidFill>
              <a:srgbClr val="C14E2C"/>
            </a:solidFill>
          </a:ln>
        </p:spPr>
      </p:sp>
      <p:grpSp>
        <p:nvGrpSpPr>
          <p:cNvPr id="14" name="page-title"/>
          <p:cNvGrpSpPr/>
          <p:nvPr/>
        </p:nvGrpSpPr>
        <p:grpSpPr>
          <a:xfrm>
            <a:off x="560070" y="285750"/>
            <a:ext cx="11065192" cy="624205"/>
            <a:chOff x="560070" y="285750"/>
            <a:chExt cx="11065192" cy="624205"/>
          </a:xfrm>
        </p:grpSpPr>
        <p:sp>
          <p:nvSpPr>
            <p:cNvPr id="6" name="TextBox 6"/>
            <p:cNvSpPr txBox="1"/>
            <p:nvPr/>
          </p:nvSpPr>
          <p:spPr>
            <a:xfrm>
              <a:off x="566547" y="285750"/>
              <a:ext cx="214072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2011—2026 · 完整产品时间线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60070" y="469900"/>
              <a:ext cx="620283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多模态交互：从“问一句”到“看着我一起做”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8777288" y="311150"/>
              <a:ext cx="2847974" cy="385763"/>
              <a:chOff x="8777288" y="311150"/>
              <a:chExt cx="2847974" cy="385763"/>
            </a:xfrm>
          </p:grpSpPr>
          <p:sp>
            <p:nvSpPr>
              <p:cNvPr id="8" name="Ellipse 8"/>
              <p:cNvSpPr/>
              <p:nvPr/>
            </p:nvSpPr>
            <p:spPr>
              <a:xfrm>
                <a:off x="8777288" y="319088"/>
                <a:ext cx="85725" cy="85725"/>
              </a:xfrm>
              <a:prstGeom prst="ellipse">
                <a:avLst/>
              </a:prstGeom>
              <a:solidFill>
                <a:srgbClr val="C14E2C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8929688" y="311150"/>
                <a:ext cx="413385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B6760"/>
                    </a:solidFill>
                    <a:latin typeface="+mn-lt"/>
                    <a:ea typeface="+mn-ea"/>
                    <a:cs typeface="+mn-cs"/>
                  </a:rPr>
                  <a:t>终端产品</a:t>
                </a:r>
              </a:p>
            </p:txBody>
          </p:sp>
          <p:sp>
            <p:nvSpPr>
              <p:cNvPr id="10" name="Rectangle 10"/>
              <p:cNvSpPr/>
              <p:nvPr/>
            </p:nvSpPr>
            <p:spPr>
              <a:xfrm>
                <a:off x="9658350" y="314325"/>
                <a:ext cx="85725" cy="85725"/>
              </a:xfrm>
              <a:prstGeom prst="rect">
                <a:avLst/>
              </a:prstGeom>
              <a:solidFill>
                <a:srgbClr val="1F5A49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9805988" y="311150"/>
                <a:ext cx="842239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B6760"/>
                    </a:solidFill>
                    <a:latin typeface="+mn-lt"/>
                    <a:ea typeface="+mn-ea"/>
                    <a:cs typeface="+mn-cs"/>
                  </a:rPr>
                  <a:t>模型 / Agent 底座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697402" y="549275"/>
                <a:ext cx="1927860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750" dirty="0">
                    <a:solidFill>
                      <a:srgbClr val="6B6760"/>
                    </a:solidFill>
                    <a:latin typeface="+mn-lt"/>
                    <a:ea typeface="+mn-ea"/>
                    <a:cs typeface="+mn-cs"/>
                  </a:rPr>
                  <a:t>横向读时间，纵向看用户把什么任务交给它</a:t>
                </a:r>
              </a:p>
            </p:txBody>
          </p:sp>
        </p:grpSp>
      </p:grpSp>
      <p:grpSp>
        <p:nvGrpSpPr>
          <p:cNvPr id="60" name="phase-guide"/>
          <p:cNvGrpSpPr/>
          <p:nvPr/>
        </p:nvGrpSpPr>
        <p:grpSpPr>
          <a:xfrm>
            <a:off x="1859431" y="927100"/>
            <a:ext cx="9968562" cy="816928"/>
            <a:chOff x="1859431" y="927100"/>
            <a:chExt cx="9968562" cy="816928"/>
          </a:xfrm>
        </p:grpSpPr>
        <p:sp>
          <p:nvSpPr>
            <p:cNvPr id="15" name="TextBox 15"/>
            <p:cNvSpPr txBox="1"/>
            <p:nvPr/>
          </p:nvSpPr>
          <p:spPr>
            <a:xfrm>
              <a:off x="1995488" y="927100"/>
              <a:ext cx="1214145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2011—2017 · 入口出现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995488" y="1143000"/>
              <a:ext cx="1420981" cy="1247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3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从“打开 App 自己点” → “张嘴问入口”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95488" y="1314450"/>
              <a:ext cx="1384093" cy="1247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3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引入：语音助手 + 屏幕上的视觉搜索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9838" y="927100"/>
              <a:ext cx="1214145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2018—2021 · 边看边问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19838" y="1143000"/>
              <a:ext cx="1480989" cy="1247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3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从“拍一下再查” → “镜头一照就叠答案”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19838" y="1314450"/>
              <a:ext cx="1129661" cy="1247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3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引入：实时取景 + 智能屏输出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872538" y="927100"/>
              <a:ext cx="1214145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2022—2023 · 看懂再聊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72538" y="1098550"/>
              <a:ext cx="792988" cy="25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050"/>
                </a:lnSpc>
              </a:pPr>
              <a:r>
                <a:rPr lang="zh-CN" sz="6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从“看懂这是什么”</a:t>
              </a:r>
              <a:br>
                <a:rPr lang="zh-CN" sz="6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6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→ “围绕图片连续追问”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872538" y="1390650"/>
              <a:ext cx="760705" cy="1228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引入：视觉语言模型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158412" y="927100"/>
              <a:ext cx="1214145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2024—2026 · 实时代理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158412" y="1098550"/>
              <a:ext cx="792988" cy="25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050"/>
                </a:lnSpc>
              </a:pPr>
              <a:r>
                <a:rPr lang="zh-CN" sz="6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从“答一句、给建议”</a:t>
              </a:r>
              <a:br>
                <a:rPr lang="zh-CN" sz="6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6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→ “持续看并替你执行”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158412" y="1390650"/>
              <a:ext cx="1022896" cy="1228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2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引入：实时音视频 + Agent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1962150" y="1562100"/>
              <a:ext cx="9763125" cy="9525"/>
            </a:xfrm>
            <a:custGeom>
              <a:avLst/>
              <a:gdLst/>
              <a:ahLst/>
              <a:cxnLst/>
              <a:rect l="l" t="t" r="r" b="b"/>
              <a:pathLst>
                <a:path w="9763125" h="9525">
                  <a:moveTo>
                    <a:pt x="0" y="0"/>
                  </a:moveTo>
                  <a:lnTo>
                    <a:pt x="9763125" y="0"/>
                  </a:lnTo>
                </a:path>
              </a:pathLst>
            </a:custGeom>
            <a:noFill/>
            <a:ln w="14288">
              <a:solidFill>
                <a:srgbClr val="AFA79A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1962150" y="1562100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9525">
              <a:solidFill>
                <a:srgbClr val="AFA79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859431" y="1619250"/>
              <a:ext cx="205437" cy="1247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3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2011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2606992" y="15621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510419" y="1619250"/>
              <a:ext cx="193147" cy="1228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2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2012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3251835" y="15621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155262" y="1619250"/>
              <a:ext cx="193147" cy="1228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2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2013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3896678" y="15621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800104" y="1619250"/>
              <a:ext cx="193147" cy="1228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2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2014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4541520" y="15621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444947" y="1619250"/>
              <a:ext cx="193147" cy="1228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2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2015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5186362" y="15621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089789" y="1619250"/>
              <a:ext cx="193147" cy="1228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2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2016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5831205" y="15621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734632" y="1619250"/>
              <a:ext cx="193147" cy="1228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2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2017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6476048" y="15621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79474" y="1619250"/>
              <a:ext cx="193147" cy="1228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2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2018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7120890" y="15621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024317" y="1619250"/>
              <a:ext cx="193147" cy="1228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2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2019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7765732" y="15621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669159" y="1619250"/>
              <a:ext cx="193147" cy="1228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2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2020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8410575" y="15621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314002" y="1619250"/>
              <a:ext cx="193147" cy="1228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2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2021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9055418" y="15621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958844" y="1619250"/>
              <a:ext cx="193147" cy="1228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2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2022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9700260" y="15621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603687" y="1619250"/>
              <a:ext cx="193147" cy="1228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2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2023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10345102" y="15621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248529" y="1619250"/>
              <a:ext cx="193147" cy="1228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2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2024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10989945" y="15621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893372" y="1619250"/>
              <a:ext cx="193147" cy="1228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2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2025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11725275" y="1562100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14288">
              <a:solidFill>
                <a:srgbClr val="C14E2C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1622556" y="1619250"/>
              <a:ext cx="205437" cy="1247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3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2026</a:t>
              </a:r>
            </a:p>
          </p:txBody>
        </p:sp>
      </p:grpSp>
      <p:grpSp>
        <p:nvGrpSpPr>
          <p:cNvPr id="84" name="lane-assistants"/>
          <p:cNvGrpSpPr/>
          <p:nvPr/>
        </p:nvGrpSpPr>
        <p:grpSpPr>
          <a:xfrm>
            <a:off x="566738" y="1781175"/>
            <a:ext cx="11158537" cy="566737"/>
            <a:chOff x="566738" y="1781175"/>
            <a:chExt cx="11158537" cy="566737"/>
          </a:xfrm>
        </p:grpSpPr>
        <p:sp>
          <p:nvSpPr>
            <p:cNvPr id="61" name="TextBox 61"/>
            <p:cNvSpPr txBox="1"/>
            <p:nvPr/>
          </p:nvSpPr>
          <p:spPr>
            <a:xfrm>
              <a:off x="566738" y="188595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对话入口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66738" y="2095500"/>
              <a:ext cx="869208" cy="12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手机 / 音箱 / 系统助手</a:t>
              </a:r>
            </a:p>
          </p:txBody>
        </p:sp>
        <p:sp>
          <p:nvSpPr>
            <p:cNvPr id="63" name="Line 63"/>
            <p:cNvSpPr/>
            <p:nvPr/>
          </p:nvSpPr>
          <p:spPr>
            <a:xfrm>
              <a:off x="1790700" y="1885950"/>
              <a:ext cx="9525" cy="400050"/>
            </a:xfrm>
            <a:custGeom>
              <a:avLst/>
              <a:gdLst/>
              <a:ahLst/>
              <a:cxnLst/>
              <a:rect l="l" t="t" r="r" b="b"/>
              <a:pathLst>
                <a:path w="9525" h="400050">
                  <a:moveTo>
                    <a:pt x="0" y="0"/>
                  </a:moveTo>
                  <a:lnTo>
                    <a:pt x="0" y="400050"/>
                  </a:lnTo>
                </a:path>
              </a:pathLst>
            </a:custGeom>
            <a:noFill/>
            <a:ln w="19050">
              <a:solidFill>
                <a:srgbClr val="C14E2C"/>
              </a:solidFill>
            </a:ln>
          </p:spPr>
        </p:sp>
        <p:sp>
          <p:nvSpPr>
            <p:cNvPr id="64" name="Line 64"/>
            <p:cNvSpPr/>
            <p:nvPr/>
          </p:nvSpPr>
          <p:spPr>
            <a:xfrm>
              <a:off x="1962150" y="2057400"/>
              <a:ext cx="9763125" cy="9525"/>
            </a:xfrm>
            <a:custGeom>
              <a:avLst/>
              <a:gdLst/>
              <a:ahLst/>
              <a:cxnLst/>
              <a:rect l="l" t="t" r="r" b="b"/>
              <a:pathLst>
                <a:path w="9763125" h="9525">
                  <a:moveTo>
                    <a:pt x="0" y="0"/>
                  </a:moveTo>
                  <a:lnTo>
                    <a:pt x="9763125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65" name="Ellipse 65"/>
            <p:cNvSpPr/>
            <p:nvPr/>
          </p:nvSpPr>
          <p:spPr>
            <a:xfrm>
              <a:off x="1924050" y="2019300"/>
              <a:ext cx="76200" cy="762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3858578" y="2019300"/>
              <a:ext cx="76200" cy="762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5148262" y="2019300"/>
              <a:ext cx="76200" cy="762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5793105" y="2019300"/>
              <a:ext cx="76200" cy="762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9662160" y="2019300"/>
              <a:ext cx="76200" cy="762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10307002" y="2019300"/>
              <a:ext cx="76200" cy="762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71" name="Ellipse 71"/>
            <p:cNvSpPr/>
            <p:nvPr/>
          </p:nvSpPr>
          <p:spPr>
            <a:xfrm>
              <a:off x="10951845" y="2019300"/>
              <a:ext cx="76200" cy="762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2057400" y="1781175"/>
              <a:ext cx="1381125" cy="257175"/>
            </a:xfrm>
            <a:prstGeom prst="roundRect">
              <a:avLst>
                <a:gd name="adj" fmla="val 11111"/>
              </a:avLst>
            </a:prstGeom>
            <a:solidFill>
              <a:srgbClr val="F4F0E7">
                <a:alpha val="95000"/>
              </a:srgbClr>
            </a:solidFill>
            <a:ln w="7620">
              <a:solidFill>
                <a:srgbClr val="C9C1B4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2128838" y="1806575"/>
              <a:ext cx="501793" cy="134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2011 · Siri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2128838" y="1924050"/>
              <a:ext cx="736473" cy="1190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用嘴问天气、定闹钟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3238500" y="1781175"/>
              <a:ext cx="2333625" cy="257175"/>
            </a:xfrm>
            <a:prstGeom prst="roundRect">
              <a:avLst>
                <a:gd name="adj" fmla="val 11111"/>
              </a:avLst>
            </a:prstGeom>
            <a:solidFill>
              <a:srgbClr val="F4F0E7">
                <a:alpha val="95000"/>
              </a:srgbClr>
            </a:solidFill>
            <a:ln w="7620">
              <a:solidFill>
                <a:srgbClr val="C9C1B4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3309938" y="1806575"/>
              <a:ext cx="1629850" cy="134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2014–17 · Echo / Assistant / Bixby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3309938" y="1924050"/>
              <a:ext cx="1382649" cy="1190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在家免手问；跨设备问；替手机点按钮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9334500" y="1781175"/>
              <a:ext cx="2381250" cy="257175"/>
            </a:xfrm>
            <a:prstGeom prst="roundRect">
              <a:avLst>
                <a:gd name="adj" fmla="val 11111"/>
              </a:avLst>
            </a:prstGeom>
            <a:solidFill>
              <a:srgbClr val="F4F0E7">
                <a:alpha val="95000"/>
              </a:srgbClr>
            </a:solidFill>
            <a:ln w="7620">
              <a:solidFill>
                <a:srgbClr val="C14E2C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9405938" y="1806575"/>
              <a:ext cx="1858715" cy="134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2024–25 · GPT-4o / Copilot Vision / 小艺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405938" y="1924050"/>
              <a:ext cx="978789" cy="1190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实时看画面；指一下也能问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9525000" y="2085975"/>
              <a:ext cx="2190750" cy="257175"/>
            </a:xfrm>
            <a:prstGeom prst="roundRect">
              <a:avLst>
                <a:gd name="adj" fmla="val 11111"/>
              </a:avLst>
            </a:prstGeom>
            <a:solidFill>
              <a:srgbClr val="F4F0E7">
                <a:alpha val="95000"/>
              </a:srgbClr>
            </a:solidFill>
            <a:ln w="7620">
              <a:solidFill>
                <a:srgbClr val="C14E2C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9596438" y="2111375"/>
              <a:ext cx="1124223" cy="134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2023 · Gemini / ChatGPT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596438" y="2228850"/>
              <a:ext cx="978789" cy="1190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发图后解释，还能连续追问</a:t>
              </a:r>
            </a:p>
          </p:txBody>
        </p:sp>
      </p:grpSp>
      <p:grpSp>
        <p:nvGrpSpPr>
          <p:cNvPr id="104" name="lane-visual-search"/>
          <p:cNvGrpSpPr/>
          <p:nvPr/>
        </p:nvGrpSpPr>
        <p:grpSpPr>
          <a:xfrm>
            <a:off x="566738" y="2409825"/>
            <a:ext cx="11196637" cy="566737"/>
            <a:chOff x="566738" y="2409825"/>
            <a:chExt cx="11196637" cy="566737"/>
          </a:xfrm>
        </p:grpSpPr>
        <p:sp>
          <p:nvSpPr>
            <p:cNvPr id="85" name="TextBox 85"/>
            <p:cNvSpPr txBox="1"/>
            <p:nvPr/>
          </p:nvSpPr>
          <p:spPr>
            <a:xfrm>
              <a:off x="566738" y="251460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镜头看图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566738" y="2724150"/>
              <a:ext cx="689760" cy="12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视觉搜索 / 无障碍</a:t>
              </a:r>
            </a:p>
          </p:txBody>
        </p:sp>
        <p:sp>
          <p:nvSpPr>
            <p:cNvPr id="87" name="Line 87"/>
            <p:cNvSpPr/>
            <p:nvPr/>
          </p:nvSpPr>
          <p:spPr>
            <a:xfrm>
              <a:off x="1790700" y="2514600"/>
              <a:ext cx="9525" cy="400050"/>
            </a:xfrm>
            <a:custGeom>
              <a:avLst/>
              <a:gdLst/>
              <a:ahLst/>
              <a:cxnLst/>
              <a:rect l="l" t="t" r="r" b="b"/>
              <a:pathLst>
                <a:path w="9525" h="400050">
                  <a:moveTo>
                    <a:pt x="0" y="0"/>
                  </a:moveTo>
                  <a:lnTo>
                    <a:pt x="0" y="400050"/>
                  </a:lnTo>
                </a:path>
              </a:pathLst>
            </a:custGeom>
            <a:noFill/>
            <a:ln w="19050">
              <a:solidFill>
                <a:srgbClr val="1F5A49"/>
              </a:solidFill>
            </a:ln>
          </p:spPr>
        </p:sp>
        <p:sp>
          <p:nvSpPr>
            <p:cNvPr id="88" name="Line 88"/>
            <p:cNvSpPr/>
            <p:nvPr/>
          </p:nvSpPr>
          <p:spPr>
            <a:xfrm>
              <a:off x="1962150" y="2686050"/>
              <a:ext cx="9763125" cy="9525"/>
            </a:xfrm>
            <a:custGeom>
              <a:avLst/>
              <a:gdLst/>
              <a:ahLst/>
              <a:cxnLst/>
              <a:rect l="l" t="t" r="r" b="b"/>
              <a:pathLst>
                <a:path w="9763125" h="9525">
                  <a:moveTo>
                    <a:pt x="0" y="0"/>
                  </a:moveTo>
                  <a:lnTo>
                    <a:pt x="9763125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89" name="Ellipse 89"/>
            <p:cNvSpPr/>
            <p:nvPr/>
          </p:nvSpPr>
          <p:spPr>
            <a:xfrm>
              <a:off x="5793105" y="2647950"/>
              <a:ext cx="76200" cy="76200"/>
            </a:xfrm>
            <a:prstGeom prst="ellipse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90" name="Ellipse 90"/>
            <p:cNvSpPr/>
            <p:nvPr/>
          </p:nvSpPr>
          <p:spPr>
            <a:xfrm>
              <a:off x="6437948" y="2647950"/>
              <a:ext cx="76200" cy="76200"/>
            </a:xfrm>
            <a:prstGeom prst="ellipse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91" name="Ellipse 91"/>
            <p:cNvSpPr/>
            <p:nvPr/>
          </p:nvSpPr>
          <p:spPr>
            <a:xfrm>
              <a:off x="7082790" y="2647950"/>
              <a:ext cx="76200" cy="76200"/>
            </a:xfrm>
            <a:prstGeom prst="ellipse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92" name="Ellipse 92"/>
            <p:cNvSpPr/>
            <p:nvPr/>
          </p:nvSpPr>
          <p:spPr>
            <a:xfrm>
              <a:off x="9662160" y="2647950"/>
              <a:ext cx="76200" cy="762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93" name="Ellipse 93"/>
            <p:cNvSpPr/>
            <p:nvPr/>
          </p:nvSpPr>
          <p:spPr>
            <a:xfrm>
              <a:off x="10307002" y="2647950"/>
              <a:ext cx="76200" cy="762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94" name="Ellipse 94"/>
            <p:cNvSpPr/>
            <p:nvPr/>
          </p:nvSpPr>
          <p:spPr>
            <a:xfrm>
              <a:off x="11687175" y="2647950"/>
              <a:ext cx="76200" cy="762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95" name="Rectangle 95"/>
            <p:cNvSpPr/>
            <p:nvPr/>
          </p:nvSpPr>
          <p:spPr>
            <a:xfrm>
              <a:off x="5334000" y="2409825"/>
              <a:ext cx="2381250" cy="257175"/>
            </a:xfrm>
            <a:prstGeom prst="roundRect">
              <a:avLst>
                <a:gd name="adj" fmla="val 11111"/>
              </a:avLst>
            </a:prstGeom>
            <a:solidFill>
              <a:srgbClr val="F4F0E7">
                <a:alpha val="95000"/>
              </a:srgbClr>
            </a:solidFill>
            <a:ln w="7620">
              <a:solidFill>
                <a:srgbClr val="C9C1B4"/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5405438" y="2435225"/>
              <a:ext cx="1238575" cy="134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2017–19 · Lens / Seeing AI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5405438" y="2552700"/>
              <a:ext cx="1301877" cy="1190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拍一下搜物译字；镜头读给视障者听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9477375" y="2714625"/>
              <a:ext cx="1952625" cy="257175"/>
            </a:xfrm>
            <a:prstGeom prst="roundRect">
              <a:avLst>
                <a:gd name="adj" fmla="val 11111"/>
              </a:avLst>
            </a:prstGeom>
            <a:solidFill>
              <a:srgbClr val="F4F0E7">
                <a:alpha val="95000"/>
              </a:srgbClr>
            </a:solidFill>
            <a:ln w="7620">
              <a:solidFill>
                <a:srgbClr val="C14E2C"/>
              </a:solidFill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9548812" y="2740025"/>
              <a:ext cx="1180015" cy="134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2023 · Be My AI / GPT-4V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9548812" y="2857500"/>
              <a:ext cx="978789" cy="1190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图片发过去解释，再接着问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9477375" y="2409825"/>
              <a:ext cx="2190750" cy="257175"/>
            </a:xfrm>
            <a:prstGeom prst="roundRect">
              <a:avLst>
                <a:gd name="adj" fmla="val 11111"/>
              </a:avLst>
            </a:prstGeom>
            <a:solidFill>
              <a:srgbClr val="F4F0E7">
                <a:alpha val="95000"/>
              </a:srgbClr>
            </a:solidFill>
            <a:ln w="7620">
              <a:solidFill>
                <a:srgbClr val="C14E2C"/>
              </a:solidFill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9548812" y="2435225"/>
              <a:ext cx="1446291" cy="134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2024–26 · Apple / Guided Vision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9548812" y="2552700"/>
              <a:ext cx="1221105" cy="1190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一键识物翻译；镜头偏了会教你调</a:t>
              </a:r>
            </a:p>
          </p:txBody>
        </p:sp>
      </p:grpSp>
      <p:grpSp>
        <p:nvGrpSpPr>
          <p:cNvPr id="121" name="lane-screens-home"/>
          <p:cNvGrpSpPr/>
          <p:nvPr/>
        </p:nvGrpSpPr>
        <p:grpSpPr>
          <a:xfrm>
            <a:off x="566738" y="3038475"/>
            <a:ext cx="11158537" cy="566737"/>
            <a:chOff x="566738" y="3038475"/>
            <a:chExt cx="11158537" cy="566737"/>
          </a:xfrm>
        </p:grpSpPr>
        <p:sp>
          <p:nvSpPr>
            <p:cNvPr id="105" name="TextBox 105"/>
            <p:cNvSpPr txBox="1"/>
            <p:nvPr/>
          </p:nvSpPr>
          <p:spPr>
            <a:xfrm>
              <a:off x="566738" y="314325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屏幕与家庭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566738" y="3352800"/>
              <a:ext cx="952673" cy="12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智能屏 / 电视 / 家用终端</a:t>
              </a:r>
            </a:p>
          </p:txBody>
        </p:sp>
        <p:sp>
          <p:nvSpPr>
            <p:cNvPr id="107" name="Line 107"/>
            <p:cNvSpPr/>
            <p:nvPr/>
          </p:nvSpPr>
          <p:spPr>
            <a:xfrm>
              <a:off x="1790700" y="3143250"/>
              <a:ext cx="9525" cy="400050"/>
            </a:xfrm>
            <a:custGeom>
              <a:avLst/>
              <a:gdLst/>
              <a:ahLst/>
              <a:cxnLst/>
              <a:rect l="l" t="t" r="r" b="b"/>
              <a:pathLst>
                <a:path w="9525" h="400050">
                  <a:moveTo>
                    <a:pt x="0" y="0"/>
                  </a:moveTo>
                  <a:lnTo>
                    <a:pt x="0" y="400050"/>
                  </a:lnTo>
                </a:path>
              </a:pathLst>
            </a:custGeom>
            <a:noFill/>
            <a:ln w="19050">
              <a:solidFill>
                <a:srgbClr val="1F5A49"/>
              </a:solidFill>
            </a:ln>
          </p:spPr>
        </p:sp>
        <p:sp>
          <p:nvSpPr>
            <p:cNvPr id="108" name="Line 108"/>
            <p:cNvSpPr/>
            <p:nvPr/>
          </p:nvSpPr>
          <p:spPr>
            <a:xfrm>
              <a:off x="1962150" y="3314700"/>
              <a:ext cx="9763125" cy="9525"/>
            </a:xfrm>
            <a:custGeom>
              <a:avLst/>
              <a:gdLst/>
              <a:ahLst/>
              <a:cxnLst/>
              <a:rect l="l" t="t" r="r" b="b"/>
              <a:pathLst>
                <a:path w="9763125" h="9525">
                  <a:moveTo>
                    <a:pt x="0" y="0"/>
                  </a:moveTo>
                  <a:lnTo>
                    <a:pt x="9763125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109" name="Ellipse 109"/>
            <p:cNvSpPr/>
            <p:nvPr/>
          </p:nvSpPr>
          <p:spPr>
            <a:xfrm>
              <a:off x="6437948" y="3276600"/>
              <a:ext cx="76200" cy="76200"/>
            </a:xfrm>
            <a:prstGeom prst="ellipse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110" name="Ellipse 110"/>
            <p:cNvSpPr/>
            <p:nvPr/>
          </p:nvSpPr>
          <p:spPr>
            <a:xfrm>
              <a:off x="7727632" y="3276600"/>
              <a:ext cx="76200" cy="76200"/>
            </a:xfrm>
            <a:prstGeom prst="ellipse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111" name="Ellipse 111"/>
            <p:cNvSpPr/>
            <p:nvPr/>
          </p:nvSpPr>
          <p:spPr>
            <a:xfrm>
              <a:off x="10951845" y="3276600"/>
              <a:ext cx="76200" cy="762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112" name="Rectangle 112"/>
            <p:cNvSpPr/>
            <p:nvPr/>
          </p:nvSpPr>
          <p:spPr>
            <a:xfrm>
              <a:off x="5219700" y="3038475"/>
              <a:ext cx="2428875" cy="257175"/>
            </a:xfrm>
            <a:prstGeom prst="roundRect">
              <a:avLst>
                <a:gd name="adj" fmla="val 11111"/>
              </a:avLst>
            </a:prstGeom>
            <a:solidFill>
              <a:srgbClr val="F4F0E7">
                <a:alpha val="95000"/>
              </a:srgbClr>
            </a:solidFill>
            <a:ln w="7620">
              <a:solidFill>
                <a:srgbClr val="C9C1B4"/>
              </a:solidFill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5291138" y="3063875"/>
              <a:ext cx="1487719" cy="134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2018 · Google 智能屏 / Alexa APL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5291138" y="3181350"/>
              <a:ext cx="1221105" cy="1190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一边说，一边看地图、视频和菜谱</a:t>
              </a:r>
            </a:p>
          </p:txBody>
        </p:sp>
        <p:sp>
          <p:nvSpPr>
            <p:cNvPr id="115" name="Rectangle 115"/>
            <p:cNvSpPr/>
            <p:nvPr/>
          </p:nvSpPr>
          <p:spPr>
            <a:xfrm>
              <a:off x="7762875" y="3343275"/>
              <a:ext cx="1666875" cy="257175"/>
            </a:xfrm>
            <a:prstGeom prst="roundRect">
              <a:avLst>
                <a:gd name="adj" fmla="val 11111"/>
              </a:avLst>
            </a:prstGeom>
            <a:solidFill>
              <a:srgbClr val="F4F0E7">
                <a:alpha val="95000"/>
              </a:srgbClr>
            </a:solidFill>
            <a:ln w="7620">
              <a:solidFill>
                <a:srgbClr val="C9C1B4"/>
              </a:solidFill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7834312" y="3368675"/>
              <a:ext cx="950196" cy="134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2020 · Echo Show 10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7834312" y="3486150"/>
              <a:ext cx="574929" cy="1190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屏幕会跟着人转</a:t>
              </a:r>
            </a:p>
          </p:txBody>
        </p:sp>
        <p:sp>
          <p:nvSpPr>
            <p:cNvPr id="118" name="Rectangle 118"/>
            <p:cNvSpPr/>
            <p:nvPr/>
          </p:nvSpPr>
          <p:spPr>
            <a:xfrm>
              <a:off x="9191625" y="3038475"/>
              <a:ext cx="2476500" cy="257175"/>
            </a:xfrm>
            <a:prstGeom prst="roundRect">
              <a:avLst>
                <a:gd name="adj" fmla="val 11111"/>
              </a:avLst>
            </a:prstGeom>
            <a:solidFill>
              <a:srgbClr val="F4F0E7">
                <a:alpha val="95000"/>
              </a:srgbClr>
            </a:solidFill>
            <a:ln w="7620">
              <a:solidFill>
                <a:srgbClr val="C14E2C"/>
              </a:solidFill>
            </a:ln>
          </p:spPr>
        </p:sp>
        <p:sp>
          <p:nvSpPr>
            <p:cNvPr id="119" name="TextBox 119"/>
            <p:cNvSpPr txBox="1"/>
            <p:nvPr/>
          </p:nvSpPr>
          <p:spPr>
            <a:xfrm>
              <a:off x="9263062" y="3063875"/>
              <a:ext cx="1284928" cy="134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2025 · 三星 / 海信电视 · 小度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9263062" y="3181350"/>
              <a:ext cx="1382649" cy="1190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问电视内容；家庭看护、陪聊、控设备</a:t>
              </a:r>
            </a:p>
          </p:txBody>
        </p:sp>
      </p:grpSp>
      <p:grpSp>
        <p:nvGrpSpPr>
          <p:cNvPr id="140" name="lane-wearables"/>
          <p:cNvGrpSpPr/>
          <p:nvPr/>
        </p:nvGrpSpPr>
        <p:grpSpPr>
          <a:xfrm>
            <a:off x="566738" y="3667125"/>
            <a:ext cx="11196637" cy="566737"/>
            <a:chOff x="566738" y="3667125"/>
            <a:chExt cx="11196637" cy="566737"/>
          </a:xfrm>
        </p:grpSpPr>
        <p:sp>
          <p:nvSpPr>
            <p:cNvPr id="122" name="TextBox 122"/>
            <p:cNvSpPr txBox="1"/>
            <p:nvPr/>
          </p:nvSpPr>
          <p:spPr>
            <a:xfrm>
              <a:off x="566738" y="3771900"/>
              <a:ext cx="5611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眼镜与 XR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566738" y="3981450"/>
              <a:ext cx="773224" cy="12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第一视角 / 穿戴交互</a:t>
              </a:r>
            </a:p>
          </p:txBody>
        </p:sp>
        <p:sp>
          <p:nvSpPr>
            <p:cNvPr id="124" name="Line 124"/>
            <p:cNvSpPr/>
            <p:nvPr/>
          </p:nvSpPr>
          <p:spPr>
            <a:xfrm>
              <a:off x="1790700" y="3771900"/>
              <a:ext cx="9525" cy="400050"/>
            </a:xfrm>
            <a:custGeom>
              <a:avLst/>
              <a:gdLst/>
              <a:ahLst/>
              <a:cxnLst/>
              <a:rect l="l" t="t" r="r" b="b"/>
              <a:pathLst>
                <a:path w="9525" h="400050">
                  <a:moveTo>
                    <a:pt x="0" y="0"/>
                  </a:moveTo>
                  <a:lnTo>
                    <a:pt x="0" y="400050"/>
                  </a:lnTo>
                </a:path>
              </a:pathLst>
            </a:custGeom>
            <a:noFill/>
            <a:ln w="19050">
              <a:solidFill>
                <a:srgbClr val="C14E2C"/>
              </a:solidFill>
            </a:ln>
          </p:spPr>
        </p:sp>
        <p:sp>
          <p:nvSpPr>
            <p:cNvPr id="125" name="Line 125"/>
            <p:cNvSpPr/>
            <p:nvPr/>
          </p:nvSpPr>
          <p:spPr>
            <a:xfrm>
              <a:off x="1962150" y="3943350"/>
              <a:ext cx="9763125" cy="9525"/>
            </a:xfrm>
            <a:custGeom>
              <a:avLst/>
              <a:gdLst/>
              <a:ahLst/>
              <a:cxnLst/>
              <a:rect l="l" t="t" r="r" b="b"/>
              <a:pathLst>
                <a:path w="9763125" h="9525">
                  <a:moveTo>
                    <a:pt x="0" y="0"/>
                  </a:moveTo>
                  <a:lnTo>
                    <a:pt x="9763125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126" name="Ellipse 126"/>
            <p:cNvSpPr/>
            <p:nvPr/>
          </p:nvSpPr>
          <p:spPr>
            <a:xfrm>
              <a:off x="3213735" y="3905250"/>
              <a:ext cx="76200" cy="76200"/>
            </a:xfrm>
            <a:prstGeom prst="ellipse">
              <a:avLst/>
            </a:prstGeom>
            <a:solidFill>
              <a:srgbClr val="A33B27"/>
            </a:solidFill>
            <a:ln>
              <a:noFill/>
            </a:ln>
          </p:spPr>
        </p:sp>
        <p:sp>
          <p:nvSpPr>
            <p:cNvPr id="127" name="Ellipse 127"/>
            <p:cNvSpPr/>
            <p:nvPr/>
          </p:nvSpPr>
          <p:spPr>
            <a:xfrm>
              <a:off x="8372475" y="3905250"/>
              <a:ext cx="76200" cy="76200"/>
            </a:xfrm>
            <a:prstGeom prst="ellipse">
              <a:avLst/>
            </a:prstGeom>
            <a:solidFill>
              <a:srgbClr val="A33B27"/>
            </a:solidFill>
            <a:ln>
              <a:noFill/>
            </a:ln>
          </p:spPr>
        </p:sp>
        <p:sp>
          <p:nvSpPr>
            <p:cNvPr id="128" name="Ellipse 128"/>
            <p:cNvSpPr/>
            <p:nvPr/>
          </p:nvSpPr>
          <p:spPr>
            <a:xfrm>
              <a:off x="9662160" y="3905250"/>
              <a:ext cx="76200" cy="762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129" name="Ellipse 129"/>
            <p:cNvSpPr/>
            <p:nvPr/>
          </p:nvSpPr>
          <p:spPr>
            <a:xfrm>
              <a:off x="10951845" y="3905250"/>
              <a:ext cx="76200" cy="762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130" name="Ellipse 130"/>
            <p:cNvSpPr/>
            <p:nvPr/>
          </p:nvSpPr>
          <p:spPr>
            <a:xfrm>
              <a:off x="11687175" y="3905250"/>
              <a:ext cx="76200" cy="762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131" name="Rectangle 131"/>
            <p:cNvSpPr/>
            <p:nvPr/>
          </p:nvSpPr>
          <p:spPr>
            <a:xfrm>
              <a:off x="3143250" y="3667125"/>
              <a:ext cx="2190750" cy="257175"/>
            </a:xfrm>
            <a:prstGeom prst="roundRect">
              <a:avLst>
                <a:gd name="adj" fmla="val 11111"/>
              </a:avLst>
            </a:prstGeom>
            <a:solidFill>
              <a:srgbClr val="F4F0E7">
                <a:alpha val="95000"/>
              </a:srgbClr>
            </a:solidFill>
            <a:ln w="7620">
              <a:solidFill>
                <a:srgbClr val="C9C1B4"/>
              </a:solidFill>
            </a:ln>
          </p:spPr>
        </p:sp>
        <p:sp>
          <p:nvSpPr>
            <p:cNvPr id="132" name="TextBox 132"/>
            <p:cNvSpPr txBox="1"/>
            <p:nvPr/>
          </p:nvSpPr>
          <p:spPr>
            <a:xfrm>
              <a:off x="3214688" y="3692525"/>
              <a:ext cx="902918" cy="134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2013 · Google Glass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3214688" y="3810000"/>
              <a:ext cx="1301877" cy="1190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第一视角看到信息，但日常用途不足</a:t>
              </a:r>
            </a:p>
          </p:txBody>
        </p:sp>
        <p:sp>
          <p:nvSpPr>
            <p:cNvPr id="134" name="Rectangle 134"/>
            <p:cNvSpPr/>
            <p:nvPr/>
          </p:nvSpPr>
          <p:spPr>
            <a:xfrm>
              <a:off x="7810500" y="3971925"/>
              <a:ext cx="2047875" cy="257175"/>
            </a:xfrm>
            <a:prstGeom prst="roundRect">
              <a:avLst>
                <a:gd name="adj" fmla="val 11111"/>
              </a:avLst>
            </a:prstGeom>
            <a:solidFill>
              <a:srgbClr val="F4F0E7">
                <a:alpha val="95000"/>
              </a:srgbClr>
            </a:solidFill>
            <a:ln w="7620">
              <a:solidFill>
                <a:srgbClr val="C9C1B4"/>
              </a:solidFill>
            </a:ln>
          </p:spPr>
        </p:sp>
        <p:sp>
          <p:nvSpPr>
            <p:cNvPr id="135" name="TextBox 135"/>
            <p:cNvSpPr txBox="1"/>
            <p:nvPr/>
          </p:nvSpPr>
          <p:spPr>
            <a:xfrm>
              <a:off x="7881938" y="3997325"/>
              <a:ext cx="1597126" cy="134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2021–23 · Ray-Ban Stories / Meta</a:t>
              </a:r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7881938" y="4114800"/>
              <a:ext cx="1301877" cy="1190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先只能拍；后来能戴着看、问、翻译</a:t>
              </a:r>
            </a:p>
          </p:txBody>
        </p:sp>
        <p:sp>
          <p:nvSpPr>
            <p:cNvPr id="137" name="Rectangle 137"/>
            <p:cNvSpPr/>
            <p:nvPr/>
          </p:nvSpPr>
          <p:spPr>
            <a:xfrm>
              <a:off x="9382125" y="3667125"/>
              <a:ext cx="2286000" cy="257175"/>
            </a:xfrm>
            <a:prstGeom prst="roundRect">
              <a:avLst>
                <a:gd name="adj" fmla="val 11111"/>
              </a:avLst>
            </a:prstGeom>
            <a:solidFill>
              <a:srgbClr val="F4F0E7">
                <a:alpha val="95000"/>
              </a:srgbClr>
            </a:solidFill>
            <a:ln w="7620">
              <a:solidFill>
                <a:srgbClr val="C14E2C"/>
              </a:solidFill>
            </a:ln>
          </p:spPr>
        </p:sp>
        <p:sp>
          <p:nvSpPr>
            <p:cNvPr id="138" name="TextBox 138"/>
            <p:cNvSpPr txBox="1"/>
            <p:nvPr/>
          </p:nvSpPr>
          <p:spPr>
            <a:xfrm>
              <a:off x="9453562" y="3692525"/>
              <a:ext cx="1990856" cy="134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2025–26 · Meta Display / XR / Snap / Audio</a:t>
              </a:r>
            </a:p>
          </p:txBody>
        </p:sp>
        <p:sp>
          <p:nvSpPr>
            <p:cNvPr id="139" name="TextBox 139"/>
            <p:cNvSpPr txBox="1"/>
            <p:nvPr/>
          </p:nvSpPr>
          <p:spPr>
            <a:xfrm>
              <a:off x="9453562" y="3810000"/>
              <a:ext cx="1544193" cy="1190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镜片导航字幕、主动提醒；无摄版只靠声音</a:t>
              </a:r>
            </a:p>
          </p:txBody>
        </p:sp>
      </p:grpSp>
      <p:grpSp>
        <p:nvGrpSpPr>
          <p:cNvPr id="149" name="lane-phone-mobility"/>
          <p:cNvGrpSpPr/>
          <p:nvPr/>
        </p:nvGrpSpPr>
        <p:grpSpPr>
          <a:xfrm>
            <a:off x="566738" y="4295775"/>
            <a:ext cx="11158537" cy="504825"/>
            <a:chOff x="566738" y="4295775"/>
            <a:chExt cx="11158537" cy="504825"/>
          </a:xfrm>
        </p:grpSpPr>
        <p:sp>
          <p:nvSpPr>
            <p:cNvPr id="141" name="TextBox 141"/>
            <p:cNvSpPr txBox="1"/>
            <p:nvPr/>
          </p:nvSpPr>
          <p:spPr>
            <a:xfrm>
              <a:off x="566738" y="440055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手机与汽车</a:t>
              </a:r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566738" y="4610100"/>
              <a:ext cx="1107082" cy="12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随身高频入口 / 座舱空间交互</a:t>
              </a:r>
            </a:p>
          </p:txBody>
        </p:sp>
        <p:sp>
          <p:nvSpPr>
            <p:cNvPr id="143" name="Line 143"/>
            <p:cNvSpPr/>
            <p:nvPr/>
          </p:nvSpPr>
          <p:spPr>
            <a:xfrm>
              <a:off x="1790700" y="4400550"/>
              <a:ext cx="9525" cy="400050"/>
            </a:xfrm>
            <a:custGeom>
              <a:avLst/>
              <a:gdLst/>
              <a:ahLst/>
              <a:cxnLst/>
              <a:rect l="l" t="t" r="r" b="b"/>
              <a:pathLst>
                <a:path w="9525" h="400050">
                  <a:moveTo>
                    <a:pt x="0" y="0"/>
                  </a:moveTo>
                  <a:lnTo>
                    <a:pt x="0" y="400050"/>
                  </a:lnTo>
                </a:path>
              </a:pathLst>
            </a:custGeom>
            <a:noFill/>
            <a:ln w="19050">
              <a:solidFill>
                <a:srgbClr val="C14E2C"/>
              </a:solidFill>
            </a:ln>
          </p:spPr>
        </p:sp>
        <p:sp>
          <p:nvSpPr>
            <p:cNvPr id="144" name="Line 144"/>
            <p:cNvSpPr/>
            <p:nvPr/>
          </p:nvSpPr>
          <p:spPr>
            <a:xfrm>
              <a:off x="1962150" y="4572000"/>
              <a:ext cx="9763125" cy="9525"/>
            </a:xfrm>
            <a:custGeom>
              <a:avLst/>
              <a:gdLst/>
              <a:ahLst/>
              <a:cxnLst/>
              <a:rect l="l" t="t" r="r" b="b"/>
              <a:pathLst>
                <a:path w="9763125" h="9525">
                  <a:moveTo>
                    <a:pt x="0" y="0"/>
                  </a:moveTo>
                  <a:lnTo>
                    <a:pt x="9763125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145" name="Ellipse 145"/>
            <p:cNvSpPr/>
            <p:nvPr/>
          </p:nvSpPr>
          <p:spPr>
            <a:xfrm>
              <a:off x="10951845" y="4533900"/>
              <a:ext cx="76200" cy="762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146" name="Rectangle 146"/>
            <p:cNvSpPr/>
            <p:nvPr/>
          </p:nvSpPr>
          <p:spPr>
            <a:xfrm>
              <a:off x="8572500" y="4295775"/>
              <a:ext cx="3095625" cy="257175"/>
            </a:xfrm>
            <a:prstGeom prst="roundRect">
              <a:avLst>
                <a:gd name="adj" fmla="val 11111"/>
              </a:avLst>
            </a:prstGeom>
            <a:solidFill>
              <a:srgbClr val="F4F0E7">
                <a:alpha val="95000"/>
              </a:srgbClr>
            </a:solidFill>
            <a:ln w="7620">
              <a:solidFill>
                <a:srgbClr val="C14E2C"/>
              </a:solidFill>
            </a:ln>
          </p:spPr>
        </p:sp>
        <p:sp>
          <p:nvSpPr>
            <p:cNvPr id="147" name="TextBox 147"/>
            <p:cNvSpPr txBox="1"/>
            <p:nvPr/>
          </p:nvSpPr>
          <p:spPr>
            <a:xfrm>
              <a:off x="8643938" y="4321175"/>
              <a:ext cx="1640386" cy="134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2025 · 小米 / 夸克 · 理想同学 / NOMI</a:t>
              </a:r>
            </a:p>
          </p:txBody>
        </p:sp>
        <p:sp>
          <p:nvSpPr>
            <p:cNvPr id="148" name="TextBox 148"/>
            <p:cNvSpPr txBox="1"/>
            <p:nvPr/>
          </p:nvSpPr>
          <p:spPr>
            <a:xfrm>
              <a:off x="8643938" y="4438650"/>
              <a:ext cx="1948053" cy="1190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手机拍问答、导航支付；车里分辨谁说、坐哪、指向哪</a:t>
              </a:r>
            </a:p>
          </p:txBody>
        </p:sp>
      </p:grpSp>
      <p:grpSp>
        <p:nvGrpSpPr>
          <p:cNvPr id="168" name="lane-models-agents"/>
          <p:cNvGrpSpPr/>
          <p:nvPr/>
        </p:nvGrpSpPr>
        <p:grpSpPr>
          <a:xfrm>
            <a:off x="566738" y="4914900"/>
            <a:ext cx="11196637" cy="671512"/>
            <a:chOff x="566738" y="4914900"/>
            <a:chExt cx="11196637" cy="671512"/>
          </a:xfrm>
        </p:grpSpPr>
        <p:sp>
          <p:nvSpPr>
            <p:cNvPr id="150" name="TextBox 150"/>
            <p:cNvSpPr txBox="1"/>
            <p:nvPr/>
          </p:nvSpPr>
          <p:spPr>
            <a:xfrm>
              <a:off x="566738" y="5124450"/>
              <a:ext cx="7654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模型与 Agent</a:t>
              </a:r>
            </a:p>
          </p:txBody>
        </p:sp>
        <p:sp>
          <p:nvSpPr>
            <p:cNvPr id="151" name="TextBox 151"/>
            <p:cNvSpPr txBox="1"/>
            <p:nvPr/>
          </p:nvSpPr>
          <p:spPr>
            <a:xfrm>
              <a:off x="566738" y="5334000"/>
              <a:ext cx="1119602" cy="12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理解底座 / 实时交互 / 执行层</a:t>
              </a:r>
            </a:p>
          </p:txBody>
        </p:sp>
        <p:sp>
          <p:nvSpPr>
            <p:cNvPr id="152" name="Line 152"/>
            <p:cNvSpPr/>
            <p:nvPr/>
          </p:nvSpPr>
          <p:spPr>
            <a:xfrm>
              <a:off x="1790700" y="5029200"/>
              <a:ext cx="9525" cy="533400"/>
            </a:xfrm>
            <a:custGeom>
              <a:avLst/>
              <a:gdLst/>
              <a:ahLst/>
              <a:cxnLst/>
              <a:rect l="l" t="t" r="r" b="b"/>
              <a:pathLst>
                <a:path w="9525" h="533400">
                  <a:moveTo>
                    <a:pt x="0" y="0"/>
                  </a:moveTo>
                  <a:lnTo>
                    <a:pt x="0" y="533400"/>
                  </a:lnTo>
                </a:path>
              </a:pathLst>
            </a:custGeom>
            <a:noFill/>
            <a:ln w="19050">
              <a:solidFill>
                <a:srgbClr val="1F5A49"/>
              </a:solidFill>
            </a:ln>
          </p:spPr>
        </p:sp>
        <p:sp>
          <p:nvSpPr>
            <p:cNvPr id="153" name="Line 153"/>
            <p:cNvSpPr/>
            <p:nvPr/>
          </p:nvSpPr>
          <p:spPr>
            <a:xfrm>
              <a:off x="1962150" y="5305425"/>
              <a:ext cx="9763125" cy="9525"/>
            </a:xfrm>
            <a:custGeom>
              <a:avLst/>
              <a:gdLst/>
              <a:ahLst/>
              <a:cxnLst/>
              <a:rect l="l" t="t" r="r" b="b"/>
              <a:pathLst>
                <a:path w="9763125" h="9525">
                  <a:moveTo>
                    <a:pt x="0" y="0"/>
                  </a:moveTo>
                  <a:lnTo>
                    <a:pt x="9763125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154" name="Rectangle 154"/>
            <p:cNvSpPr/>
            <p:nvPr/>
          </p:nvSpPr>
          <p:spPr>
            <a:xfrm>
              <a:off x="8372475" y="5267325"/>
              <a:ext cx="76200" cy="76200"/>
            </a:xfrm>
            <a:prstGeom prst="rect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155" name="Rectangle 155"/>
            <p:cNvSpPr/>
            <p:nvPr/>
          </p:nvSpPr>
          <p:spPr>
            <a:xfrm>
              <a:off x="9017318" y="5267325"/>
              <a:ext cx="76200" cy="76200"/>
            </a:xfrm>
            <a:prstGeom prst="rect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156" name="Rectangle 156"/>
            <p:cNvSpPr/>
            <p:nvPr/>
          </p:nvSpPr>
          <p:spPr>
            <a:xfrm>
              <a:off x="9662160" y="5267325"/>
              <a:ext cx="76200" cy="76200"/>
            </a:xfrm>
            <a:prstGeom prst="rect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157" name="Rectangle 157"/>
            <p:cNvSpPr/>
            <p:nvPr/>
          </p:nvSpPr>
          <p:spPr>
            <a:xfrm>
              <a:off x="10307002" y="5267325"/>
              <a:ext cx="76200" cy="76200"/>
            </a:xfrm>
            <a:prstGeom prst="rect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158" name="Rectangle 158"/>
            <p:cNvSpPr/>
            <p:nvPr/>
          </p:nvSpPr>
          <p:spPr>
            <a:xfrm>
              <a:off x="11687175" y="5267325"/>
              <a:ext cx="76200" cy="76200"/>
            </a:xfrm>
            <a:prstGeom prst="rect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159" name="Rectangle 159"/>
            <p:cNvSpPr/>
            <p:nvPr/>
          </p:nvSpPr>
          <p:spPr>
            <a:xfrm>
              <a:off x="7715250" y="4914900"/>
              <a:ext cx="2000250" cy="257175"/>
            </a:xfrm>
            <a:prstGeom prst="roundRect">
              <a:avLst>
                <a:gd name="adj" fmla="val 11111"/>
              </a:avLst>
            </a:prstGeom>
            <a:solidFill>
              <a:srgbClr val="F4F0E7">
                <a:alpha val="95000"/>
              </a:srgbClr>
            </a:solidFill>
            <a:ln w="7620">
              <a:solidFill>
                <a:srgbClr val="1F5A49"/>
              </a:solidFill>
            </a:ln>
          </p:spPr>
        </p:sp>
        <p:sp>
          <p:nvSpPr>
            <p:cNvPr id="160" name="TextBox 160"/>
            <p:cNvSpPr txBox="1"/>
            <p:nvPr/>
          </p:nvSpPr>
          <p:spPr>
            <a:xfrm>
              <a:off x="7786688" y="4940300"/>
              <a:ext cx="1209830" cy="134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2021–22 · CLIP / Flamingo</a:t>
              </a:r>
            </a:p>
          </p:txBody>
        </p:sp>
        <p:sp>
          <p:nvSpPr>
            <p:cNvPr id="161" name="TextBox 161"/>
            <p:cNvSpPr txBox="1"/>
            <p:nvPr/>
          </p:nvSpPr>
          <p:spPr>
            <a:xfrm>
              <a:off x="7786688" y="5057775"/>
              <a:ext cx="1463421" cy="1190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图片文字对齐；少量示例就能读懂图视频</a:t>
              </a:r>
            </a:p>
          </p:txBody>
        </p:sp>
        <p:sp>
          <p:nvSpPr>
            <p:cNvPr id="162" name="Rectangle 162"/>
            <p:cNvSpPr/>
            <p:nvPr/>
          </p:nvSpPr>
          <p:spPr>
            <a:xfrm>
              <a:off x="8858250" y="5324475"/>
              <a:ext cx="2047875" cy="257175"/>
            </a:xfrm>
            <a:prstGeom prst="roundRect">
              <a:avLst>
                <a:gd name="adj" fmla="val 11111"/>
              </a:avLst>
            </a:prstGeom>
            <a:solidFill>
              <a:srgbClr val="F4F0E7">
                <a:alpha val="95000"/>
              </a:srgbClr>
            </a:solidFill>
            <a:ln w="7620">
              <a:solidFill>
                <a:srgbClr val="1F5A49"/>
              </a:solidFill>
            </a:ln>
          </p:spPr>
        </p:sp>
        <p:sp>
          <p:nvSpPr>
            <p:cNvPr id="163" name="TextBox 163"/>
            <p:cNvSpPr txBox="1"/>
            <p:nvPr/>
          </p:nvSpPr>
          <p:spPr>
            <a:xfrm>
              <a:off x="8929688" y="5349875"/>
              <a:ext cx="1165109" cy="134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2023–24 · Gemini / Astra</a:t>
              </a:r>
            </a:p>
          </p:txBody>
        </p:sp>
        <p:sp>
          <p:nvSpPr>
            <p:cNvPr id="164" name="TextBox 164"/>
            <p:cNvSpPr txBox="1"/>
            <p:nvPr/>
          </p:nvSpPr>
          <p:spPr>
            <a:xfrm>
              <a:off x="8929688" y="5467350"/>
              <a:ext cx="1382649" cy="1190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一起理解图文；共享镜头屏幕边看边聊</a:t>
              </a:r>
            </a:p>
          </p:txBody>
        </p:sp>
        <p:sp>
          <p:nvSpPr>
            <p:cNvPr id="165" name="Rectangle 165"/>
            <p:cNvSpPr/>
            <p:nvPr/>
          </p:nvSpPr>
          <p:spPr>
            <a:xfrm>
              <a:off x="9744075" y="4914900"/>
              <a:ext cx="1952625" cy="257175"/>
            </a:xfrm>
            <a:prstGeom prst="roundRect">
              <a:avLst>
                <a:gd name="adj" fmla="val 11111"/>
              </a:avLst>
            </a:prstGeom>
            <a:solidFill>
              <a:srgbClr val="F4F0E7">
                <a:alpha val="95000"/>
              </a:srgbClr>
            </a:solidFill>
            <a:ln w="7620">
              <a:solidFill>
                <a:srgbClr val="C14E2C"/>
              </a:solidFill>
            </a:ln>
          </p:spPr>
        </p:sp>
        <p:sp>
          <p:nvSpPr>
            <p:cNvPr id="166" name="TextBox 166"/>
            <p:cNvSpPr txBox="1"/>
            <p:nvPr/>
          </p:nvSpPr>
          <p:spPr>
            <a:xfrm>
              <a:off x="9815512" y="4940300"/>
              <a:ext cx="1291757" cy="134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2026 · SeedRealtime / Muse</a:t>
              </a:r>
            </a:p>
          </p:txBody>
        </p:sp>
        <p:sp>
          <p:nvSpPr>
            <p:cNvPr id="167" name="TextBox 167"/>
            <p:cNvSpPr txBox="1"/>
            <p:nvPr/>
          </p:nvSpPr>
          <p:spPr>
            <a:xfrm>
              <a:off x="9815512" y="5057775"/>
              <a:ext cx="1567815" cy="1190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连续看听说；记住目标并在后台跨 App 执行</a:t>
              </a:r>
            </a:p>
          </p:txBody>
        </p:sp>
      </p:grpSp>
      <p:grpSp>
        <p:nvGrpSpPr>
          <p:cNvPr id="171" name="takeaway"/>
          <p:cNvGrpSpPr/>
          <p:nvPr/>
        </p:nvGrpSpPr>
        <p:grpSpPr>
          <a:xfrm>
            <a:off x="565023" y="5810250"/>
            <a:ext cx="11055477" cy="275717"/>
            <a:chOff x="565023" y="5810250"/>
            <a:chExt cx="11055477" cy="275717"/>
          </a:xfrm>
        </p:grpSpPr>
        <p:sp>
          <p:nvSpPr>
            <p:cNvPr id="169" name="Line 169"/>
            <p:cNvSpPr/>
            <p:nvPr/>
          </p:nvSpPr>
          <p:spPr>
            <a:xfrm>
              <a:off x="571500" y="5810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B6AEA1"/>
              </a:solidFill>
            </a:ln>
          </p:spPr>
        </p:sp>
        <p:sp>
          <p:nvSpPr>
            <p:cNvPr id="170" name="TextBox 170"/>
            <p:cNvSpPr txBox="1"/>
            <p:nvPr/>
          </p:nvSpPr>
          <p:spPr>
            <a:xfrm>
              <a:off x="565023" y="5835650"/>
              <a:ext cx="743719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趋势：用户少做一步，系统就多承担一层“看懂现场 → 决定动作 → 执行纠错 → 对结果负责”。</a:t>
              </a:r>
            </a:p>
          </p:txBody>
        </p:sp>
      </p:grpSp>
      <p:grpSp>
        <p:nvGrpSpPr>
          <p:cNvPr id="175" name="page-footer"/>
          <p:cNvGrpSpPr/>
          <p:nvPr/>
        </p:nvGrpSpPr>
        <p:grpSpPr>
          <a:xfrm>
            <a:off x="566738" y="6210300"/>
            <a:ext cx="11058525" cy="299085"/>
            <a:chOff x="566738" y="6210300"/>
            <a:chExt cx="11058525" cy="299085"/>
          </a:xfrm>
        </p:grpSpPr>
        <p:sp>
          <p:nvSpPr>
            <p:cNvPr id="172" name="TextBox 172"/>
            <p:cNvSpPr txBox="1"/>
            <p:nvPr/>
          </p:nvSpPr>
          <p:spPr>
            <a:xfrm>
              <a:off x="566738" y="6210300"/>
              <a:ext cx="5600385" cy="1276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4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注：TwelveLabs、拍立淘、Vision-Agents、LiveKit、Pipecat、Dograh 等属于能力与基础设施层；终端产品时间线只放用户可直接体验的入口。</a:t>
              </a:r>
            </a:p>
          </p:txBody>
        </p:sp>
        <p:sp>
          <p:nvSpPr>
            <p:cNvPr id="173" name="TextBox 173"/>
            <p:cNvSpPr txBox="1"/>
            <p:nvPr/>
          </p:nvSpPr>
          <p:spPr>
            <a:xfrm>
              <a:off x="566738" y="6381750"/>
              <a:ext cx="3886581" cy="1276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4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按产品首次公开或关键体验上线年份整理；同年产品合并展示以保持横向可读，每项仍保留各自体验。</a:t>
              </a:r>
            </a:p>
          </p:txBody>
        </p:sp>
        <p:sp>
          <p:nvSpPr>
            <p:cNvPr id="174" name="TextBox 174"/>
            <p:cNvSpPr txBox="1"/>
            <p:nvPr/>
          </p:nvSpPr>
          <p:spPr>
            <a:xfrm>
              <a:off x="10687195" y="6381750"/>
              <a:ext cx="938068" cy="1276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4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TIMELINE · 2011—2026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multimodal-timeline-horizontal-v3">
  <a:themeElements>
    <a:clrScheme name="multimodal-timeline-horizontal-v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ultimodal-timeline-horizontal-v3">
      <a:majorFont>
        <a:latin typeface="SimSun"/>
        <a:ea typeface="SimSun"/>
        <a:cs typeface="SimSun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ultimodal-timeline-horizontal-v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2026-10-29T12:27:59Z</dcterms:created>
  <dcterms:modified xsi:type="dcterms:W3CDTF">2026-10-29T12:27:59Z</dcterms:modified>
  <cp:category/>
  <cp:contentStatus/>
</cp:coreProperties>
</file>