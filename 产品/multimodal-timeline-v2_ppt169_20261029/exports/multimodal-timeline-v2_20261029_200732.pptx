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timeline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timeline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60070" y="273050"/>
            <a:ext cx="7866240" cy="655955"/>
            <a:chOff x="560070" y="273050"/>
            <a:chExt cx="7866240" cy="655955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9964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多模态交互 · 全产品时间线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60070" y="488950"/>
              <a:ext cx="78662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2011–2026：产品如何从“帮我查”走到“看着我一起做”</a:t>
              </a:r>
            </a:p>
          </p:txBody>
        </p:sp>
      </p:grpSp>
      <p:grpSp>
        <p:nvGrpSpPr>
          <p:cNvPr id="112" name="timeline"/>
          <p:cNvGrpSpPr/>
          <p:nvPr/>
        </p:nvGrpSpPr>
        <p:grpSpPr>
          <a:xfrm>
            <a:off x="564261" y="1352550"/>
            <a:ext cx="11056239" cy="4897438"/>
            <a:chOff x="564261" y="1352550"/>
            <a:chExt cx="11056239" cy="4897438"/>
          </a:xfrm>
        </p:grpSpPr>
        <p:sp>
          <p:nvSpPr>
            <p:cNvPr id="5" name="Line 5"/>
            <p:cNvSpPr/>
            <p:nvPr/>
          </p:nvSpPr>
          <p:spPr>
            <a:xfrm>
              <a:off x="685800" y="1657350"/>
              <a:ext cx="10839450" cy="9525"/>
            </a:xfrm>
            <a:custGeom>
              <a:avLst/>
              <a:gdLst/>
              <a:ahLst/>
              <a:cxnLst/>
              <a:rect l="l" t="t" r="r" b="b"/>
              <a:pathLst>
                <a:path w="10839450" h="9525">
                  <a:moveTo>
                    <a:pt x="0" y="0"/>
                  </a:moveTo>
                  <a:lnTo>
                    <a:pt x="108394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828800" y="15811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495800" y="15811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162800" y="15811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191750" y="1562100"/>
              <a:ext cx="190500" cy="1905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5378" y="135255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2011–2017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52378" y="135255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2018–2021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19378" y="135255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2022–2023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67378" y="135255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2024–2026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905000" y="17526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572000" y="17526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239000" y="17526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287000" y="17526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114550"/>
              <a:ext cx="2076450" cy="3619500"/>
            </a:xfrm>
            <a:prstGeom prst="rect">
              <a:avLst/>
            </a:prstGeom>
            <a:solidFill>
              <a:srgbClr val="1D1C19">
                <a:alpha val="4500"/>
              </a:srgbClr>
            </a:solidFill>
            <a:ln w="9525">
              <a:solidFill>
                <a:srgbClr val="B6AEA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43200" y="2114550"/>
              <a:ext cx="2076450" cy="3619500"/>
            </a:xfrm>
            <a:prstGeom prst="rect">
              <a:avLst/>
            </a:prstGeom>
            <a:solidFill>
              <a:srgbClr val="1F5A49">
                <a:alpha val="4500"/>
              </a:srgbClr>
            </a:solidFill>
            <a:ln w="9525">
              <a:solidFill>
                <a:srgbClr val="B6AEA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14900" y="2114550"/>
              <a:ext cx="2076450" cy="3619500"/>
            </a:xfrm>
            <a:prstGeom prst="rect">
              <a:avLst/>
            </a:prstGeom>
            <a:solidFill>
              <a:srgbClr val="C14E2C">
                <a:alpha val="4500"/>
              </a:srgbClr>
            </a:solidFill>
            <a:ln w="9525">
              <a:solidFill>
                <a:srgbClr val="B6AEA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86600" y="2114550"/>
              <a:ext cx="4533900" cy="3619500"/>
            </a:xfrm>
            <a:prstGeom prst="rect">
              <a:avLst/>
            </a:prstGeom>
            <a:solidFill>
              <a:srgbClr val="C14E2C">
                <a:alpha val="7500"/>
              </a:srgbClr>
            </a:solidFill>
            <a:ln w="14288">
              <a:solidFill>
                <a:srgbClr val="C14E2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8566" y="2273300"/>
              <a:ext cx="1481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2011–2017 · 入口出现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9138" y="2517775"/>
              <a:ext cx="1919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问一句 / 看一眼 · 语音、视觉各自发力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763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14288">
              <a:solidFill>
                <a:srgbClr val="C9C1B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38200" y="30099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3938" y="2984500"/>
              <a:ext cx="133596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2011 Siri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｜用嘴问天气日程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38200" y="340995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3938" y="3384550"/>
              <a:ext cx="144877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2014 Echo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｜在家免手问Alexa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38200" y="38100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3938" y="3784600"/>
              <a:ext cx="1669385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2016 Assistant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｜跨设备连续对话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38200" y="421005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3938" y="4184650"/>
              <a:ext cx="1637680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2017 Bixby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｜让手机执行系统动作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38200" y="46101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3938" y="4584700"/>
              <a:ext cx="145107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2017 Lens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｜拍一下搜物/译字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38200" y="50101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23938" y="4984750"/>
              <a:ext cx="1730725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2017 Seeing AI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｜镜头读给视障者听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9138" y="5454650"/>
              <a:ext cx="21297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体验：能问、能搜，但用户仍要自己串联步骤。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90266" y="2273300"/>
              <a:ext cx="1481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2018–2021 · 边看边问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90838" y="2517775"/>
              <a:ext cx="1919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实时取景 + 语音屏幕 · 信息叠加到现场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048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14288">
              <a:solidFill>
                <a:srgbClr val="C9C1B4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009900" y="295275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95638" y="2927350"/>
              <a:ext cx="149893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2018 Lens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｜镜头实时取景搜索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09900" y="33147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95638" y="3289300"/>
              <a:ext cx="172973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2018 智能屏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｜说话同时看地图/视频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09900" y="367665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95638" y="3651250"/>
              <a:ext cx="157330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2018 APL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｜语音+图文动画+触控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009900" y="40386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95638" y="4013200"/>
              <a:ext cx="149893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2019 Lens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｜原图上叠实时翻译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3009900" y="440055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95638" y="4375150"/>
              <a:ext cx="157378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2020 Show 10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｜屏幕跟着人移动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3009900" y="47625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195638" y="4737100"/>
              <a:ext cx="191711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2021 CLIP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｜图文语义对齐，做模型底座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3009900" y="5124450"/>
              <a:ext cx="76200" cy="7620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95638" y="5099050"/>
              <a:ext cx="197240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2021 Stories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｜第一视角拍摄，日活不足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90838" y="5454650"/>
              <a:ext cx="22602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体验：边看边问开始成立，但跨 App 和记忆仍弱。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61966" y="2273300"/>
              <a:ext cx="1622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2022–2023 · 理解与对话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62538" y="2517775"/>
              <a:ext cx="1902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视觉语言模型 · 看图、解释、连续追问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5219700" y="2895600"/>
              <a:ext cx="9525" cy="2343150"/>
            </a:xfrm>
            <a:custGeom>
              <a:avLst/>
              <a:gdLst/>
              <a:ahLst/>
              <a:cxnLst/>
              <a:rect l="l" t="t" r="r" b="b"/>
              <a:pathLst>
                <a:path w="9525" h="2343150">
                  <a:moveTo>
                    <a:pt x="0" y="0"/>
                  </a:moveTo>
                  <a:lnTo>
                    <a:pt x="0" y="2343150"/>
                  </a:lnTo>
                </a:path>
              </a:pathLst>
            </a:custGeom>
            <a:noFill/>
            <a:ln w="14288">
              <a:solidFill>
                <a:srgbClr val="C9C1B4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5181600" y="30670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367338" y="3041650"/>
              <a:ext cx="176738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2022 Flamingo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｜少样本读懂图/视频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181600" y="34861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67338" y="3460750"/>
              <a:ext cx="1808868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Be My AI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｜读图解释并继续追问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181600" y="39052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67338" y="3879850"/>
              <a:ext cx="1967345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GPT-4V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｜把图片直接发给ChatGPT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181600" y="43243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367338" y="4298950"/>
              <a:ext cx="1480288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Gemini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｜原生多模态对话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181600" y="474345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67338" y="4718050"/>
              <a:ext cx="199442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Ray-Ban Meta</a:t>
              </a:r>
              <a:r>
                <a:rPr lang="zh-CN" sz="79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｜戴着看、问、翻译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62538" y="5454650"/>
              <a:ext cx="26447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体验：能解释“这是什么”，但不稳定执行，也少长期记忆。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33666" y="2273300"/>
              <a:ext cx="1905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2024–2026 · 实时协作与代理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234238" y="2517775"/>
              <a:ext cx="22266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持续视频、主动纠错、后台执行、Agent 协作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9258300" y="2724150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7372350" y="28194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4288">
              <a:solidFill>
                <a:srgbClr val="C9C1B4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339012" y="2976562"/>
              <a:ext cx="66675" cy="66675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00938" y="2959100"/>
              <a:ext cx="14593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 Humane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｜替代手机，失败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339012" y="3281362"/>
              <a:ext cx="66675" cy="66675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00938" y="3263900"/>
              <a:ext cx="157061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 Rabbit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｜AI盒子，初期Bug多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7339012" y="3586162"/>
              <a:ext cx="66675" cy="6667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500938" y="3568700"/>
              <a:ext cx="13572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 GPT-4o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｜实时语音视频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7339012" y="3890962"/>
              <a:ext cx="66675" cy="6667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500938" y="3873500"/>
              <a:ext cx="16027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 Gemini Live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｜共享镜头/屏幕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339012" y="4195762"/>
              <a:ext cx="66675" cy="6667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00938" y="4178300"/>
              <a:ext cx="12523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 Apple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｜按键识物翻译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339012" y="4500562"/>
              <a:ext cx="66675" cy="6667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500938" y="4483100"/>
              <a:ext cx="154340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 Copilot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｜看工作画面并高亮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339012" y="48053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500938" y="4787900"/>
              <a:ext cx="133973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小艺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｜看画面+指向问答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339012" y="51101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500938" y="5092700"/>
              <a:ext cx="16320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Meta Display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｜导航字幕腕带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9258300" y="28194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4288">
              <a:solidFill>
                <a:srgbClr val="C9C1B4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9224962" y="29765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386888" y="2959100"/>
              <a:ext cx="98131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小米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｜拍摄问答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9224962" y="32813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386888" y="3263900"/>
              <a:ext cx="13400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夸克 S1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｜导航支付购物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9224962" y="35861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386888" y="3568700"/>
              <a:ext cx="15650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XR/Snap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｜一视角/主动提醒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9224962" y="38909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386888" y="3873500"/>
              <a:ext cx="149901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三星/海信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｜电视问答/画质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9224962" y="41957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386888" y="4178300"/>
              <a:ext cx="11832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小度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｜家庭看护陪伴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9224962" y="4500562"/>
              <a:ext cx="66675" cy="66675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386888" y="4483100"/>
              <a:ext cx="15080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理想/NOMI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｜座舱空间理解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9224962" y="4805362"/>
              <a:ext cx="66675" cy="6667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386888" y="4787900"/>
              <a:ext cx="15570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2026 SeedRealtime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｜连续看听说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9224962" y="5110162"/>
              <a:ext cx="66675" cy="6667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386888" y="5092700"/>
              <a:ext cx="162521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2026 Muse/Audio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｜后台执行/无摄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9215438" y="5367338"/>
              <a:ext cx="85725" cy="85725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386888" y="5359400"/>
              <a:ext cx="154098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 Guided Vision</a:t>
              </a:r>
              <a:r>
                <a:rPr lang="zh-CN" sz="7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｜教你调镜头</a:t>
              </a:r>
            </a:p>
          </p:txBody>
        </p:sp>
        <p:sp>
          <p:nvSpPr>
            <p:cNvPr id="109" name="Line 109"/>
            <p:cNvSpPr/>
            <p:nvPr/>
          </p:nvSpPr>
          <p:spPr>
            <a:xfrm>
              <a:off x="571500" y="5867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64261" y="5829300"/>
              <a:ext cx="7083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分：阶段越往后，用户少做一步，系统就多承担一层理解、行动、纠错和责任。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566738" y="6102350"/>
              <a:ext cx="60625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注：TwelveLabs、拍立淘、Vision-Agents、LiveKit、Pipecat、Dograh 等属于能力与基础设施层，见主稿 P15，本页只串终端产品。</a:t>
              </a:r>
            </a:p>
          </p:txBody>
        </p:sp>
      </p:grpSp>
      <p:grpSp>
        <p:nvGrpSpPr>
          <p:cNvPr id="115" name="page-footer"/>
          <p:cNvGrpSpPr/>
          <p:nvPr/>
        </p:nvGrpSpPr>
        <p:grpSpPr>
          <a:xfrm>
            <a:off x="566738" y="6311900"/>
            <a:ext cx="11058525" cy="147638"/>
            <a:chOff x="566738" y="6311900"/>
            <a:chExt cx="11058525" cy="147638"/>
          </a:xfrm>
        </p:grpSpPr>
        <p:sp>
          <p:nvSpPr>
            <p:cNvPr id="113" name="TextBox 113"/>
            <p:cNvSpPr txBox="1"/>
            <p:nvPr/>
          </p:nvSpPr>
          <p:spPr>
            <a:xfrm>
              <a:off x="566738" y="6311900"/>
              <a:ext cx="430406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按产品首次公开或关键体验上线年份整理；模型底座与终端产品分开理解 · 证据见主稿 P20–P21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178350" y="6311900"/>
              <a:ext cx="44691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TIMELINE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timeline-v2">
  <a:themeElements>
    <a:clrScheme name="multimodal-timeline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timeline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timeline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2026-10-29T12:07:32Z</dcterms:created>
  <dcterms:modified xsi:type="dcterms:W3CDTF">2026-10-29T12:07:32Z</dcterms:modified>
  <cp:category/>
  <cp:contentStatus/>
</cp:coreProperties>
</file>