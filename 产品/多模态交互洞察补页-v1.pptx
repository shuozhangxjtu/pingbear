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supplem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supplem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025152" cy="659892"/>
            <a:chOff x="559308" y="273050"/>
            <a:chExt cx="7025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01 · 时间串联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025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2011–2026：从“帮我查”走到“看着我一起做”</a:t>
              </a:r>
            </a:p>
          </p:txBody>
        </p:sp>
      </p:grpSp>
      <p:grpSp>
        <p:nvGrpSpPr>
          <p:cNvPr id="59" name="complete-timeline"/>
          <p:cNvGrpSpPr/>
          <p:nvPr/>
        </p:nvGrpSpPr>
        <p:grpSpPr>
          <a:xfrm>
            <a:off x="563499" y="1270000"/>
            <a:ext cx="11105508" cy="4550791"/>
            <a:chOff x="563499" y="1270000"/>
            <a:chExt cx="11105508" cy="45507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5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底部四个阶段依次回答：能问什么、能看懂什么、能持续做什么、能替我完成什么。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8288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2402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67677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62952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563225" y="17240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195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2011–2017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3197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入口出现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490" y="2228850"/>
              <a:ext cx="10785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“这是什么东西？”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2110" y="2552700"/>
              <a:ext cx="23952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Siri · Echo · Google Assistant ·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7374" y="2781300"/>
              <a:ext cx="10247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· Seeing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9776" y="30099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语音、识图分头发展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470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2018–2021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472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边看边问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59385" y="2228850"/>
              <a:ext cx="16062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“镜头对着它，下一步呢？”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2199" y="2552700"/>
              <a:ext cx="2240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实时取景/翻译 · Smart Display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5916" y="2781300"/>
              <a:ext cx="16131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Alexa APL · Echo Show 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7929" y="3009900"/>
              <a:ext cx="1509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语音与屏幕组合；CLIP 打底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745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2022–2023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0128" y="1898650"/>
              <a:ext cx="11902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理解与对话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4244" y="2228850"/>
              <a:ext cx="20020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“你能帮我读懂、一起想办法吗？”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6750" y="2552700"/>
              <a:ext cx="17169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 · GPT-4V · Gemini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9548" y="2781300"/>
              <a:ext cx="15714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AI · Ray-Ban Meta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2960" y="300990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多轮解释、即时翻译、无障碍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2020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2024–2026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9022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66994" y="2228850"/>
              <a:ext cx="20020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“看着我一起做，能帮我做完吗？”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63742" y="2552700"/>
              <a:ext cx="12085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GPT-4o · Gemini Live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60201" y="2762250"/>
              <a:ext cx="121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SeedRealtime · Muse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13944" y="2971800"/>
              <a:ext cx="1508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Guided Vision · 多品牌眼镜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90519" y="3194050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持续视频、主动纠错、后台执行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486150"/>
              <a:ext cx="2686050" cy="171450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7616" y="3644900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1 · 单模态入口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616" y="39116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语音帮我查，摄像头帮我搜；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616" y="41592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用户还要自己完成中间步骤。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7616" y="45402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问题：不会追问、不会纠错、换场景就断。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52800" y="3486150"/>
              <a:ext cx="2686050" cy="171450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18916" y="3644900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2 · 视听屏幕融合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18916" y="391160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用户看到的结果可以在屏幕上叠加；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8916" y="415925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语音可以指方向，但任务仍常靠人做。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18916" y="4540250"/>
              <a:ext cx="2753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问题：跨 App 权限、记忆和真实动作缺失。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34100" y="3486150"/>
              <a:ext cx="2686050" cy="171450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0216" y="36449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3 · 多轮理解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0216" y="39116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用户能连续追问，系统能解释、比较；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00216" y="41592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无障碍场景第一次出现明确价值。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0216" y="4540250"/>
              <a:ext cx="2740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问题：仍是“说给你听”，不是“帮你做完”。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915400" y="3486150"/>
              <a:ext cx="2705100" cy="1714500"/>
            </a:xfrm>
            <a:prstGeom prst="rect">
              <a:avLst/>
            </a:prstGeom>
            <a:solidFill>
              <a:srgbClr val="C14E2C">
                <a:alpha val="9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81516" y="36449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阶段 4 · 实时代理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1516" y="39116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用户共享现场，系统持续看、听、指导；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81516" y="4159250"/>
              <a:ext cx="2517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开始后台执行、付款并请求确认。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81897" y="45339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新问题：何时开口、谁负责、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81897" y="47434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出错怎么接管。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3499" y="5511800"/>
              <a:ext cx="74323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分：每跨一个阶段，用户少做一步，但系统要承担更多理解、纠正和责任。</a:t>
              </a:r>
            </a:p>
          </p:txBody>
        </p:sp>
      </p:grpSp>
      <p:grpSp>
        <p:nvGrpSpPr>
          <p:cNvPr id="62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60" name="TextBox 60"/>
            <p:cNvSpPr txBox="1"/>
            <p:nvPr/>
          </p:nvSpPr>
          <p:spPr>
            <a:xfrm>
              <a:off x="566738" y="6286500"/>
              <a:ext cx="38684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01 / 05 · 时间线覆盖 2011–2026；具体日期与证据见第 20、21 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02 · 产品体验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每个产品到底能帮人干什么</a:t>
              </a:r>
            </a:p>
          </p:txBody>
        </p:sp>
      </p:grpSp>
      <p:grpSp>
        <p:nvGrpSpPr>
          <p:cNvPr id="45" name="experience-roster"/>
          <p:cNvGrpSpPr/>
          <p:nvPr/>
        </p:nvGrpSpPr>
        <p:grpSpPr>
          <a:xfrm>
            <a:off x="563499" y="1282700"/>
            <a:ext cx="11089120" cy="4671441"/>
            <a:chOff x="563499" y="1282700"/>
            <a:chExt cx="11089120" cy="46714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82700"/>
              <a:ext cx="553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“这是什么？” · “下一步怎么做？” · “能帮我订吗？” · “陪我一起做” · “记住并提醒我”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00500" y="167640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7640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11770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2019300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：看画面后直接问，也能调系统服务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2305050"/>
              <a:ext cx="25689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：共享镜头/屏幕，实时解释并纠错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2590800"/>
              <a:ext cx="18478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ChatGPT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：指着现场问，连续追问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2876550"/>
              <a:ext cx="3070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：对准物体识物/翻译/查地点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3162300"/>
              <a:ext cx="2533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Copilot Vision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：看工作画面，总结并高亮重点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3448050"/>
              <a:ext cx="27811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/ 超级小爱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：语音找内容、控设备、圈屏提问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738" y="3733800"/>
              <a:ext cx="22931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：说出目标，后台跨 App 执行并确认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738" y="4019550"/>
              <a:ext cx="2514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SeedRealtime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：边看、边听、边说，持续协作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738" y="4438650"/>
              <a:ext cx="3036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共同体验：少打字、少切 App，让系统接住现场上下文。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6047" y="1733550"/>
              <a:ext cx="16630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眼镜、屏幕、家庭与汽车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6238" y="2019300"/>
              <a:ext cx="23108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：免手持看、问、拍、翻译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6238" y="2305050"/>
              <a:ext cx="23621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：镜片里看导航、字幕和提醒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6238" y="2590800"/>
              <a:ext cx="2254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Audio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：不拍画面，只用声音和助手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6238" y="2876550"/>
              <a:ext cx="25441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/ Snap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：第一视角共享与主动提醒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6238" y="3162300"/>
              <a:ext cx="2330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华为/小米/夸克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：拍录、识别、导航、支付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6238" y="3448050"/>
              <a:ext cx="28919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/ 海信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：电视内容问答、看护、画质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6238" y="37338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小度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：家庭看护、陪伴与设备控制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86238" y="4019550"/>
              <a:ext cx="24185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 / NOMI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：分辨谁、坐哪、指向哪并服务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6238" y="4400550"/>
              <a:ext cx="2636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Glass / Stories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：早期穿戴入口，日常价值不足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6238" y="4686300"/>
              <a:ext cx="2573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Humane / Rabbit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：想替代手机，真实执行不稳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6047" y="1733550"/>
              <a:ext cx="1510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无障碍与能力基础设施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6238" y="2019300"/>
              <a:ext cx="21302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：读文字、认物件、描述场景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6238" y="2305050"/>
              <a:ext cx="172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：解释图片并继续追问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6238" y="2590800"/>
              <a:ext cx="19919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vivo 看见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：实时描述环境和寻找物品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6238" y="2876550"/>
              <a:ext cx="28301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Eyes Workplace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：AI 协助，必要时人工接手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6238" y="31623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拍立淘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：拍图找同款、比价、溯源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96238" y="3448050"/>
              <a:ext cx="240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TwelveLabs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：上传视频后搜索、分析和标注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6238" y="3733800"/>
              <a:ext cx="25699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Vision-Agents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：让开发者搭会看会听的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6238" y="4019550"/>
              <a:ext cx="3038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LiveKit / Pipecat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：实时音视频、打断、多 Agent 接力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6238" y="4305300"/>
              <a:ext cx="28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Dograh / VLX-Flow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：自托管工作流与流式视觉理解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6238" y="4686300"/>
              <a:ext cx="36563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这些不是终端助手，而是别人产品背后的“耳朵、眼睛和行动管线”。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00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166" y="5378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用词原则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8666" y="5378450"/>
              <a:ext cx="5254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先说用户要完成什么，再说产品怎么帮；不要用“学习、办公、赋能”代替具体动作。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645150"/>
              <a:ext cx="72424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分：同一个“多模态”，有人帮我查，有人陪我做，也有人替我把事办完。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200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02 / 05 · 产品能力按公开材料整理；具体体验仍需同任务实测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03 · 横向布局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大家不在同一层竞争：从“答一下”到“替我做”</a:t>
              </a:r>
            </a:p>
          </p:txBody>
        </p:sp>
      </p:grpSp>
      <p:grpSp>
        <p:nvGrpSpPr>
          <p:cNvPr id="45" name="landscape-map"/>
          <p:cNvGrpSpPr/>
          <p:nvPr/>
        </p:nvGrpSpPr>
        <p:grpSpPr>
          <a:xfrm>
            <a:off x="417269" y="1270000"/>
            <a:ext cx="11203231" cy="4636643"/>
            <a:chOff x="417269" y="1270000"/>
            <a:chExt cx="11203231" cy="4636643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横轴看行动深度，纵轴看上下文范围；位置是产品能力对比，不是市场份额。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619250" y="4953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619250" y="175260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32004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26709" y="5130800"/>
              <a:ext cx="3491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回答一个问题 → 指引下一步 → 执行操作 → 承担任务结果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417269" y="3326321"/>
              <a:ext cx="1936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单次 / 单设备 → 持续 / 跨设备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572250" y="175260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D6CFC3"/>
              </a:solidFill>
              <a:custDash>
                <a:ds d="600000" sp="6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1619250" y="33528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  <a:custDash>
                <a:ds d="600000" sp="6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37766" y="4425950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/ 内容识别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8147" y="4667250"/>
              <a:ext cx="25258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Lens：看到就搜/译；Seeing AI：看图朗读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7766" y="2692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实时感知与对话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8147" y="2933700"/>
              <a:ext cx="31324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Live：边看边聊；SeedRealtime：连续看听说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38147" y="3143250"/>
              <a:ext cx="21481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Guided Vision：镜头不对就教你调整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33666" y="4425950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工作 / 设备执行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4047" y="4667250"/>
              <a:ext cx="30317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Copilot：看工作画面并高亮；Bixby：调用系统功能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3666" y="2673350"/>
              <a:ext cx="892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 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4047" y="2914650"/>
              <a:ext cx="25737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Muse：记住目标、后台跑任务、付款前确认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4047" y="3124200"/>
              <a:ext cx="23219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Eyes：AI 协助，必要时人工接管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866900" y="1866900"/>
              <a:ext cx="2381250" cy="5143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76247" y="19621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多模态系统助手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6438" y="2171700"/>
              <a:ext cx="19485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 / ChatGPT / Apple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15100" y="1866900"/>
              <a:ext cx="2381250" cy="514350"/>
            </a:xfrm>
            <a:prstGeom prst="rect">
              <a:avLst/>
            </a:prstGeom>
            <a:solidFill>
              <a:srgbClr val="C14E2C">
                <a:alpha val="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4447" y="19621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可执行个人代理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4638" y="2171700"/>
              <a:ext cx="13013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/ Copilot / Bixby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86300" y="4362450"/>
              <a:ext cx="1676400" cy="400050"/>
            </a:xfrm>
            <a:prstGeom prst="rect">
              <a:avLst/>
            </a:prstGeom>
            <a:solidFill>
              <a:srgbClr val="1F5A49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95838" y="4495800"/>
              <a:ext cx="836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视觉交易 /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00738" y="4508500"/>
              <a:ext cx="10775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拍立淘 · TwelveLabs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3695700"/>
              <a:ext cx="1676400" cy="400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95838" y="38290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无障碍可视化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14988" y="3841750"/>
              <a:ext cx="7940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vivo · Be My AI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829800" y="1790700"/>
              <a:ext cx="1676400" cy="1485900"/>
            </a:xfrm>
            <a:prstGeom prst="rect">
              <a:avLst/>
            </a:prstGeom>
            <a:solidFill>
              <a:srgbClr val="F4F0E7"/>
            </a:solidFill>
            <a:ln w="19050">
              <a:solidFill>
                <a:srgbClr val="C14E2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77438" y="1943100"/>
              <a:ext cx="892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 最新边界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7247" y="2190750"/>
              <a:ext cx="3470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77438" y="2413000"/>
              <a:ext cx="9091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全情境 / 后台执行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77247" y="2609850"/>
              <a:ext cx="8908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77438" y="2832100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77247" y="3028950"/>
              <a:ext cx="8698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77438" y="3251200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主动纠错镜头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71500" y="5562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6547" y="57150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六个判断维度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4797" y="5715000"/>
              <a:ext cx="45350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连续上下文 · 行动深度 · 终端绑定 · 视觉/空间 · 生态权限 · 隐私与信任成本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474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03 / 05 · 位置为定性映射；高亮框表示 2026 年新扩展边界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04 · 经验教训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行业不是没有技术，而是很多产品没把任务做完</a:t>
              </a:r>
            </a:p>
          </p:txBody>
        </p:sp>
      </p:grpSp>
      <p:grpSp>
        <p:nvGrpSpPr>
          <p:cNvPr id="42" name="lessons"/>
          <p:cNvGrpSpPr/>
          <p:nvPr/>
        </p:nvGrpSpPr>
        <p:grpSpPr>
          <a:xfrm>
            <a:off x="563499" y="1270000"/>
            <a:ext cx="11057001" cy="4741291"/>
            <a:chOff x="563499" y="1270000"/>
            <a:chExt cx="11057001" cy="4741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把每代产品放在同一张因果链里，会发现成败并不神秘。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50773" y="16573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51023" y="16573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65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420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75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会负责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" y="20193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>
              <a:solidFill>
                <a:srgbClr val="B6AEA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477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3432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4387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5342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610725" y="19145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6422" y="21907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识别画面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1922" y="21907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连续解释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6842" y="21907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决定下一步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18445" y="2190750"/>
              <a:ext cx="80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调用工具/系统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80627" y="21907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确认/接管/审计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2647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6166" y="2825750"/>
              <a:ext cx="1735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1：把“看懂”当成“完成”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30734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看图回答很酷，但用户真正想要的是订成功、装正确、问题解决。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3314700"/>
              <a:ext cx="4001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单次搜索成立；Muse 和 Copilot 的差别在于是否进入行动链。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1666" y="28257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启示：先定义任务终点，再选模态和模型。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1666" y="30734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交付标准是结果可验证、失败可恢复，而不是答得像人。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166" y="3816350"/>
              <a:ext cx="2681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2：要求用户换设备，却没带来十倍省事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4064000"/>
              <a:ext cx="4120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Glass、Stories、Humane、Rabbit 都在提醒：新入口不是需求。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43053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用户不会为了新奇长期忍受充电、配对、隐私和失败。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381635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启示：优先寄生现有手机、眼镜、车机、电视入口。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1666" y="4064000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新硬件必须回答“为什么手机做不了、为什么现在要买”。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462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166" y="4806950"/>
              <a:ext cx="2822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3：把演示当稳定体验，把下载当长期采用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66" y="5054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背景噪声、错识别、断网、权限、支付和人工接管都会发生。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5295900"/>
              <a:ext cx="36429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Muse 有 1000 万设置，但留存、退货、责任和费率仍需验证。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1666" y="48069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启示：产品能力必须带失败路径。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66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确认、拒答、重来、转人工、撤销、审计，才是完整体验。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5619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3499" y="5702300"/>
              <a:ext cx="769196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分：真正留下来的产品，都是把“理解、执行、纠错、信任”一起做成了系统。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140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04 / 05 · 综合历史竞品、失败案例与新增 Muse 证据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259422" cy="659892"/>
            <a:chOff x="559308" y="273050"/>
            <a:chExt cx="725942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0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05 · 云核心网机会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2594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不要再做多模态 App，做它依赖的实时交互底座</a:t>
              </a:r>
            </a:p>
          </p:txBody>
        </p:sp>
      </p:grpSp>
      <p:grpSp>
        <p:nvGrpSpPr>
          <p:cNvPr id="44" name="cloud-core-future"/>
          <p:cNvGrpSpPr/>
          <p:nvPr/>
        </p:nvGrpSpPr>
        <p:grpSpPr>
          <a:xfrm>
            <a:off x="563499" y="1270000"/>
            <a:ext cx="11057001" cy="4665091"/>
            <a:chOff x="563499" y="1270000"/>
            <a:chExt cx="11057001" cy="46650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9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我们的优势不在再训练一个模型，而在连接、会话、时延、边缘、身份、权限和 SLA。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2476500" cy="110490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784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实时媒体面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7997" y="2057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音视频上行、抖动、丢包、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7997" y="22669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多方混流、弱网切换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8188" y="24955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9C1B4"/>
                  </a:solidFill>
                  <a:latin typeface="+mn-lt"/>
                  <a:ea typeface="+mn-ea"/>
                  <a:cs typeface="+mn-cs"/>
                </a:rPr>
                <a:t>卖点：可承诺的体验质量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00400" y="1638300"/>
              <a:ext cx="2476500" cy="11049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66135" y="1784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端边云协同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6897" y="2057400"/>
              <a:ext cx="13423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端侧唤醒/脱敏/预筛；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66897" y="22669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边缘低延迟；云端长记忆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7088" y="24955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卖点：成本、隐私与时延平衡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1638300"/>
              <a:ext cx="2476500" cy="110490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95035" y="1784350"/>
              <a:ext cx="952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会话层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95797" y="20574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连续会话、身份、权限、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5797" y="22669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审计、转人工、跨域接管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5988" y="24955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卖点：让任务可治理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58200" y="1638300"/>
              <a:ext cx="3162300" cy="110490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3935" y="1784350"/>
              <a:ext cx="1102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互操作层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4697" y="2057400"/>
              <a:ext cx="2428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个人 Agent ↔ 企业 Agent；身份、授权、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4697" y="22669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交易、可信地址与网络路由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24888" y="249555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D"/>
                  </a:solidFill>
                  <a:latin typeface="+mn-lt"/>
                  <a:ea typeface="+mn-ea"/>
                  <a:cs typeface="+mn-cs"/>
                </a:rPr>
                <a:t>卖点：从连接人升级为连接任务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016250"/>
              <a:ext cx="160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可以做的三个产品方向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404" y="3276600"/>
              <a:ext cx="1435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1. 实时多模态 QoS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354330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按任务保障带宽、时延、优先级；面向眼镜、车机、远程协助。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4904" y="3276600"/>
              <a:ext cx="1964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2. Agent Session Fabric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6047" y="3543300"/>
              <a:ext cx="29123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统一连续会话、上下文状态、权限和跨设备切换。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0154" y="3276600"/>
              <a:ext cx="1470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3. 可信 Agent 通道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297" y="3543300"/>
              <a:ext cx="29202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身份、授权、审计、数据边界、人工接管和 SLA。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71500" y="3943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166" y="4140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建议路线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6166" y="4425950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0–30 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23416" y="4425950"/>
              <a:ext cx="3831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拿 Muse / Gemini Live / SeedRealtime 做同一任务网络基线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166" y="471170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1–3 个月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13916" y="4711700"/>
              <a:ext cx="3265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做端边云分流、弱网降级、隐私脱敏和人工接管 PoC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6166" y="49974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3–6 个月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13916" y="4997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选一个高价值任务做垂直闭环：无障碍、现场维护或车舱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166" y="5283200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6–12 个月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09166" y="5283200"/>
              <a:ext cx="3404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沉淀 Agent session API、QoS 指标、审计与接管标准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499" y="5626100"/>
              <a:ext cx="8326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分：核心网的机会是把多模态 Agent 从“能用”变成“可承诺、可治理、可规模化”。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286500"/>
              <a:ext cx="37411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05 / 05 · 基于现有证据的产品方向推断，尚未经过真实客户验证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supplement">
  <a:themeElements>
    <a:clrScheme name="multimodal-supplem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supplement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supplem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2026-10-29T11:49:54Z</dcterms:created>
  <dcterms:modified xsi:type="dcterms:W3CDTF">2026-10-29T11:49:54Z</dcterms:modified>
  <cp:category/>
  <cp:contentStatus/>
</cp:coreProperties>
</file>